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8" r:id="rId3"/>
    <p:sldId id="259" r:id="rId4"/>
    <p:sldId id="260" r:id="rId5"/>
    <p:sldId id="278" r:id="rId6"/>
    <p:sldId id="262" r:id="rId7"/>
    <p:sldId id="263" r:id="rId8"/>
    <p:sldId id="273" r:id="rId9"/>
    <p:sldId id="266" r:id="rId10"/>
    <p:sldId id="275" r:id="rId11"/>
    <p:sldId id="274" r:id="rId12"/>
    <p:sldId id="265" r:id="rId13"/>
    <p:sldId id="277" r:id="rId14"/>
    <p:sldId id="268" r:id="rId15"/>
    <p:sldId id="269" r:id="rId16"/>
    <p:sldId id="270" r:id="rId17"/>
    <p:sldId id="27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38" dt="2026-04-12T20:40:53.3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59406"/>
  </p:normalViewPr>
  <p:slideViewPr>
    <p:cSldViewPr snapToGrid="0">
      <p:cViewPr varScale="1">
        <p:scale>
          <a:sx n="78" d="100"/>
          <a:sy n="78" d="100"/>
        </p:scale>
        <p:origin x="2472" y="480"/>
      </p:cViewPr>
      <p:guideLst/>
    </p:cSldViewPr>
  </p:slideViewPr>
  <p:notesTextViewPr>
    <p:cViewPr>
      <p:scale>
        <a:sx n="265" d="100"/>
        <a:sy n="26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20:41:15.710" v="1987" actId="20577"/>
      <pc:docMkLst>
        <pc:docMk/>
      </pc:docMkLst>
      <pc:sldChg chg="modNotesTx">
        <pc:chgData name="Stepanov, Pavel Aleksandrovich" userId="b85f6bca-230c-483e-a25b-e13e873626fd" providerId="ADAL" clId="{AB235781-41D1-50B9-86EA-51A98A5F500A}" dt="2026-04-12T20:22:50.856" v="194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20:25:48.487" v="1943" actId="20577"/>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20:34:14.511" v="1956" actId="313"/>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modSp mod modNotesTx">
        <pc:chgData name="Stepanov, Pavel Aleksandrovich" userId="b85f6bca-230c-483e-a25b-e13e873626fd" providerId="ADAL" clId="{AB235781-41D1-50B9-86EA-51A98A5F500A}" dt="2026-04-12T20:40:57.064" v="1985" actId="113"/>
        <pc:sldMkLst>
          <pc:docMk/>
          <pc:sldMk cId="3183023199" sldId="268"/>
        </pc:sldMkLst>
        <pc:spChg chg="mod">
          <ac:chgData name="Stepanov, Pavel Aleksandrovich" userId="b85f6bca-230c-483e-a25b-e13e873626fd" providerId="ADAL" clId="{AB235781-41D1-50B9-86EA-51A98A5F500A}" dt="2026-04-12T20:22:02.310" v="1937" actId="20577"/>
          <ac:spMkLst>
            <pc:docMk/>
            <pc:sldMk cId="3183023199" sldId="268"/>
            <ac:spMk id="4" creationId="{E991148E-C7B3-AF37-6FBE-DB2712014BBC}"/>
          </ac:spMkLst>
        </pc:spChg>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modNotesTx">
        <pc:chgData name="Stepanov, Pavel Aleksandrovich" userId="b85f6bca-230c-483e-a25b-e13e873626fd" providerId="ADAL" clId="{AB235781-41D1-50B9-86EA-51A98A5F500A}" dt="2026-04-12T20:37:05.239" v="1982" actId="20577"/>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modNotesTx">
        <pc:chgData name="Stepanov, Pavel Aleksandrovich" userId="b85f6bca-230c-483e-a25b-e13e873626fd" providerId="ADAL" clId="{AB235781-41D1-50B9-86EA-51A98A5F500A}" dt="2026-04-12T20:36:47.050" v="1971" actId="20577"/>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sldChg chg="delSp del mod delAnim">
        <pc:chgData name="Stepanov, Pavel Aleksandrovich" userId="b85f6bca-230c-483e-a25b-e13e873626fd" providerId="ADAL" clId="{AB235781-41D1-50B9-86EA-51A98A5F500A}" dt="2026-04-12T20:17:13.129" v="1839" actId="2696"/>
        <pc:sldMkLst>
          <pc:docMk/>
          <pc:sldMk cId="3899604492" sldId="276"/>
        </pc:sldMkLst>
        <pc:picChg chg="del">
          <ac:chgData name="Stepanov, Pavel Aleksandrovich" userId="b85f6bca-230c-483e-a25b-e13e873626fd" providerId="ADAL" clId="{AB235781-41D1-50B9-86EA-51A98A5F500A}" dt="2026-04-12T20:16:14.433" v="1822" actId="478"/>
          <ac:picMkLst>
            <pc:docMk/>
            <pc:sldMk cId="3899604492" sldId="276"/>
            <ac:picMk id="7" creationId="{596D7648-225D-C15D-8C5D-B24643706FB5}"/>
          </ac:picMkLst>
        </pc:picChg>
        <pc:picChg chg="del">
          <ac:chgData name="Stepanov, Pavel Aleksandrovich" userId="b85f6bca-230c-483e-a25b-e13e873626fd" providerId="ADAL" clId="{AB235781-41D1-50B9-86EA-51A98A5F500A}" dt="2026-04-12T20:16:58.667" v="1835" actId="478"/>
          <ac:picMkLst>
            <pc:docMk/>
            <pc:sldMk cId="3899604492" sldId="276"/>
            <ac:picMk id="12" creationId="{29624FA7-2557-8305-F65E-CF99DF20FFEC}"/>
          </ac:picMkLst>
        </pc:picChg>
      </pc:sldChg>
      <pc:sldChg chg="addSp delSp modSp mod modAnim modNotesTx">
        <pc:chgData name="Stepanov, Pavel Aleksandrovich" userId="b85f6bca-230c-483e-a25b-e13e873626fd" providerId="ADAL" clId="{AB235781-41D1-50B9-86EA-51A98A5F500A}" dt="2026-04-12T20:41:15.710" v="1987" actId="20577"/>
        <pc:sldMkLst>
          <pc:docMk/>
          <pc:sldMk cId="112141385" sldId="277"/>
        </pc:sldMkLst>
        <pc:spChg chg="mod">
          <ac:chgData name="Stepanov, Pavel Aleksandrovich" userId="b85f6bca-230c-483e-a25b-e13e873626fd" providerId="ADAL" clId="{AB235781-41D1-50B9-86EA-51A98A5F500A}" dt="2026-04-12T20:18:31.708" v="1863" actId="1076"/>
          <ac:spMkLst>
            <pc:docMk/>
            <pc:sldMk cId="112141385" sldId="277"/>
            <ac:spMk id="3" creationId="{5FA9EB90-2595-709F-AE1E-7A588079B5FD}"/>
          </ac:spMkLst>
        </pc:spChg>
        <pc:spChg chg="mod">
          <ac:chgData name="Stepanov, Pavel Aleksandrovich" userId="b85f6bca-230c-483e-a25b-e13e873626fd" providerId="ADAL" clId="{AB235781-41D1-50B9-86EA-51A98A5F500A}" dt="2026-04-12T20:20:09.694" v="1905" actId="20577"/>
          <ac:spMkLst>
            <pc:docMk/>
            <pc:sldMk cId="112141385" sldId="277"/>
            <ac:spMk id="4" creationId="{2CD54BCC-4244-9833-FB50-3B0FBEE3DF14}"/>
          </ac:spMkLst>
        </pc:spChg>
        <pc:spChg chg="mod">
          <ac:chgData name="Stepanov, Pavel Aleksandrovich" userId="b85f6bca-230c-483e-a25b-e13e873626fd" providerId="ADAL" clId="{AB235781-41D1-50B9-86EA-51A98A5F500A}" dt="2026-04-12T20:17:57.671" v="1852" actId="1076"/>
          <ac:spMkLst>
            <pc:docMk/>
            <pc:sldMk cId="112141385" sldId="277"/>
            <ac:spMk id="5" creationId="{5D162B93-3E74-0313-0A57-03992CB51ABF}"/>
          </ac:spMkLst>
        </pc:spChg>
        <pc:spChg chg="mod">
          <ac:chgData name="Stepanov, Pavel Aleksandrovich" userId="b85f6bca-230c-483e-a25b-e13e873626fd" providerId="ADAL" clId="{AB235781-41D1-50B9-86EA-51A98A5F500A}" dt="2026-04-12T20:18:35.005" v="1864" actId="20577"/>
          <ac:spMkLst>
            <pc:docMk/>
            <pc:sldMk cId="112141385" sldId="277"/>
            <ac:spMk id="8" creationId="{E76462B7-FBB5-3D19-59DF-2E5C7B79B139}"/>
          </ac:spMkLst>
        </pc:spChg>
        <pc:spChg chg="del">
          <ac:chgData name="Stepanov, Pavel Aleksandrovich" userId="b85f6bca-230c-483e-a25b-e13e873626fd" providerId="ADAL" clId="{AB235781-41D1-50B9-86EA-51A98A5F500A}" dt="2026-04-12T20:18:36.044" v="1865" actId="478"/>
          <ac:spMkLst>
            <pc:docMk/>
            <pc:sldMk cId="112141385" sldId="277"/>
            <ac:spMk id="10" creationId="{65C081F3-65CC-661D-EFAB-C9F06327250E}"/>
          </ac:spMkLst>
        </pc:spChg>
        <pc:spChg chg="add mod">
          <ac:chgData name="Stepanov, Pavel Aleksandrovich" userId="b85f6bca-230c-483e-a25b-e13e873626fd" providerId="ADAL" clId="{AB235781-41D1-50B9-86EA-51A98A5F500A}" dt="2026-04-12T20:21:00.170" v="1934" actId="1036"/>
          <ac:spMkLst>
            <pc:docMk/>
            <pc:sldMk cId="112141385" sldId="277"/>
            <ac:spMk id="12" creationId="{9535B06F-8008-C722-40D2-666914885251}"/>
          </ac:spMkLst>
        </pc:spChg>
        <pc:spChg chg="add mod">
          <ac:chgData name="Stepanov, Pavel Aleksandrovich" userId="b85f6bca-230c-483e-a25b-e13e873626fd" providerId="ADAL" clId="{AB235781-41D1-50B9-86EA-51A98A5F500A}" dt="2026-04-12T20:21:00.170" v="1934" actId="1036"/>
          <ac:spMkLst>
            <pc:docMk/>
            <pc:sldMk cId="112141385" sldId="277"/>
            <ac:spMk id="14" creationId="{86652012-79AD-0CAC-E831-0F320A523F40}"/>
          </ac:spMkLst>
        </pc:spChg>
        <pc:spChg chg="add mod">
          <ac:chgData name="Stepanov, Pavel Aleksandrovich" userId="b85f6bca-230c-483e-a25b-e13e873626fd" providerId="ADAL" clId="{AB235781-41D1-50B9-86EA-51A98A5F500A}" dt="2026-04-12T20:21:00.170" v="1934" actId="1036"/>
          <ac:spMkLst>
            <pc:docMk/>
            <pc:sldMk cId="112141385" sldId="277"/>
            <ac:spMk id="16" creationId="{4629228F-858D-AA5C-8007-A8B9B8684B58}"/>
          </ac:spMkLst>
        </pc:spChg>
        <pc:picChg chg="mod">
          <ac:chgData name="Stepanov, Pavel Aleksandrovich" userId="b85f6bca-230c-483e-a25b-e13e873626fd" providerId="ADAL" clId="{AB235781-41D1-50B9-86EA-51A98A5F500A}" dt="2026-04-12T20:21:00.170" v="1934" actId="1036"/>
          <ac:picMkLst>
            <pc:docMk/>
            <pc:sldMk cId="112141385" sldId="277"/>
            <ac:picMk id="6" creationId="{3666306E-6EBB-B987-E57F-971F7BB48AFC}"/>
          </ac:picMkLst>
        </pc:picChg>
        <pc:picChg chg="add mod">
          <ac:chgData name="Stepanov, Pavel Aleksandrovich" userId="b85f6bca-230c-483e-a25b-e13e873626fd" providerId="ADAL" clId="{AB235781-41D1-50B9-86EA-51A98A5F500A}" dt="2026-04-12T20:21:00.170" v="1934" actId="1036"/>
          <ac:picMkLst>
            <pc:docMk/>
            <pc:sldMk cId="112141385" sldId="277"/>
            <ac:picMk id="7" creationId="{397DFF8F-298C-1C62-04AA-18596E28FB0E}"/>
          </ac:picMkLst>
        </pc:picChg>
        <pc:picChg chg="add mod">
          <ac:chgData name="Stepanov, Pavel Aleksandrovich" userId="b85f6bca-230c-483e-a25b-e13e873626fd" providerId="ADAL" clId="{AB235781-41D1-50B9-86EA-51A98A5F500A}" dt="2026-04-12T20:21:00.170" v="1934" actId="1036"/>
          <ac:picMkLst>
            <pc:docMk/>
            <pc:sldMk cId="112141385" sldId="277"/>
            <ac:picMk id="9" creationId="{AD551C60-C50B-074F-86A4-EE34867F2268}"/>
          </ac:picMkLst>
        </pc:picChg>
      </pc:sldChg>
      <pc:sldChg chg="add setBg modNotesTx">
        <pc:chgData name="Stepanov, Pavel Aleksandrovich" userId="b85f6bca-230c-483e-a25b-e13e873626fd" providerId="ADAL" clId="{AB235781-41D1-50B9-86EA-51A98A5F500A}" dt="2026-04-12T20:31:41.813" v="1954" actId="20577"/>
        <pc:sldMkLst>
          <pc:docMk/>
          <pc:sldMk cId="65819400" sldId="278"/>
        </pc:sldMkLst>
      </pc:sldChg>
      <pc:sldChg chg="delSp del mod delAnim">
        <pc:chgData name="Stepanov, Pavel Aleksandrovich" userId="b85f6bca-230c-483e-a25b-e13e873626fd" providerId="ADAL" clId="{AB235781-41D1-50B9-86EA-51A98A5F500A}" dt="2026-04-12T20:17:28.325" v="1844" actId="2696"/>
        <pc:sldMkLst>
          <pc:docMk/>
          <pc:sldMk cId="3176751583" sldId="278"/>
        </pc:sldMkLst>
        <pc:picChg chg="del">
          <ac:chgData name="Stepanov, Pavel Aleksandrovich" userId="b85f6bca-230c-483e-a25b-e13e873626fd" providerId="ADAL" clId="{AB235781-41D1-50B9-86EA-51A98A5F500A}" dt="2026-04-12T20:17:24.425" v="1843" actId="478"/>
          <ac:picMkLst>
            <pc:docMk/>
            <pc:sldMk cId="3176751583" sldId="278"/>
            <ac:picMk id="6" creationId="{D187F3DB-EBC0-1658-DDFA-8CDA8FCEBD8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DDECF-9F84-6067-3E6E-EE2D1ECFB5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3B045-2154-AF22-65EF-6378D5BD9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09E51C-D96C-F1C4-5A91-183A4BD5B551}"/>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REFERENCE</a:t>
            </a:r>
          </a:p>
          <a:p>
            <a:endParaRPr lang="en-US" dirty="0"/>
          </a:p>
        </p:txBody>
      </p:sp>
      <p:sp>
        <p:nvSpPr>
          <p:cNvPr id="4" name="Slide Number Placeholder 3">
            <a:extLst>
              <a:ext uri="{FF2B5EF4-FFF2-40B4-BE49-F238E27FC236}">
                <a16:creationId xmlns:a16="http://schemas.microsoft.com/office/drawing/2014/main" id="{85386789-00F0-5EB2-6B35-0A8215685A67}"/>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6013471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 </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 </a:t>
            </a:r>
          </a:p>
          <a:p>
            <a:endParaRPr lang="en-US" b="0" dirty="0"/>
          </a:p>
          <a:p>
            <a:r>
              <a:rPr lang="en-US" b="0" dirty="0"/>
              <a:t>These results gave us some confidence in the intuition behind our starting data (vehicles moving faster than pedestrians) </a:t>
            </a:r>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Our anomaly detection pipeline has two layers — and as Justin just showed, the choice of yaw rate as a key feature comes directly from that correlation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Layer 1: Isolation Forest.</a:t>
            </a:r>
            <a:r>
              <a:rPr lang="en-US" sz="1200" b="0" i="0" kern="1200" dirty="0">
                <a:solidFill>
                  <a:schemeClr val="tx1"/>
                </a:solidFill>
                <a:effectLst/>
                <a:latin typeface="+mn-lt"/>
                <a:ea typeface="+mn-ea"/>
                <a:cs typeface="+mn-cs"/>
              </a:rPr>
              <a:t> We fit 100 trees on Speed, Acceleration, and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Each agent receives an anomaly score between 0 and 1. We threshold at the 99th percentile — flagging </a:t>
            </a:r>
            <a:r>
              <a:rPr lang="en-US" sz="1200" b="1" i="0" kern="1200" dirty="0">
                <a:solidFill>
                  <a:schemeClr val="tx1"/>
                </a:solidFill>
                <a:effectLst/>
                <a:latin typeface="+mn-lt"/>
                <a:ea typeface="+mn-ea"/>
                <a:cs typeface="+mn-cs"/>
              </a:rPr>
              <a:t>46 agents</a:t>
            </a:r>
            <a:r>
              <a:rPr lang="en-US" sz="1200" b="0" i="0" kern="1200" dirty="0">
                <a:solidFill>
                  <a:schemeClr val="tx1"/>
                </a:solidFill>
                <a:effectLst/>
                <a:latin typeface="+mn-lt"/>
                <a:ea typeface="+mn-ea"/>
                <a:cs typeface="+mn-cs"/>
              </a:rPr>
              <a:t> out of 4,538 as anomalous.</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Layer 2: Statistical Validation.</a:t>
            </a:r>
            <a:r>
              <a:rPr lang="en-US" sz="1200" b="0" i="0" kern="1200" dirty="0">
                <a:solidFill>
                  <a:schemeClr val="tx1"/>
                </a:solidFill>
                <a:effectLst/>
                <a:latin typeface="+mn-lt"/>
                <a:ea typeface="+mn-ea"/>
                <a:cs typeface="+mn-cs"/>
              </a:rPr>
              <a:t> We build a contingency table of agent type versus anomaly status and run </a:t>
            </a:r>
            <a:r>
              <a:rPr lang="en-US" sz="1200" b="1" i="0" kern="1200" dirty="0">
                <a:solidFill>
                  <a:schemeClr val="tx1"/>
                </a:solidFill>
                <a:effectLst/>
                <a:latin typeface="+mn-lt"/>
                <a:ea typeface="+mn-ea"/>
                <a:cs typeface="+mn-cs"/>
              </a:rPr>
              <a:t>Fisher's Exact Test</a:t>
            </a:r>
            <a:r>
              <a:rPr lang="en-US" sz="1200" b="0" i="0" kern="1200" dirty="0">
                <a:solidFill>
                  <a:schemeClr val="tx1"/>
                </a:solidFill>
                <a:effectLst/>
                <a:latin typeface="+mn-lt"/>
                <a:ea typeface="+mn-ea"/>
                <a:cs typeface="+mn-cs"/>
              </a:rPr>
              <a:t> with Monte Carlo simulation. Result: </a:t>
            </a:r>
            <a:r>
              <a:rPr lang="en-US" sz="1200" b="1" i="0" kern="1200" dirty="0">
                <a:solidFill>
                  <a:schemeClr val="tx1"/>
                </a:solidFill>
                <a:effectLst/>
                <a:latin typeface="+mn-lt"/>
                <a:ea typeface="+mn-ea"/>
                <a:cs typeface="+mn-cs"/>
              </a:rPr>
              <a:t>p = 0.0005</a:t>
            </a:r>
            <a:r>
              <a:rPr lang="en-US" sz="1200" b="0" i="0" kern="1200" dirty="0">
                <a:solidFill>
                  <a:schemeClr val="tx1"/>
                </a:solidFill>
                <a:effectLst/>
                <a:latin typeface="+mn-lt"/>
                <a:ea typeface="+mn-ea"/>
                <a:cs typeface="+mn-cs"/>
              </a:rPr>
              <a:t>. The anomalies are not uniformly distributed — certain agent types are disproportionately flagged. That's signal, not noise.</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r>
              <a:rPr lang="en-US" b="1" dirty="0"/>
              <a:t>JUSTIN:</a:t>
            </a:r>
            <a:br>
              <a:rPr lang="en-US" b="1" dirty="0"/>
            </a:br>
            <a:br>
              <a:rPr lang="en-US" b="1" dirty="0"/>
            </a:br>
            <a:r>
              <a:rPr lang="en-US" sz="1200" b="1" i="0" kern="1200" dirty="0">
                <a:solidFill>
                  <a:schemeClr val="tx1"/>
                </a:solidFill>
                <a:effectLst/>
                <a:latin typeface="+mn-lt"/>
                <a:ea typeface="+mn-ea"/>
                <a:cs typeface="+mn-cs"/>
              </a:rPr>
              <a:t>[Slide: three result tables + video clips of flagged anomalous agents]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r>
              <a:rPr lang="en-US" sz="1200" b="1" i="0" kern="1200" dirty="0">
                <a:solidFill>
                  <a:schemeClr val="tx1"/>
                </a:solidFill>
                <a:effectLst/>
                <a:latin typeface="+mn-lt"/>
                <a:ea typeface="+mn-ea"/>
                <a:cs typeface="+mn-cs"/>
              </a:rPr>
              <a:t>[Show anomalous agent video clips — ~45 seconds]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three actual scenario clips from the Waymo dataset, centered on the agents our Isolation Forest flagged as most anomalous. They represent both categories of what we found.</a:t>
            </a:r>
          </a:p>
          <a:p>
            <a:r>
              <a:rPr lang="en-US" sz="1200" b="1" i="0" kern="1200" dirty="0">
                <a:solidFill>
                  <a:schemeClr val="tx1"/>
                </a:solidFill>
                <a:effectLst/>
                <a:latin typeface="+mn-lt"/>
                <a:ea typeface="+mn-ea"/>
                <a:cs typeface="+mn-cs"/>
              </a:rPr>
              <a:t>[Video 1 — vehicle_01, scenario 909244b8]</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first video: a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That is a genuine kinematic extreme. In an urban driving scenario, that speed is far outside normal operating range.</a:t>
            </a:r>
          </a:p>
          <a:p>
            <a:r>
              <a:rPr lang="en-US" sz="1200" b="1" i="0" kern="1200" dirty="0">
                <a:solidFill>
                  <a:schemeClr val="tx1"/>
                </a:solidFill>
                <a:effectLst/>
                <a:latin typeface="+mn-lt"/>
                <a:ea typeface="+mn-ea"/>
                <a:cs typeface="+mn-cs"/>
              </a:rPr>
              <a:t>[Video 2 — anomaly_02, scenario 5baef16b]</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Second video: another vehicle flagged for high acceleration — </a:t>
            </a:r>
            <a:r>
              <a:rPr lang="en-US" sz="1200" b="1" i="0" kern="1200" dirty="0">
                <a:solidFill>
                  <a:schemeClr val="tx1"/>
                </a:solidFill>
                <a:effectLst/>
                <a:latin typeface="+mn-lt"/>
                <a:ea typeface="+mn-ea"/>
                <a:cs typeface="+mn-cs"/>
              </a:rPr>
              <a:t>24.92 m/s, 230.99 m/s²</a:t>
            </a:r>
            <a:r>
              <a:rPr lang="en-US" sz="1200" b="0" i="0" kern="1200" dirty="0">
                <a:solidFill>
                  <a:schemeClr val="tx1"/>
                </a:solidFill>
                <a:effectLst/>
                <a:latin typeface="+mn-lt"/>
                <a:ea typeface="+mn-ea"/>
                <a:cs typeface="+mn-cs"/>
              </a:rPr>
              <a:t>. Again a real outlier in speed and dynamics.</a:t>
            </a:r>
          </a:p>
          <a:p>
            <a:r>
              <a:rPr lang="en-US" sz="1200" b="1" i="0" kern="1200" dirty="0">
                <a:solidFill>
                  <a:schemeClr val="tx1"/>
                </a:solidFill>
                <a:effectLst/>
                <a:latin typeface="+mn-lt"/>
                <a:ea typeface="+mn-ea"/>
                <a:cs typeface="+mn-cs"/>
              </a:rPr>
              <a:t>[Video 3 — anomaly_10, scenario 262112a6]</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Third video — and this one is different. This agent is nearly stationary, but its yaw rate is recorded at exactly </a:t>
            </a:r>
            <a:r>
              <a:rPr lang="en-US" sz="1200" b="1" i="0" kern="1200" dirty="0">
                <a:solidFill>
                  <a:schemeClr val="tx1"/>
                </a:solidFill>
                <a:effectLst/>
                <a:latin typeface="+mn-lt"/>
                <a:ea typeface="+mn-ea"/>
                <a:cs typeface="+mn-cs"/>
              </a:rPr>
              <a:t>±31 rad/s</a:t>
            </a:r>
            <a:r>
              <a:rPr lang="en-US" sz="1200" b="0" i="0" kern="1200" dirty="0">
                <a:solidFill>
                  <a:schemeClr val="tx1"/>
                </a:solidFill>
                <a:effectLst/>
                <a:latin typeface="+mn-lt"/>
                <a:ea typeface="+mn-ea"/>
                <a:cs typeface="+mn-cs"/>
              </a:rPr>
              <a:t>. A rotation rate of 31 radians per second is not physically possible for any ground vehicle. This is the sensor artifact — and it accounts for </a:t>
            </a:r>
            <a:r>
              <a:rPr lang="en-US" sz="1200" b="1" i="0" kern="1200" dirty="0">
                <a:solidFill>
                  <a:schemeClr val="tx1"/>
                </a:solidFill>
                <a:effectLst/>
                <a:latin typeface="+mn-lt"/>
                <a:ea typeface="+mn-ea"/>
                <a:cs typeface="+mn-cs"/>
              </a:rPr>
              <a:t>17 of the top 20</a:t>
            </a:r>
            <a:r>
              <a:rPr lang="en-US" sz="1200" b="0" i="0" kern="1200" dirty="0">
                <a:solidFill>
                  <a:schemeClr val="tx1"/>
                </a:solidFill>
                <a:effectLst/>
                <a:latin typeface="+mn-lt"/>
                <a:ea typeface="+mn-ea"/>
                <a:cs typeface="+mn-cs"/>
              </a:rPr>
              <a:t> flagged agents. Near-zero speed, always the same magnitude, appearing across vehicles, pedestrians, and cyclists.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b="1"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13" Type="http://schemas.openxmlformats.org/officeDocument/2006/relationships/image" Target="../media/image12.png"/><Relationship Id="rId3" Type="http://schemas.microsoft.com/office/2007/relationships/media" Target="../media/media2.mp4"/><Relationship Id="rId7" Type="http://schemas.openxmlformats.org/officeDocument/2006/relationships/slideLayout" Target="../slideLayouts/slideLayout1.xml"/><Relationship Id="rId12" Type="http://schemas.openxmlformats.org/officeDocument/2006/relationships/image" Target="../media/image1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video" Target="../media/media3.mp4"/><Relationship Id="rId11" Type="http://schemas.openxmlformats.org/officeDocument/2006/relationships/image" Target="../media/image10.png"/><Relationship Id="rId5" Type="http://schemas.microsoft.com/office/2007/relationships/media" Target="../media/media3.mp4"/><Relationship Id="rId10" Type="http://schemas.openxmlformats.org/officeDocument/2006/relationships/image" Target="../media/image9.png"/><Relationship Id="rId4" Type="http://schemas.openxmlformats.org/officeDocument/2006/relationships/video" Target="../media/media2.mp4"/><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a:extLst>
            <a:ext uri="{FF2B5EF4-FFF2-40B4-BE49-F238E27FC236}">
              <a16:creationId xmlns:a16="http://schemas.microsoft.com/office/drawing/2014/main" id="{217EF3CE-B349-750D-AEF3-FB062EFB2EA1}"/>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CE7C23C2-07A2-6551-4D7A-7CAD3813BAFD}"/>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40C47094-3110-6329-3D5A-6109F9FE33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447FA41-D2A4-5935-55F7-1678A5C7A587}"/>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8099D2D1-8A7A-E9DC-B982-E5E62EB44692}"/>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31CD0F48-9037-BEEF-8673-28E96968B8B3}"/>
              </a:ext>
            </a:extLst>
          </p:cNvPr>
          <p:cNvGraphicFramePr>
            <a:graphicFrameLocks noGrp="1"/>
          </p:cNvGraphicFramePr>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41F49EEC-44ED-632C-ED85-E4D413FB5A77}"/>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6581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27368" y="-26185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2316304738"/>
              </p:ext>
            </p:extLst>
          </p:nvPr>
        </p:nvGraphicFramePr>
        <p:xfrm>
          <a:off x="854438" y="2721367"/>
          <a:ext cx="10723843" cy="2100015"/>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Stationary  &amp; Non-Stationary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16907">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DEMO</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Visual Results</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716476" y="2248298"/>
            <a:ext cx="3722088" cy="3722088"/>
          </a:xfrm>
          <a:prstGeom prst="rect">
            <a:avLst/>
          </a:prstGeom>
        </p:spPr>
      </p:pic>
      <p:pic>
        <p:nvPicPr>
          <p:cNvPr id="7" name="anomaly_02_Veh_HighAccel_5baef16b">
            <a:hlinkClick r:id="" action="ppaction://media"/>
            <a:extLst>
              <a:ext uri="{FF2B5EF4-FFF2-40B4-BE49-F238E27FC236}">
                <a16:creationId xmlns:a16="http://schemas.microsoft.com/office/drawing/2014/main" id="{397DFF8F-298C-1C62-04AA-18596E28FB0E}"/>
              </a:ext>
            </a:extLst>
          </p:cNvPr>
          <p:cNvPicPr>
            <a:picLocks noChangeAspect="1"/>
          </p:cNvPicPr>
          <p:nvPr>
            <a:videoFile r:link="rId4"/>
            <p:extLst>
              <p:ext uri="{DAA4B4D4-6D71-4841-9C94-3DE7FCFB9230}">
                <p14:media xmlns:p14="http://schemas.microsoft.com/office/powerpoint/2010/main" r:embed="rId3"/>
              </p:ext>
            </p:extLst>
          </p:nvPr>
        </p:nvPicPr>
        <p:blipFill>
          <a:blip r:embed="rId12"/>
          <a:stretch>
            <a:fillRect/>
          </a:stretch>
        </p:blipFill>
        <p:spPr>
          <a:xfrm>
            <a:off x="4010045" y="2248298"/>
            <a:ext cx="3722088" cy="3722088"/>
          </a:xfrm>
          <a:prstGeom prst="rect">
            <a:avLst/>
          </a:prstGeom>
        </p:spPr>
      </p:pic>
      <p:pic>
        <p:nvPicPr>
          <p:cNvPr id="9" name="anomaly_10_Veh_HighYaw_262112a6">
            <a:hlinkClick r:id="" action="ppaction://media"/>
            <a:extLst>
              <a:ext uri="{FF2B5EF4-FFF2-40B4-BE49-F238E27FC236}">
                <a16:creationId xmlns:a16="http://schemas.microsoft.com/office/drawing/2014/main" id="{AD551C60-C50B-074F-86A4-EE34867F2268}"/>
              </a:ext>
            </a:extLst>
          </p:cNvPr>
          <p:cNvPicPr>
            <a:picLocks noChangeAspect="1"/>
          </p:cNvPicPr>
          <p:nvPr>
            <a:videoFile r:link="rId6"/>
            <p:extLst>
              <p:ext uri="{DAA4B4D4-6D71-4841-9C94-3DE7FCFB9230}">
                <p14:media xmlns:p14="http://schemas.microsoft.com/office/powerpoint/2010/main" r:embed="rId5"/>
              </p:ext>
            </p:extLst>
          </p:nvPr>
        </p:nvPicPr>
        <p:blipFill>
          <a:blip r:embed="rId13"/>
          <a:stretch>
            <a:fillRect/>
          </a:stretch>
        </p:blipFill>
        <p:spPr>
          <a:xfrm>
            <a:off x="7732133" y="2248298"/>
            <a:ext cx="3722089" cy="3722089"/>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9898095" y="-382978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375455" y="581228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535B06F-8008-C722-40D2-666914885251}"/>
              </a:ext>
            </a:extLst>
          </p:cNvPr>
          <p:cNvSpPr txBox="1"/>
          <p:nvPr/>
        </p:nvSpPr>
        <p:spPr>
          <a:xfrm>
            <a:off x="1558617" y="2063632"/>
            <a:ext cx="2037805" cy="369332"/>
          </a:xfrm>
          <a:prstGeom prst="rect">
            <a:avLst/>
          </a:prstGeom>
          <a:noFill/>
        </p:spPr>
        <p:txBody>
          <a:bodyPr wrap="square">
            <a:spAutoFit/>
          </a:bodyPr>
          <a:lstStyle/>
          <a:p>
            <a:r>
              <a:rPr lang="en-US" sz="1800" dirty="0">
                <a:latin typeface="GT Walsheim Trial Rg" pitchFamily="2" charset="77"/>
              </a:rPr>
              <a:t>Speeding Vehicles</a:t>
            </a:r>
            <a:endParaRPr lang="en-US" dirty="0"/>
          </a:p>
        </p:txBody>
      </p:sp>
      <p:sp>
        <p:nvSpPr>
          <p:cNvPr id="14" name="TextBox 13">
            <a:extLst>
              <a:ext uri="{FF2B5EF4-FFF2-40B4-BE49-F238E27FC236}">
                <a16:creationId xmlns:a16="http://schemas.microsoft.com/office/drawing/2014/main" id="{86652012-79AD-0CAC-E831-0F320A523F40}"/>
              </a:ext>
            </a:extLst>
          </p:cNvPr>
          <p:cNvSpPr txBox="1"/>
          <p:nvPr/>
        </p:nvSpPr>
        <p:spPr>
          <a:xfrm>
            <a:off x="5201656" y="2063631"/>
            <a:ext cx="1595252" cy="369332"/>
          </a:xfrm>
          <a:prstGeom prst="rect">
            <a:avLst/>
          </a:prstGeom>
          <a:noFill/>
        </p:spPr>
        <p:txBody>
          <a:bodyPr wrap="square">
            <a:spAutoFit/>
          </a:bodyPr>
          <a:lstStyle/>
          <a:p>
            <a:r>
              <a:rPr lang="en-US" sz="1800" dirty="0">
                <a:latin typeface="GT Walsheim Trial Rg" pitchFamily="2" charset="77"/>
              </a:rPr>
              <a:t>Lane Change</a:t>
            </a:r>
            <a:endParaRPr lang="en-US" dirty="0"/>
          </a:p>
        </p:txBody>
      </p:sp>
      <p:sp>
        <p:nvSpPr>
          <p:cNvPr id="16" name="TextBox 15">
            <a:extLst>
              <a:ext uri="{FF2B5EF4-FFF2-40B4-BE49-F238E27FC236}">
                <a16:creationId xmlns:a16="http://schemas.microsoft.com/office/drawing/2014/main" id="{4629228F-858D-AA5C-8007-A8B9B8684B58}"/>
              </a:ext>
            </a:extLst>
          </p:cNvPr>
          <p:cNvSpPr txBox="1"/>
          <p:nvPr/>
        </p:nvSpPr>
        <p:spPr>
          <a:xfrm>
            <a:off x="8212925" y="1870209"/>
            <a:ext cx="2973904" cy="646331"/>
          </a:xfrm>
          <a:prstGeom prst="rect">
            <a:avLst/>
          </a:prstGeom>
          <a:noFill/>
        </p:spPr>
        <p:txBody>
          <a:bodyPr wrap="square">
            <a:spAutoFit/>
          </a:bodyPr>
          <a:lstStyle/>
          <a:p>
            <a:pPr algn="ctr"/>
            <a:r>
              <a:rPr lang="en-US" sz="1800" dirty="0">
                <a:latin typeface="GT Walsheim Trial Rg" pitchFamily="2" charset="77"/>
              </a:rPr>
              <a:t>Sensor Artifact </a:t>
            </a:r>
          </a:p>
          <a:p>
            <a:pPr algn="ctr"/>
            <a:r>
              <a:rPr lang="en-US" sz="1800" dirty="0">
                <a:latin typeface="GT Walsheim Trial Th" pitchFamily="2" charset="77"/>
              </a:rPr>
              <a:t>Most of our </a:t>
            </a:r>
            <a:r>
              <a:rPr lang="en-US" sz="1800" dirty="0" err="1">
                <a:latin typeface="GT Walsheim Trial Th" pitchFamily="2" charset="77"/>
              </a:rPr>
              <a:t>Anomolies</a:t>
            </a:r>
            <a:endParaRPr lang="en-US" dirty="0">
              <a:latin typeface="GT Walsheim Trial Th" pitchFamily="2" charset="77"/>
            </a:endParaRPr>
          </a:p>
        </p:txBody>
      </p:sp>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000" fill="hold"/>
                                        <p:tgtEl>
                                          <p:spTgt spid="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6"/>
                </p:tgtEl>
              </p:cMediaNode>
            </p:video>
            <p:seq concurrent="1" nextAc="seek">
              <p:cTn id="16" restart="whenNotActive" fill="hold" evtFilter="cancelBubble" nodeType="interactiveSeq">
                <p:stCondLst>
                  <p:cond evt="onClick" delay="0">
                    <p:tgtEl>
                      <p:spTgt spid="6"/>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6"/>
                                        </p:tgtEl>
                                      </p:cBhvr>
                                    </p:cmd>
                                  </p:childTnLst>
                                </p:cTn>
                              </p:par>
                            </p:childTnLst>
                          </p:cTn>
                        </p:par>
                      </p:childTnLst>
                    </p:cTn>
                  </p:par>
                </p:childTnLst>
              </p:cTn>
              <p:nextCondLst>
                <p:cond evt="onClick" delay="0">
                  <p:tgtEl>
                    <p:spTgt spid="6"/>
                  </p:tgtEl>
                </p:cond>
              </p:nextCondLst>
            </p:seq>
            <p:seq concurrent="1" nextAc="seek">
              <p:cTn id="21" restart="whenNotActive" fill="hold" evtFilter="cancelBubble" nodeType="interactiveSeq">
                <p:stCondLst>
                  <p:cond evt="onClick" delay="0">
                    <p:tgtEl>
                      <p:spTgt spid="7"/>
                    </p:tgtEl>
                  </p:cond>
                </p:stCondLst>
                <p:endSync evt="end" delay="0">
                  <p:rtn val="all"/>
                </p:endSync>
                <p:childTnLst>
                  <p:par>
                    <p:cTn id="22" fill="hold">
                      <p:stCondLst>
                        <p:cond delay="0"/>
                      </p:stCondLst>
                      <p:childTnLst>
                        <p:par>
                          <p:cTn id="23" fill="hold">
                            <p:stCondLst>
                              <p:cond delay="0"/>
                            </p:stCondLst>
                            <p:childTnLst>
                              <p:par>
                                <p:cTn id="24" presetID="2" presetClass="mediacall" presetSubtype="0" fill="hold" nodeType="clickEffect">
                                  <p:stCondLst>
                                    <p:cond delay="0"/>
                                  </p:stCondLst>
                                  <p:childTnLst>
                                    <p:cmd type="call" cmd="togglePause">
                                      <p:cBhvr>
                                        <p:cTn id="25" dur="1" fill="hold"/>
                                        <p:tgtEl>
                                          <p:spTgt spid="7"/>
                                        </p:tgtEl>
                                      </p:cBhvr>
                                    </p:cmd>
                                  </p:childTnLst>
                                </p:cTn>
                              </p:par>
                            </p:childTnLst>
                          </p:cTn>
                        </p:par>
                      </p:childTnLst>
                    </p:cTn>
                  </p:par>
                </p:childTnLst>
              </p:cTn>
              <p:nextCondLst>
                <p:cond evt="onClick" delay="0">
                  <p:tgtEl>
                    <p:spTgt spid="7"/>
                  </p:tgtEl>
                </p:cond>
              </p:nextCondLst>
            </p:seq>
            <p:video>
              <p:cMediaNode vol="80000">
                <p:cTn id="26" fill="hold" display="0">
                  <p:stCondLst>
                    <p:cond delay="indefinite"/>
                  </p:stCondLst>
                </p:cTn>
                <p:tgtEl>
                  <p:spTgt spid="7"/>
                </p:tgtEl>
              </p:cMediaNode>
            </p:video>
            <p:seq concurrent="1" nextAc="seek">
              <p:cTn id="27" restart="whenNotActive" fill="hold" evtFilter="cancelBubble" nodeType="interactiveSeq">
                <p:stCondLst>
                  <p:cond evt="onClick" delay="0">
                    <p:tgtEl>
                      <p:spTgt spid="9"/>
                    </p:tgtEl>
                  </p:cond>
                </p:stCondLst>
                <p:endSync evt="end" delay="0">
                  <p:rtn val="all"/>
                </p:endSync>
                <p:childTnLst>
                  <p:par>
                    <p:cTn id="28" fill="hold">
                      <p:stCondLst>
                        <p:cond delay="0"/>
                      </p:stCondLst>
                      <p:childTnLst>
                        <p:par>
                          <p:cTn id="29" fill="hold">
                            <p:stCondLst>
                              <p:cond delay="0"/>
                            </p:stCondLst>
                            <p:childTnLst>
                              <p:par>
                                <p:cTn id="30" presetID="2" presetClass="mediacall" presetSubtype="0" fill="hold" nodeType="clickEffect">
                                  <p:stCondLst>
                                    <p:cond delay="0"/>
                                  </p:stCondLst>
                                  <p:childTnLst>
                                    <p:cmd type="call" cmd="togglePause">
                                      <p:cBhvr>
                                        <p:cTn id="31" dur="1" fill="hold"/>
                                        <p:tgtEl>
                                          <p:spTgt spid="9"/>
                                        </p:tgtEl>
                                      </p:cBhvr>
                                    </p:cmd>
                                  </p:childTnLst>
                                </p:cTn>
                              </p:par>
                            </p:childTnLst>
                          </p:cTn>
                        </p:par>
                      </p:childTnLst>
                    </p:cTn>
                  </p:par>
                </p:childTnLst>
              </p:cTn>
              <p:nextCondLst>
                <p:cond evt="onClick" delay="0">
                  <p:tgtEl>
                    <p:spTgt spid="9"/>
                  </p:tgtEl>
                </p:cond>
              </p:nextCondLst>
            </p:seq>
            <p:video>
              <p:cMediaNode vol="80000">
                <p:cTn id="32" fill="hold" display="0">
                  <p:stCondLst>
                    <p:cond delay="indefinite"/>
                  </p:stCondLst>
                </p:cTn>
                <p:tgtEl>
                  <p:spTgt spid="9"/>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494047793"/>
              </p:ext>
            </p:extLst>
          </p:nvPr>
        </p:nvGraphicFramePr>
        <p:xfrm>
          <a:off x="854438" y="3575329"/>
          <a:ext cx="10495163" cy="15749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02260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646331"/>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704</TotalTime>
  <Words>4023</Words>
  <Application>Microsoft Macintosh PowerPoint</Application>
  <PresentationFormat>Widescreen</PresentationFormat>
  <Paragraphs>376</Paragraphs>
  <Slides>17</Slides>
  <Notes>17</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RELATED WORK</vt:lpstr>
      <vt:lpstr>DATASET &amp; PIPLINE</vt:lpstr>
      <vt:lpstr>PART 1: DATASET STATISTICS</vt:lpstr>
      <vt:lpstr>PART 2: DATASET STATISTICS </vt:lpstr>
      <vt:lpstr>PART 3: DATASET STATISTICS </vt:lpstr>
      <vt:lpstr>METHODS: ANOMALY DETECTION</vt:lpstr>
      <vt:lpstr>ANOMALY DETECTION</vt:lpstr>
      <vt:lpstr>MOTION PREDICTION</vt:lpstr>
      <vt:lpstr>DEMO</vt:lpstr>
      <vt:lpstr>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6</cp:revision>
  <dcterms:created xsi:type="dcterms:W3CDTF">2026-04-11T16:24:40Z</dcterms:created>
  <dcterms:modified xsi:type="dcterms:W3CDTF">2026-04-12T20:41:25Z</dcterms:modified>
</cp:coreProperties>
</file>