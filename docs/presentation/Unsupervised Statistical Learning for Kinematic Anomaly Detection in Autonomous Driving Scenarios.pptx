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2" r:id="rId6"/>
    <p:sldId id="263" r:id="rId7"/>
    <p:sldId id="264" r:id="rId8"/>
    <p:sldId id="272"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FF"/>
    <a:srgbClr val="00E9A0"/>
    <a:srgbClr val="23233B"/>
    <a:srgbClr val="949AA0"/>
    <a:srgbClr val="989D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1D200D-BFFE-DF45-BD3E-DC36CCF88744}" v="37" dt="2026-04-12T02:44:56.8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4"/>
    <p:restoredTop sz="22442"/>
  </p:normalViewPr>
  <p:slideViewPr>
    <p:cSldViewPr snapToGrid="0">
      <p:cViewPr>
        <p:scale>
          <a:sx n="31" d="100"/>
          <a:sy n="31" d="100"/>
        </p:scale>
        <p:origin x="4344" y="152"/>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anov, Pavel Aleksandrovich" userId="b85f6bca-230c-483e-a25b-e13e873626fd" providerId="ADAL" clId="{AB235781-41D1-50B9-86EA-51A98A5F500A}"/>
    <pc:docChg chg="undo custSel addSld modSld">
      <pc:chgData name="Stepanov, Pavel Aleksandrovich" userId="b85f6bca-230c-483e-a25b-e13e873626fd" providerId="ADAL" clId="{AB235781-41D1-50B9-86EA-51A98A5F500A}" dt="2026-04-12T02:45:35.358" v="214" actId="20577"/>
      <pc:docMkLst>
        <pc:docMk/>
      </pc:docMkLst>
      <pc:sldChg chg="modNotesTx">
        <pc:chgData name="Stepanov, Pavel Aleksandrovich" userId="b85f6bca-230c-483e-a25b-e13e873626fd" providerId="ADAL" clId="{AB235781-41D1-50B9-86EA-51A98A5F500A}" dt="2026-04-12T02:27:22.605" v="91" actId="20577"/>
        <pc:sldMkLst>
          <pc:docMk/>
          <pc:sldMk cId="3542837740" sldId="256"/>
        </pc:sldMkLst>
      </pc:sldChg>
      <pc:sldChg chg="modSp mod modNotesTx">
        <pc:chgData name="Stepanov, Pavel Aleksandrovich" userId="b85f6bca-230c-483e-a25b-e13e873626fd" providerId="ADAL" clId="{AB235781-41D1-50B9-86EA-51A98A5F500A}" dt="2026-04-12T02:28:02.687" v="92" actId="20577"/>
        <pc:sldMkLst>
          <pc:docMk/>
          <pc:sldMk cId="2587833539" sldId="258"/>
        </pc:sldMkLst>
        <pc:spChg chg="mod">
          <ac:chgData name="Stepanov, Pavel Aleksandrovich" userId="b85f6bca-230c-483e-a25b-e13e873626fd" providerId="ADAL" clId="{AB235781-41D1-50B9-86EA-51A98A5F500A}" dt="2026-04-12T02:09:14.642" v="88" actId="1076"/>
          <ac:spMkLst>
            <pc:docMk/>
            <pc:sldMk cId="2587833539" sldId="258"/>
            <ac:spMk id="3" creationId="{FFF5F632-AB2B-5851-4C9F-220142F83551}"/>
          </ac:spMkLst>
        </pc:spChg>
      </pc:sldChg>
      <pc:sldChg chg="addSp delSp modSp mod modNotesTx">
        <pc:chgData name="Stepanov, Pavel Aleksandrovich" userId="b85f6bca-230c-483e-a25b-e13e873626fd" providerId="ADAL" clId="{AB235781-41D1-50B9-86EA-51A98A5F500A}" dt="2026-04-12T02:09:15.352" v="89" actId="478"/>
        <pc:sldMkLst>
          <pc:docMk/>
          <pc:sldMk cId="37105992" sldId="259"/>
        </pc:sldMkLst>
        <pc:spChg chg="add del">
          <ac:chgData name="Stepanov, Pavel Aleksandrovich" userId="b85f6bca-230c-483e-a25b-e13e873626fd" providerId="ADAL" clId="{AB235781-41D1-50B9-86EA-51A98A5F500A}" dt="2026-04-12T02:09:15.352" v="89" actId="478"/>
          <ac:spMkLst>
            <pc:docMk/>
            <pc:sldMk cId="37105992" sldId="259"/>
            <ac:spMk id="2" creationId="{2D7D061C-6FCC-F08D-4061-3B26691D1FFF}"/>
          </ac:spMkLst>
        </pc:spChg>
        <pc:spChg chg="add mod">
          <ac:chgData name="Stepanov, Pavel Aleksandrovich" userId="b85f6bca-230c-483e-a25b-e13e873626fd" providerId="ADAL" clId="{AB235781-41D1-50B9-86EA-51A98A5F500A}" dt="2026-04-12T02:09:09.619" v="86"/>
          <ac:spMkLst>
            <pc:docMk/>
            <pc:sldMk cId="37105992" sldId="259"/>
            <ac:spMk id="3" creationId="{9F57C200-CD06-01DF-2146-66A24FFC4655}"/>
          </ac:spMkLst>
        </pc:spChg>
        <pc:picChg chg="del mod">
          <ac:chgData name="Stepanov, Pavel Aleksandrovich" userId="b85f6bca-230c-483e-a25b-e13e873626fd" providerId="ADAL" clId="{AB235781-41D1-50B9-86EA-51A98A5F500A}" dt="2026-04-12T02:01:11.925" v="36" actId="478"/>
          <ac:picMkLst>
            <pc:docMk/>
            <pc:sldMk cId="37105992" sldId="259"/>
            <ac:picMk id="4100" creationId="{7FAF0D29-B8CB-2891-F142-D19360BDDA2E}"/>
          </ac:picMkLst>
        </pc:picChg>
      </pc:sldChg>
      <pc:sldChg chg="modNotesTx">
        <pc:chgData name="Stepanov, Pavel Aleksandrovich" userId="b85f6bca-230c-483e-a25b-e13e873626fd" providerId="ADAL" clId="{AB235781-41D1-50B9-86EA-51A98A5F500A}" dt="2026-04-12T02:04:00.518" v="62" actId="20577"/>
        <pc:sldMkLst>
          <pc:docMk/>
          <pc:sldMk cId="34899088" sldId="260"/>
        </pc:sldMkLst>
      </pc:sldChg>
      <pc:sldChg chg="modSp mod modNotesTx">
        <pc:chgData name="Stepanov, Pavel Aleksandrovich" userId="b85f6bca-230c-483e-a25b-e13e873626fd" providerId="ADAL" clId="{AB235781-41D1-50B9-86EA-51A98A5F500A}" dt="2026-04-12T02:08:41.912" v="84" actId="1076"/>
        <pc:sldMkLst>
          <pc:docMk/>
          <pc:sldMk cId="1027313753" sldId="262"/>
        </pc:sldMkLst>
        <pc:spChg chg="mod">
          <ac:chgData name="Stepanov, Pavel Aleksandrovich" userId="b85f6bca-230c-483e-a25b-e13e873626fd" providerId="ADAL" clId="{AB235781-41D1-50B9-86EA-51A98A5F500A}" dt="2026-04-12T02:08:37.478" v="83" actId="1076"/>
          <ac:spMkLst>
            <pc:docMk/>
            <pc:sldMk cId="1027313753" sldId="262"/>
            <ac:spMk id="16" creationId="{F7FF29CB-B9A0-D774-8556-025972A6411F}"/>
          </ac:spMkLst>
        </pc:spChg>
        <pc:spChg chg="mod">
          <ac:chgData name="Stepanov, Pavel Aleksandrovich" userId="b85f6bca-230c-483e-a25b-e13e873626fd" providerId="ADAL" clId="{AB235781-41D1-50B9-86EA-51A98A5F500A}" dt="2026-04-12T02:08:41.912" v="84" actId="1076"/>
          <ac:spMkLst>
            <pc:docMk/>
            <pc:sldMk cId="1027313753" sldId="262"/>
            <ac:spMk id="25" creationId="{D08567BA-74CD-E9BD-D382-9328F41BC61C}"/>
          </ac:spMkLst>
        </pc:spChg>
      </pc:sldChg>
      <pc:sldChg chg="modNotesTx">
        <pc:chgData name="Stepanov, Pavel Aleksandrovich" userId="b85f6bca-230c-483e-a25b-e13e873626fd" providerId="ADAL" clId="{AB235781-41D1-50B9-86EA-51A98A5F500A}" dt="2026-04-12T02:02:03.614" v="58" actId="20577"/>
        <pc:sldMkLst>
          <pc:docMk/>
          <pc:sldMk cId="2414567693" sldId="263"/>
        </pc:sldMkLst>
      </pc:sldChg>
      <pc:sldChg chg="addSp delSp modSp modNotesTx">
        <pc:chgData name="Stepanov, Pavel Aleksandrovich" userId="b85f6bca-230c-483e-a25b-e13e873626fd" providerId="ADAL" clId="{AB235781-41D1-50B9-86EA-51A98A5F500A}" dt="2026-04-12T02:44:44.652" v="212" actId="20577"/>
        <pc:sldMkLst>
          <pc:docMk/>
          <pc:sldMk cId="2606525707" sldId="264"/>
        </pc:sldMkLst>
        <pc:spChg chg="del">
          <ac:chgData name="Stepanov, Pavel Aleksandrovich" userId="b85f6bca-230c-483e-a25b-e13e873626fd" providerId="ADAL" clId="{AB235781-41D1-50B9-86EA-51A98A5F500A}" dt="2026-04-12T02:44:33.442" v="210" actId="478"/>
          <ac:spMkLst>
            <pc:docMk/>
            <pc:sldMk cId="2606525707" sldId="264"/>
            <ac:spMk id="2" creationId="{7A68A61C-4608-E59F-E53A-ACC82BDE3BFB}"/>
          </ac:spMkLst>
        </pc:spChg>
        <pc:spChg chg="add mod">
          <ac:chgData name="Stepanov, Pavel Aleksandrovich" userId="b85f6bca-230c-483e-a25b-e13e873626fd" providerId="ADAL" clId="{AB235781-41D1-50B9-86EA-51A98A5F500A}" dt="2026-04-12T02:44:33.442" v="210" actId="478"/>
          <ac:spMkLst>
            <pc:docMk/>
            <pc:sldMk cId="2606525707" sldId="264"/>
            <ac:spMk id="3" creationId="{CE7B1E02-7E04-CB0C-3314-A673C2BD6DEC}"/>
          </ac:spMkLst>
        </pc:spChg>
        <pc:spChg chg="del">
          <ac:chgData name="Stepanov, Pavel Aleksandrovich" userId="b85f6bca-230c-483e-a25b-e13e873626fd" providerId="ADAL" clId="{AB235781-41D1-50B9-86EA-51A98A5F500A}" dt="2026-04-12T02:44:33.442" v="210" actId="478"/>
          <ac:spMkLst>
            <pc:docMk/>
            <pc:sldMk cId="2606525707" sldId="264"/>
            <ac:spMk id="4" creationId="{7C72B4AF-3303-D5F9-B0F5-2775BA6C11A3}"/>
          </ac:spMkLst>
        </pc:spChg>
        <pc:spChg chg="del">
          <ac:chgData name="Stepanov, Pavel Aleksandrovich" userId="b85f6bca-230c-483e-a25b-e13e873626fd" providerId="ADAL" clId="{AB235781-41D1-50B9-86EA-51A98A5F500A}" dt="2026-04-12T02:44:33.442" v="210" actId="478"/>
          <ac:spMkLst>
            <pc:docMk/>
            <pc:sldMk cId="2606525707" sldId="264"/>
            <ac:spMk id="5" creationId="{D7373F07-4ACA-1B01-241E-AF7E7DC70674}"/>
          </ac:spMkLst>
        </pc:spChg>
        <pc:spChg chg="del">
          <ac:chgData name="Stepanov, Pavel Aleksandrovich" userId="b85f6bca-230c-483e-a25b-e13e873626fd" providerId="ADAL" clId="{AB235781-41D1-50B9-86EA-51A98A5F500A}" dt="2026-04-12T02:44:33.442" v="210" actId="478"/>
          <ac:spMkLst>
            <pc:docMk/>
            <pc:sldMk cId="2606525707" sldId="264"/>
            <ac:spMk id="7" creationId="{9C0FDC66-D3E4-E203-0DF1-C8F46FC5F057}"/>
          </ac:spMkLst>
        </pc:spChg>
        <pc:spChg chg="del">
          <ac:chgData name="Stepanov, Pavel Aleksandrovich" userId="b85f6bca-230c-483e-a25b-e13e873626fd" providerId="ADAL" clId="{AB235781-41D1-50B9-86EA-51A98A5F500A}" dt="2026-04-12T02:44:33.442" v="210" actId="478"/>
          <ac:spMkLst>
            <pc:docMk/>
            <pc:sldMk cId="2606525707" sldId="264"/>
            <ac:spMk id="8" creationId="{3B39957A-7A79-0237-F7BA-3507FB224EBF}"/>
          </ac:spMkLst>
        </pc:spChg>
        <pc:spChg chg="del">
          <ac:chgData name="Stepanov, Pavel Aleksandrovich" userId="b85f6bca-230c-483e-a25b-e13e873626fd" providerId="ADAL" clId="{AB235781-41D1-50B9-86EA-51A98A5F500A}" dt="2026-04-12T02:44:33.442" v="210" actId="478"/>
          <ac:spMkLst>
            <pc:docMk/>
            <pc:sldMk cId="2606525707" sldId="264"/>
            <ac:spMk id="10" creationId="{88F07873-F556-363B-D82F-5070AC0E40F8}"/>
          </ac:spMkLst>
        </pc:spChg>
        <pc:spChg chg="del">
          <ac:chgData name="Stepanov, Pavel Aleksandrovich" userId="b85f6bca-230c-483e-a25b-e13e873626fd" providerId="ADAL" clId="{AB235781-41D1-50B9-86EA-51A98A5F500A}" dt="2026-04-12T02:44:33.442" v="210" actId="478"/>
          <ac:spMkLst>
            <pc:docMk/>
            <pc:sldMk cId="2606525707" sldId="264"/>
            <ac:spMk id="15" creationId="{93ED1794-7A9B-1693-FDA5-2205F28AED0A}"/>
          </ac:spMkLst>
        </pc:spChg>
        <pc:spChg chg="del">
          <ac:chgData name="Stepanov, Pavel Aleksandrovich" userId="b85f6bca-230c-483e-a25b-e13e873626fd" providerId="ADAL" clId="{AB235781-41D1-50B9-86EA-51A98A5F500A}" dt="2026-04-12T02:44:33.442" v="210" actId="478"/>
          <ac:spMkLst>
            <pc:docMk/>
            <pc:sldMk cId="2606525707" sldId="264"/>
            <ac:spMk id="16" creationId="{A9B3A18B-1E6C-CA70-05A1-CB6DEEF0205D}"/>
          </ac:spMkLst>
        </pc:spChg>
        <pc:spChg chg="del">
          <ac:chgData name="Stepanov, Pavel Aleksandrovich" userId="b85f6bca-230c-483e-a25b-e13e873626fd" providerId="ADAL" clId="{AB235781-41D1-50B9-86EA-51A98A5F500A}" dt="2026-04-12T02:44:33.442" v="210" actId="478"/>
          <ac:spMkLst>
            <pc:docMk/>
            <pc:sldMk cId="2606525707" sldId="264"/>
            <ac:spMk id="17" creationId="{ADE500D8-7D23-EFBE-E974-8C8A094C2972}"/>
          </ac:spMkLst>
        </pc:spChg>
      </pc:sldChg>
      <pc:sldChg chg="addSp delSp mod modNotesTx">
        <pc:chgData name="Stepanov, Pavel Aleksandrovich" userId="b85f6bca-230c-483e-a25b-e13e873626fd" providerId="ADAL" clId="{AB235781-41D1-50B9-86EA-51A98A5F500A}" dt="2026-04-12T02:44:57.589" v="213" actId="113"/>
        <pc:sldMkLst>
          <pc:docMk/>
          <pc:sldMk cId="1500307707" sldId="265"/>
        </pc:sldMkLst>
        <pc:spChg chg="del">
          <ac:chgData name="Stepanov, Pavel Aleksandrovich" userId="b85f6bca-230c-483e-a25b-e13e873626fd" providerId="ADAL" clId="{AB235781-41D1-50B9-86EA-51A98A5F500A}" dt="2026-04-12T02:06:12.872" v="73" actId="478"/>
          <ac:spMkLst>
            <pc:docMk/>
            <pc:sldMk cId="1500307707" sldId="265"/>
            <ac:spMk id="2" creationId="{0B9D7CE2-EDB4-0C20-1703-57DEEF7B7374}"/>
          </ac:spMkLst>
        </pc:spChg>
        <pc:spChg chg="del">
          <ac:chgData name="Stepanov, Pavel Aleksandrovich" userId="b85f6bca-230c-483e-a25b-e13e873626fd" providerId="ADAL" clId="{AB235781-41D1-50B9-86EA-51A98A5F500A}" dt="2026-04-12T02:06:12.872" v="73" actId="478"/>
          <ac:spMkLst>
            <pc:docMk/>
            <pc:sldMk cId="1500307707" sldId="265"/>
            <ac:spMk id="17" creationId="{5AEE1D80-5EE9-B820-4D27-E24EE9D1A594}"/>
          </ac:spMkLst>
        </pc:spChg>
        <pc:spChg chg="del">
          <ac:chgData name="Stepanov, Pavel Aleksandrovich" userId="b85f6bca-230c-483e-a25b-e13e873626fd" providerId="ADAL" clId="{AB235781-41D1-50B9-86EA-51A98A5F500A}" dt="2026-04-12T02:06:14.401" v="74" actId="478"/>
          <ac:spMkLst>
            <pc:docMk/>
            <pc:sldMk cId="1500307707" sldId="265"/>
            <ac:spMk id="18" creationId="{8AE5BAC6-B4B9-F8D0-FF58-98313CDA2C2D}"/>
          </ac:spMkLst>
        </pc:spChg>
        <pc:spChg chg="add del">
          <ac:chgData name="Stepanov, Pavel Aleksandrovich" userId="b85f6bca-230c-483e-a25b-e13e873626fd" providerId="ADAL" clId="{AB235781-41D1-50B9-86EA-51A98A5F500A}" dt="2026-04-12T02:06:19.498" v="78" actId="478"/>
          <ac:spMkLst>
            <pc:docMk/>
            <pc:sldMk cId="1500307707" sldId="265"/>
            <ac:spMk id="24" creationId="{6E917537-92A5-6E9F-7D52-B229CEB05CFC}"/>
          </ac:spMkLst>
        </pc:spChg>
      </pc:sldChg>
      <pc:sldChg chg="modNotesTx">
        <pc:chgData name="Stepanov, Pavel Aleksandrovich" userId="b85f6bca-230c-483e-a25b-e13e873626fd" providerId="ADAL" clId="{AB235781-41D1-50B9-86EA-51A98A5F500A}" dt="2026-04-12T02:42:56.728" v="181" actId="20577"/>
        <pc:sldMkLst>
          <pc:docMk/>
          <pc:sldMk cId="3511431320" sldId="266"/>
        </pc:sldMkLst>
      </pc:sldChg>
      <pc:sldChg chg="mod modShow modNotesTx">
        <pc:chgData name="Stepanov, Pavel Aleksandrovich" userId="b85f6bca-230c-483e-a25b-e13e873626fd" providerId="ADAL" clId="{AB235781-41D1-50B9-86EA-51A98A5F500A}" dt="2026-04-12T02:42:42.920" v="179" actId="729"/>
        <pc:sldMkLst>
          <pc:docMk/>
          <pc:sldMk cId="3688322972" sldId="267"/>
        </pc:sldMkLst>
      </pc:sldChg>
      <pc:sldChg chg="modNotesTx">
        <pc:chgData name="Stepanov, Pavel Aleksandrovich" userId="b85f6bca-230c-483e-a25b-e13e873626fd" providerId="ADAL" clId="{AB235781-41D1-50B9-86EA-51A98A5F500A}" dt="2026-04-12T02:42:00.570" v="178" actId="20577"/>
        <pc:sldMkLst>
          <pc:docMk/>
          <pc:sldMk cId="3183023199" sldId="268"/>
        </pc:sldMkLst>
      </pc:sldChg>
      <pc:sldChg chg="delSp modSp mod modNotesTx">
        <pc:chgData name="Stepanov, Pavel Aleksandrovich" userId="b85f6bca-230c-483e-a25b-e13e873626fd" providerId="ADAL" clId="{AB235781-41D1-50B9-86EA-51A98A5F500A}" dt="2026-04-12T02:36:33.349" v="132" actId="20577"/>
        <pc:sldMkLst>
          <pc:docMk/>
          <pc:sldMk cId="1235929803" sldId="269"/>
        </pc:sldMkLst>
        <pc:spChg chg="del mod">
          <ac:chgData name="Stepanov, Pavel Aleksandrovich" userId="b85f6bca-230c-483e-a25b-e13e873626fd" providerId="ADAL" clId="{AB235781-41D1-50B9-86EA-51A98A5F500A}" dt="2026-04-12T02:06:55.624" v="81" actId="478"/>
          <ac:spMkLst>
            <pc:docMk/>
            <pc:sldMk cId="1235929803" sldId="269"/>
            <ac:spMk id="19" creationId="{C8D94913-3C0E-79B6-9244-D3B6AC9DBDD3}"/>
          </ac:spMkLst>
        </pc:spChg>
        <pc:picChg chg="del">
          <ac:chgData name="Stepanov, Pavel Aleksandrovich" userId="b85f6bca-230c-483e-a25b-e13e873626fd" providerId="ADAL" clId="{AB235781-41D1-50B9-86EA-51A98A5F500A}" dt="2026-04-12T02:06:53.029" v="79" actId="478"/>
          <ac:picMkLst>
            <pc:docMk/>
            <pc:sldMk cId="1235929803" sldId="269"/>
            <ac:picMk id="2" creationId="{23543C09-6819-938B-CCFA-67610A7EBC7B}"/>
          </ac:picMkLst>
        </pc:picChg>
      </pc:sldChg>
      <pc:sldChg chg="modNotesTx">
        <pc:chgData name="Stepanov, Pavel Aleksandrovich" userId="b85f6bca-230c-483e-a25b-e13e873626fd" providerId="ADAL" clId="{AB235781-41D1-50B9-86EA-51A98A5F500A}" dt="2026-04-12T02:45:35.358" v="214" actId="20577"/>
        <pc:sldMkLst>
          <pc:docMk/>
          <pc:sldMk cId="133968869" sldId="270"/>
        </pc:sldMkLst>
      </pc:sldChg>
      <pc:sldChg chg="modNotesTx">
        <pc:chgData name="Stepanov, Pavel Aleksandrovich" userId="b85f6bca-230c-483e-a25b-e13e873626fd" providerId="ADAL" clId="{AB235781-41D1-50B9-86EA-51A98A5F500A}" dt="2026-04-12T02:05:09.407" v="72" actId="20577"/>
        <pc:sldMkLst>
          <pc:docMk/>
          <pc:sldMk cId="480666757" sldId="271"/>
        </pc:sldMkLst>
      </pc:sldChg>
      <pc:sldChg chg="addSp delSp modSp add modNotesTx">
        <pc:chgData name="Stepanov, Pavel Aleksandrovich" userId="b85f6bca-230c-483e-a25b-e13e873626fd" providerId="ADAL" clId="{AB235781-41D1-50B9-86EA-51A98A5F500A}" dt="2026-04-12T02:44:36.704" v="211" actId="478"/>
        <pc:sldMkLst>
          <pc:docMk/>
          <pc:sldMk cId="1015887060" sldId="272"/>
        </pc:sldMkLst>
        <pc:spChg chg="del">
          <ac:chgData name="Stepanov, Pavel Aleksandrovich" userId="b85f6bca-230c-483e-a25b-e13e873626fd" providerId="ADAL" clId="{AB235781-41D1-50B9-86EA-51A98A5F500A}" dt="2026-04-12T02:44:36.704" v="211" actId="478"/>
          <ac:spMkLst>
            <pc:docMk/>
            <pc:sldMk cId="1015887060" sldId="272"/>
            <ac:spMk id="2" creationId="{3C85ED86-3106-1AE7-29BD-E84CE5C78B99}"/>
          </ac:spMkLst>
        </pc:spChg>
        <pc:spChg chg="add mod">
          <ac:chgData name="Stepanov, Pavel Aleksandrovich" userId="b85f6bca-230c-483e-a25b-e13e873626fd" providerId="ADAL" clId="{AB235781-41D1-50B9-86EA-51A98A5F500A}" dt="2026-04-12T02:44:36.704" v="211" actId="478"/>
          <ac:spMkLst>
            <pc:docMk/>
            <pc:sldMk cId="1015887060" sldId="272"/>
            <ac:spMk id="3" creationId="{FCAB2BF5-F20F-C31F-3CA6-179525C2DB7D}"/>
          </ac:spMkLst>
        </pc:spChg>
        <pc:spChg chg="del">
          <ac:chgData name="Stepanov, Pavel Aleksandrovich" userId="b85f6bca-230c-483e-a25b-e13e873626fd" providerId="ADAL" clId="{AB235781-41D1-50B9-86EA-51A98A5F500A}" dt="2026-04-12T02:44:36.704" v="211" actId="478"/>
          <ac:spMkLst>
            <pc:docMk/>
            <pc:sldMk cId="1015887060" sldId="272"/>
            <ac:spMk id="4" creationId="{58C06A6B-2D01-9593-CC6E-E229F902E49C}"/>
          </ac:spMkLst>
        </pc:spChg>
        <pc:spChg chg="del">
          <ac:chgData name="Stepanov, Pavel Aleksandrovich" userId="b85f6bca-230c-483e-a25b-e13e873626fd" providerId="ADAL" clId="{AB235781-41D1-50B9-86EA-51A98A5F500A}" dt="2026-04-12T02:44:36.704" v="211" actId="478"/>
          <ac:spMkLst>
            <pc:docMk/>
            <pc:sldMk cId="1015887060" sldId="272"/>
            <ac:spMk id="5" creationId="{DEFD2CC0-FC69-45D9-3DC9-EA386316F03B}"/>
          </ac:spMkLst>
        </pc:spChg>
        <pc:spChg chg="del">
          <ac:chgData name="Stepanov, Pavel Aleksandrovich" userId="b85f6bca-230c-483e-a25b-e13e873626fd" providerId="ADAL" clId="{AB235781-41D1-50B9-86EA-51A98A5F500A}" dt="2026-04-12T02:44:36.704" v="211" actId="478"/>
          <ac:spMkLst>
            <pc:docMk/>
            <pc:sldMk cId="1015887060" sldId="272"/>
            <ac:spMk id="7" creationId="{57595808-DFB0-7DC5-6366-D8A1D9399F4A}"/>
          </ac:spMkLst>
        </pc:spChg>
        <pc:spChg chg="del">
          <ac:chgData name="Stepanov, Pavel Aleksandrovich" userId="b85f6bca-230c-483e-a25b-e13e873626fd" providerId="ADAL" clId="{AB235781-41D1-50B9-86EA-51A98A5F500A}" dt="2026-04-12T02:44:36.704" v="211" actId="478"/>
          <ac:spMkLst>
            <pc:docMk/>
            <pc:sldMk cId="1015887060" sldId="272"/>
            <ac:spMk id="10" creationId="{413A6E5C-51C2-E759-AD91-BC6A7AFA5C8E}"/>
          </ac:spMkLst>
        </pc:spChg>
        <pc:spChg chg="del">
          <ac:chgData name="Stepanov, Pavel Aleksandrovich" userId="b85f6bca-230c-483e-a25b-e13e873626fd" providerId="ADAL" clId="{AB235781-41D1-50B9-86EA-51A98A5F500A}" dt="2026-04-12T02:44:36.704" v="211" actId="478"/>
          <ac:spMkLst>
            <pc:docMk/>
            <pc:sldMk cId="1015887060" sldId="272"/>
            <ac:spMk id="15" creationId="{0B1DA6E0-4602-769D-C1BC-7A4F6D9B1F28}"/>
          </ac:spMkLst>
        </pc:spChg>
        <pc:spChg chg="del">
          <ac:chgData name="Stepanov, Pavel Aleksandrovich" userId="b85f6bca-230c-483e-a25b-e13e873626fd" providerId="ADAL" clId="{AB235781-41D1-50B9-86EA-51A98A5F500A}" dt="2026-04-12T02:44:36.704" v="211" actId="478"/>
          <ac:spMkLst>
            <pc:docMk/>
            <pc:sldMk cId="1015887060" sldId="272"/>
            <ac:spMk id="16" creationId="{0CAEF6D4-A34B-4F2B-AEBE-544BB27AFC60}"/>
          </ac:spMkLst>
        </pc:spChg>
        <pc:spChg chg="del">
          <ac:chgData name="Stepanov, Pavel Aleksandrovich" userId="b85f6bca-230c-483e-a25b-e13e873626fd" providerId="ADAL" clId="{AB235781-41D1-50B9-86EA-51A98A5F500A}" dt="2026-04-12T02:44:36.704" v="211" actId="478"/>
          <ac:spMkLst>
            <pc:docMk/>
            <pc:sldMk cId="1015887060" sldId="272"/>
            <ac:spMk id="17" creationId="{01D601D3-AC74-8DAD-AD4F-4E4C81AC81AD}"/>
          </ac:spMkLst>
        </pc:spChg>
        <pc:spChg chg="del">
          <ac:chgData name="Stepanov, Pavel Aleksandrovich" userId="b85f6bca-230c-483e-a25b-e13e873626fd" providerId="ADAL" clId="{AB235781-41D1-50B9-86EA-51A98A5F500A}" dt="2026-04-12T02:44:36.704" v="211" actId="478"/>
          <ac:spMkLst>
            <pc:docMk/>
            <pc:sldMk cId="1015887060" sldId="272"/>
            <ac:spMk id="18" creationId="{708A88AF-DE9D-38F6-42C4-213598D854A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8E3E3-B2E7-C649-9FF9-E9813C9F5CC9}" type="datetimeFigureOut">
              <a:rPr lang="en-US" smtClean="0"/>
              <a:t>4/11/26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43537-14D9-9349-AA70-B1088F1298F1}" type="slidenum">
              <a:rPr lang="en-US" smtClean="0"/>
              <a:t>‹#›</a:t>
            </a:fld>
            <a:endParaRPr lang="en-US"/>
          </a:p>
        </p:txBody>
      </p:sp>
    </p:spTree>
    <p:extLst>
      <p:ext uri="{BB962C8B-B14F-4D97-AF65-F5344CB8AC3E}">
        <p14:creationId xmlns:p14="http://schemas.microsoft.com/office/powerpoint/2010/main" val="14085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PAVEL:</a:t>
            </a:r>
          </a:p>
          <a:p>
            <a:endParaRPr lang="en-US" dirty="0"/>
          </a:p>
          <a:p>
            <a:r>
              <a:rPr lang="en-US" sz="1200" b="0" i="0" kern="1200" dirty="0">
                <a:solidFill>
                  <a:schemeClr val="tx1"/>
                </a:solidFill>
                <a:effectLst/>
                <a:latin typeface="+mn-lt"/>
                <a:ea typeface="+mn-ea"/>
                <a:cs typeface="+mn-cs"/>
              </a:rPr>
              <a:t>Good [morning/afternoon], everyone. My name is Pavel Stepanov, and I'm here with my teammates Ramses </a:t>
            </a:r>
            <a:r>
              <a:rPr lang="en-US" sz="1200" b="0" i="0" kern="1200" dirty="0" err="1">
                <a:solidFill>
                  <a:schemeClr val="tx1"/>
                </a:solidFill>
                <a:effectLst/>
                <a:latin typeface="+mn-lt"/>
                <a:ea typeface="+mn-ea"/>
                <a:cs typeface="+mn-cs"/>
              </a:rPr>
              <a:t>Loaces</a:t>
            </a:r>
            <a:r>
              <a:rPr lang="en-US" sz="1200" b="0" i="0" kern="1200" dirty="0">
                <a:solidFill>
                  <a:schemeClr val="tx1"/>
                </a:solidFill>
                <a:effectLst/>
                <a:latin typeface="+mn-lt"/>
                <a:ea typeface="+mn-ea"/>
                <a:cs typeface="+mn-cs"/>
              </a:rPr>
              <a:t> and Justin Cabrera. Today we're presenting our research on unsupervised kinematic anomaly detection in autonomous driving.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the core question that drives our work: </a:t>
            </a:r>
            <a:r>
              <a:rPr lang="en-US" sz="1200" b="1" i="0" kern="1200" dirty="0">
                <a:solidFill>
                  <a:schemeClr val="tx1"/>
                </a:solidFill>
                <a:effectLst/>
                <a:latin typeface="+mn-lt"/>
                <a:ea typeface="+mn-ea"/>
                <a:cs typeface="+mn-cs"/>
              </a:rPr>
              <a:t>How does an autonomous vehicle recognize that something unusual is happening on the road — without anyone ever labeling what "unusual" looks like?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That's the problem we tackle. Let's get into it.</a:t>
            </a:r>
          </a:p>
          <a:p>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1</a:t>
            </a:fld>
            <a:endParaRPr lang="en-US"/>
          </a:p>
        </p:txBody>
      </p:sp>
    </p:spTree>
    <p:extLst>
      <p:ext uri="{BB962C8B-B14F-4D97-AF65-F5344CB8AC3E}">
        <p14:creationId xmlns:p14="http://schemas.microsoft.com/office/powerpoint/2010/main" val="490326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PAVEL: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kern="1200" dirty="0">
                <a:solidFill>
                  <a:schemeClr val="tx1"/>
                </a:solidFill>
                <a:effectLst/>
                <a:latin typeface="+mn-lt"/>
                <a:ea typeface="+mn-ea"/>
                <a:cs typeface="+mn-cs"/>
              </a:rPr>
              <a:t>Autonomous vehicles are getting very good at handling the everyday: steady highway cruising, predictable lane-following, routine intersections. But safety-critical incidents live in the </a:t>
            </a:r>
            <a:r>
              <a:rPr lang="en-US" sz="1200" b="1" i="0" kern="1200" dirty="0">
                <a:solidFill>
                  <a:schemeClr val="tx1"/>
                </a:solidFill>
                <a:effectLst/>
                <a:latin typeface="+mn-lt"/>
                <a:ea typeface="+mn-ea"/>
                <a:cs typeface="+mn-cs"/>
              </a:rPr>
              <a:t>long tail</a:t>
            </a:r>
            <a:r>
              <a:rPr lang="en-US" sz="1200" b="0" i="0" kern="1200" dirty="0">
                <a:solidFill>
                  <a:schemeClr val="tx1"/>
                </a:solidFill>
                <a:effectLst/>
                <a:latin typeface="+mn-lt"/>
                <a:ea typeface="+mn-ea"/>
                <a:cs typeface="+mn-cs"/>
              </a:rPr>
              <a:t> of driving distributions — sudden braking, aggressive lane changes, a pedestrian running into the street.</a:t>
            </a:r>
          </a:p>
          <a:p>
            <a:r>
              <a:rPr lang="en-US" sz="1200" b="0" i="0" kern="1200" dirty="0">
                <a:solidFill>
                  <a:schemeClr val="tx1"/>
                </a:solidFill>
                <a:effectLst/>
                <a:latin typeface="+mn-lt"/>
                <a:ea typeface="+mn-ea"/>
                <a:cs typeface="+mn-cs"/>
              </a:rPr>
              <a:t>The challenge is that these events are rare by definition, so </a:t>
            </a:r>
            <a:r>
              <a:rPr lang="en-US" sz="1200" b="1" i="0" kern="1200" dirty="0">
                <a:solidFill>
                  <a:schemeClr val="tx1"/>
                </a:solidFill>
                <a:effectLst/>
                <a:latin typeface="+mn-lt"/>
                <a:ea typeface="+mn-ea"/>
                <a:cs typeface="+mn-cs"/>
              </a:rPr>
              <a:t>labeled examples are scarce</a:t>
            </a:r>
            <a:r>
              <a:rPr lang="en-US" sz="1200" b="0" i="0" kern="1200" dirty="0">
                <a:solidFill>
                  <a:schemeClr val="tx1"/>
                </a:solidFill>
                <a:effectLst/>
                <a:latin typeface="+mn-lt"/>
                <a:ea typeface="+mn-ea"/>
                <a:cs typeface="+mn-cs"/>
              </a:rPr>
              <a:t>. You can't train a supervised classifier without labels. And the definition of "dangerous" is subjective — a 30 km/h speed is fine on a highway, alarming in a crosswalk.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exactly where </a:t>
            </a:r>
            <a:r>
              <a:rPr lang="en-US" sz="1200" b="1" i="0" kern="1200" dirty="0">
                <a:solidFill>
                  <a:schemeClr val="tx1"/>
                </a:solidFill>
                <a:effectLst/>
                <a:latin typeface="+mn-lt"/>
                <a:ea typeface="+mn-ea"/>
                <a:cs typeface="+mn-cs"/>
              </a:rPr>
              <a:t>unsupervised learning</a:t>
            </a:r>
            <a:r>
              <a:rPr lang="en-US" sz="1200" b="0" i="0" kern="1200" dirty="0">
                <a:solidFill>
                  <a:schemeClr val="tx1"/>
                </a:solidFill>
                <a:effectLst/>
                <a:latin typeface="+mn-lt"/>
                <a:ea typeface="+mn-ea"/>
                <a:cs typeface="+mn-cs"/>
              </a:rPr>
              <a:t> shines: we don't need labels. We let the data tell us what's normal, and then flag what falls outside that.</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2</a:t>
            </a:fld>
            <a:endParaRPr lang="en-US"/>
          </a:p>
        </p:txBody>
      </p:sp>
    </p:spTree>
    <p:extLst>
      <p:ext uri="{BB962C8B-B14F-4D97-AF65-F5344CB8AC3E}">
        <p14:creationId xmlns:p14="http://schemas.microsoft.com/office/powerpoint/2010/main" val="374375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PAVEL:</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had two concrete goals:</a:t>
            </a:r>
          </a:p>
          <a:p>
            <a:r>
              <a:rPr lang="en-US" sz="1200" b="0" i="0" kern="1200" dirty="0">
                <a:solidFill>
                  <a:schemeClr val="tx1"/>
                </a:solidFill>
                <a:effectLst/>
                <a:latin typeface="+mn-lt"/>
                <a:ea typeface="+mn-ea"/>
                <a:cs typeface="+mn-cs"/>
              </a:rPr>
              <a:t>Detect anomalous motion patterns from kinematic signals alone — no human annotation.</a:t>
            </a:r>
          </a:p>
          <a:p>
            <a:r>
              <a:rPr lang="en-US" sz="1200" b="0" i="0" kern="1200" dirty="0">
                <a:solidFill>
                  <a:schemeClr val="tx1"/>
                </a:solidFill>
                <a:effectLst/>
                <a:latin typeface="+mn-lt"/>
                <a:ea typeface="+mn-ea"/>
                <a:cs typeface="+mn-cs"/>
              </a:rPr>
              <a:t>Predict where an agent will be in 5 seconds using only its current kinematic state.</a:t>
            </a:r>
          </a:p>
          <a:p>
            <a:r>
              <a:rPr lang="en-US" sz="1200" b="0" i="0" kern="1200" dirty="0">
                <a:solidFill>
                  <a:schemeClr val="tx1"/>
                </a:solidFill>
                <a:effectLst/>
                <a:latin typeface="+mn-lt"/>
                <a:ea typeface="+mn-ea"/>
                <a:cs typeface="+mn-cs"/>
              </a:rPr>
              <a:t>Both are essential for an AV that needs to proactively plan around unexpected behavior.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3</a:t>
            </a:fld>
            <a:endParaRPr lang="en-US"/>
          </a:p>
        </p:txBody>
      </p:sp>
    </p:spTree>
    <p:extLst>
      <p:ext uri="{BB962C8B-B14F-4D97-AF65-F5344CB8AC3E}">
        <p14:creationId xmlns:p14="http://schemas.microsoft.com/office/powerpoint/2010/main" val="8832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3BA6-799C-731E-A259-2AB9FEB74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192FD-D26D-BA07-FC46-C4C0D3526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326B3-1493-C9B5-85AE-AF2D9FB43035}"/>
              </a:ext>
            </a:extLst>
          </p:cNvPr>
          <p:cNvSpPr>
            <a:spLocks noGrp="1"/>
          </p:cNvSpPr>
          <p:nvPr>
            <p:ph type="body" idx="1"/>
          </p:nvPr>
        </p:nvSpPr>
        <p:spPr/>
        <p:txBody>
          <a:bodyPr/>
          <a:lstStyle/>
          <a:p>
            <a:r>
              <a:rPr lang="en-US" b="1" dirty="0"/>
              <a:t>RAMSES:</a:t>
            </a:r>
            <a:br>
              <a:rPr lang="en-US" dirty="0"/>
            </a:br>
            <a:br>
              <a:rPr lang="en-US" dirty="0"/>
            </a:br>
            <a:r>
              <a:rPr lang="en-US" sz="1200" b="0" i="0" kern="1200" dirty="0">
                <a:solidFill>
                  <a:schemeClr val="tx1"/>
                </a:solidFill>
                <a:effectLst/>
                <a:latin typeface="+mn-lt"/>
                <a:ea typeface="+mn-ea"/>
                <a:cs typeface="+mn-cs"/>
              </a:rPr>
              <a:t>Let me quickly place this work in the literature — and get into some of the technical mechanics.</a:t>
            </a:r>
          </a:p>
          <a:p>
            <a:r>
              <a:rPr lang="en-US" sz="1200" b="0" i="0" kern="1200" dirty="0">
                <a:solidFill>
                  <a:schemeClr val="tx1"/>
                </a:solidFill>
                <a:effectLst/>
                <a:latin typeface="+mn-lt"/>
                <a:ea typeface="+mn-ea"/>
                <a:cs typeface="+mn-cs"/>
              </a:rPr>
              <a:t>Classical Kalman Filters model motion as a linear dynamical system — fast and interpretable, but they break down under nonlinear behavior. LSTMs and Transformer-based architectures handle sequences well and achieve state-of-the-art prediction accuracy, but they require large labeled datasets and produce black-box outputs.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anomaly detection side, two methods dominate: </a:t>
            </a:r>
            <a:r>
              <a:rPr lang="en-US" sz="1200" b="1" i="0" kern="1200" dirty="0">
                <a:solidFill>
                  <a:schemeClr val="tx1"/>
                </a:solidFill>
                <a:effectLst/>
                <a:latin typeface="+mn-lt"/>
                <a:ea typeface="+mn-ea"/>
                <a:cs typeface="+mn-cs"/>
              </a:rPr>
              <a:t>One-Class SVM</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Isolation Forest</a:t>
            </a:r>
            <a:r>
              <a:rPr lang="en-US" sz="1200" b="0" i="0" kern="1200" dirty="0">
                <a:solidFill>
                  <a:schemeClr val="tx1"/>
                </a:solidFill>
                <a:effectLst/>
                <a:latin typeface="+mn-lt"/>
                <a:ea typeface="+mn-ea"/>
                <a:cs typeface="+mn-cs"/>
              </a:rPr>
              <a:t>. OC-SVM maps data into a high-dimensional kernel space and finds the tightest boundary around the normal class — but it's sensitive to the choice of kernel and the nu hyperparameter, which controls the fraction of training points treated as outliers.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Isolation Forest</a:t>
            </a:r>
            <a:r>
              <a:rPr lang="en-US" sz="1200" b="0" i="0" kern="1200" dirty="0">
                <a:solidFill>
                  <a:schemeClr val="tx1"/>
                </a:solidFill>
                <a:effectLst/>
                <a:latin typeface="+mn-lt"/>
                <a:ea typeface="+mn-ea"/>
                <a:cs typeface="+mn-cs"/>
              </a:rPr>
              <a:t> works differently. It partitions the feature space by randomly selecting a feature and a split value at each node. The key insight is that anomalous points — being rare and extreme — require </a:t>
            </a:r>
            <a:r>
              <a:rPr lang="en-US" sz="1200" b="0" i="1" kern="1200" dirty="0">
                <a:solidFill>
                  <a:schemeClr val="tx1"/>
                </a:solidFill>
                <a:effectLst/>
                <a:latin typeface="+mn-lt"/>
                <a:ea typeface="+mn-ea"/>
                <a:cs typeface="+mn-cs"/>
              </a:rPr>
              <a:t>fewer</a:t>
            </a:r>
            <a:r>
              <a:rPr lang="en-US" sz="1200" b="0" i="0" kern="1200" dirty="0">
                <a:solidFill>
                  <a:schemeClr val="tx1"/>
                </a:solidFill>
                <a:effectLst/>
                <a:latin typeface="+mn-lt"/>
                <a:ea typeface="+mn-ea"/>
                <a:cs typeface="+mn-cs"/>
              </a:rPr>
              <a:t> splits to isolate. The anomaly score is derived from the average path length across all trees, normalized by the expected path length for a random point: s(</a:t>
            </a:r>
            <a:r>
              <a:rPr lang="en-US" sz="1200" b="0" i="0" kern="1200" dirty="0" err="1">
                <a:solidFill>
                  <a:schemeClr val="tx1"/>
                </a:solidFill>
                <a:effectLst/>
                <a:latin typeface="+mn-lt"/>
                <a:ea typeface="+mn-ea"/>
                <a:cs typeface="+mn-cs"/>
              </a:rPr>
              <a:t>x,n</a:t>
            </a:r>
            <a:r>
              <a:rPr lang="en-US" sz="1200" b="0" i="0" kern="1200" dirty="0">
                <a:solidFill>
                  <a:schemeClr val="tx1"/>
                </a:solidFill>
                <a:effectLst/>
                <a:latin typeface="+mn-lt"/>
                <a:ea typeface="+mn-ea"/>
                <a:cs typeface="+mn-cs"/>
              </a:rPr>
              <a:t>) = 2^(−E(h(x)) / c(n)). Scores near 1 signal anomalies; near 0.5 is indistinguishable from normal.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Prior work on the Waymo Open Motion Dataset has focused almost entirely on deep learning prediction pipelines. </a:t>
            </a:r>
            <a:r>
              <a:rPr lang="en-US" sz="1200" b="1" i="0" kern="1200" dirty="0">
                <a:solidFill>
                  <a:schemeClr val="tx1"/>
                </a:solidFill>
                <a:effectLst/>
                <a:latin typeface="+mn-lt"/>
                <a:ea typeface="+mn-ea"/>
                <a:cs typeface="+mn-cs"/>
              </a:rPr>
              <a:t>Classical statistical baselines applied to the full agent population have been largely ignored.</a:t>
            </a:r>
            <a:r>
              <a:rPr lang="en-US" sz="1200" b="0" i="0" kern="1200" dirty="0">
                <a:solidFill>
                  <a:schemeClr val="tx1"/>
                </a:solidFill>
                <a:effectLst/>
                <a:latin typeface="+mn-lt"/>
                <a:ea typeface="+mn-ea"/>
                <a:cs typeface="+mn-cs"/>
              </a:rPr>
              <a:t> That's the gap we fill.</a:t>
            </a:r>
          </a:p>
          <a:p>
            <a:endParaRPr lang="en-US" dirty="0"/>
          </a:p>
        </p:txBody>
      </p:sp>
      <p:sp>
        <p:nvSpPr>
          <p:cNvPr id="4" name="Slide Number Placeholder 3">
            <a:extLst>
              <a:ext uri="{FF2B5EF4-FFF2-40B4-BE49-F238E27FC236}">
                <a16:creationId xmlns:a16="http://schemas.microsoft.com/office/drawing/2014/main" id="{D5FE157B-A1DC-1D23-F336-5D207EB556BF}"/>
              </a:ext>
            </a:extLst>
          </p:cNvPr>
          <p:cNvSpPr>
            <a:spLocks noGrp="1"/>
          </p:cNvSpPr>
          <p:nvPr>
            <p:ph type="sldNum" sz="quarter" idx="5"/>
          </p:nvPr>
        </p:nvSpPr>
        <p:spPr/>
        <p:txBody>
          <a:bodyPr/>
          <a:lstStyle/>
          <a:p>
            <a:fld id="{B3F43537-14D9-9349-AA70-B1088F1298F1}" type="slidenum">
              <a:rPr lang="en-US" smtClean="0"/>
              <a:t>4</a:t>
            </a:fld>
            <a:endParaRPr lang="en-US"/>
          </a:p>
        </p:txBody>
      </p:sp>
    </p:spTree>
    <p:extLst>
      <p:ext uri="{BB962C8B-B14F-4D97-AF65-F5344CB8AC3E}">
        <p14:creationId xmlns:p14="http://schemas.microsoft.com/office/powerpoint/2010/main" val="3608952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D3C5-3FEB-3A4F-47FB-AE6278508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2FA19-FDDE-6941-34C7-7A5313F9F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1B0FE-524B-62AB-F469-BCFF9F39A3FF}"/>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PAVEL: </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work with the </a:t>
            </a:r>
            <a:r>
              <a:rPr lang="en-US" sz="1200" b="1" i="0" kern="1200" dirty="0">
                <a:solidFill>
                  <a:schemeClr val="tx1"/>
                </a:solidFill>
                <a:effectLst/>
                <a:latin typeface="+mn-lt"/>
                <a:ea typeface="+mn-ea"/>
                <a:cs typeface="+mn-cs"/>
              </a:rPr>
              <a:t>Waymo Open Motion Dataset v1.3.1</a:t>
            </a:r>
            <a:r>
              <a:rPr lang="en-US" sz="1200" b="0" i="0" kern="1200" dirty="0">
                <a:solidFill>
                  <a:schemeClr val="tx1"/>
                </a:solidFill>
                <a:effectLst/>
                <a:latin typeface="+mn-lt"/>
                <a:ea typeface="+mn-ea"/>
                <a:cs typeface="+mn-cs"/>
              </a:rPr>
              <a:t> — one of the largest real-world AV datasets available publicly. It provides 20 Hz object tracks over 20-second urban driving segments, with rich metadata: agent type (vehicle, pedestrian, cyclist), bounding boxes, interaction flags, and traffic signals.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Our pipeline has two stages. First, Python running in Google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pulls raw </a:t>
            </a:r>
            <a:r>
              <a:rPr lang="en-US" sz="1200" b="0" i="0" kern="1200" dirty="0" err="1">
                <a:solidFill>
                  <a:schemeClr val="tx1"/>
                </a:solidFill>
                <a:effectLst/>
                <a:latin typeface="+mn-lt"/>
                <a:ea typeface="+mn-ea"/>
                <a:cs typeface="+mn-cs"/>
              </a:rPr>
              <a:t>TFRecord</a:t>
            </a:r>
            <a:r>
              <a:rPr lang="en-US" sz="1200" b="0" i="0" kern="1200" dirty="0">
                <a:solidFill>
                  <a:schemeClr val="tx1"/>
                </a:solidFill>
                <a:effectLst/>
                <a:latin typeface="+mn-lt"/>
                <a:ea typeface="+mn-ea"/>
                <a:cs typeface="+mn-cs"/>
              </a:rPr>
              <a:t> shards from Waymo's Google Cloud Storage bucket and extracts a tabular feature set for over </a:t>
            </a:r>
            <a:r>
              <a:rPr lang="en-US" sz="1200" b="1" i="0" kern="1200" dirty="0">
                <a:solidFill>
                  <a:schemeClr val="tx1"/>
                </a:solidFill>
                <a:effectLst/>
                <a:latin typeface="+mn-lt"/>
                <a:ea typeface="+mn-ea"/>
                <a:cs typeface="+mn-cs"/>
              </a:rPr>
              <a:t>18,000 agents</a:t>
            </a:r>
            <a:r>
              <a:rPr lang="en-US" sz="1200" b="0" i="0" kern="1200" dirty="0">
                <a:solidFill>
                  <a:schemeClr val="tx1"/>
                </a:solidFill>
                <a:effectLst/>
                <a:latin typeface="+mn-lt"/>
                <a:ea typeface="+mn-ea"/>
                <a:cs typeface="+mn-cs"/>
              </a:rPr>
              <a:t> across hundreds of scenarios. We extract the kinematic state at the prediction moment: speed, acceleration, yaw rate, velocity components, and the future 5-second displacement.</a:t>
            </a:r>
          </a:p>
          <a:p>
            <a:r>
              <a:rPr lang="en-US" sz="1200" b="0" i="0" kern="1200" dirty="0">
                <a:solidFill>
                  <a:schemeClr val="tx1"/>
                </a:solidFill>
                <a:effectLst/>
                <a:latin typeface="+mn-lt"/>
                <a:ea typeface="+mn-ea"/>
                <a:cs typeface="+mn-cs"/>
              </a:rPr>
              <a:t>That CSV then flows into R, where all statistical modeling happens.</a:t>
            </a:r>
          </a:p>
        </p:txBody>
      </p:sp>
      <p:sp>
        <p:nvSpPr>
          <p:cNvPr id="4" name="Slide Number Placeholder 3">
            <a:extLst>
              <a:ext uri="{FF2B5EF4-FFF2-40B4-BE49-F238E27FC236}">
                <a16:creationId xmlns:a16="http://schemas.microsoft.com/office/drawing/2014/main" id="{1F8B9A26-5242-35EF-0A62-D2FFEE71044A}"/>
              </a:ext>
            </a:extLst>
          </p:cNvPr>
          <p:cNvSpPr>
            <a:spLocks noGrp="1"/>
          </p:cNvSpPr>
          <p:nvPr>
            <p:ph type="sldNum" sz="quarter" idx="5"/>
          </p:nvPr>
        </p:nvSpPr>
        <p:spPr/>
        <p:txBody>
          <a:bodyPr/>
          <a:lstStyle/>
          <a:p>
            <a:fld id="{B3F43537-14D9-9349-AA70-B1088F1298F1}" type="slidenum">
              <a:rPr lang="en-US" smtClean="0"/>
              <a:t>5</a:t>
            </a:fld>
            <a:endParaRPr lang="en-US"/>
          </a:p>
        </p:txBody>
      </p:sp>
    </p:spTree>
    <p:extLst>
      <p:ext uri="{BB962C8B-B14F-4D97-AF65-F5344CB8AC3E}">
        <p14:creationId xmlns:p14="http://schemas.microsoft.com/office/powerpoint/2010/main" val="97476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9AC3-393A-5A2D-1973-BF3DCE1FD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20D3D-0E43-090B-FAE3-D108BC034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87135-0BCC-C812-6A52-B3B04D5853C4}"/>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PAVEL:</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two analyses use different preprocessing. For anomaly detection, we apply the strictest filter: valid sensor frames only, stationary agents removed, and complete cases across all kinematic and geometric features — leaving </a:t>
            </a:r>
            <a:r>
              <a:rPr lang="en-US" sz="1200" b="1" i="0" kern="1200" dirty="0">
                <a:solidFill>
                  <a:schemeClr val="tx1"/>
                </a:solidFill>
                <a:effectLst/>
                <a:latin typeface="+mn-lt"/>
                <a:ea typeface="+mn-ea"/>
                <a:cs typeface="+mn-cs"/>
              </a:rPr>
              <a:t>4,538 moving agents</a:t>
            </a:r>
            <a:r>
              <a:rPr lang="en-US" sz="1200" b="0" i="0" kern="1200" dirty="0">
                <a:solidFill>
                  <a:schemeClr val="tx1"/>
                </a:solidFill>
                <a:effectLst/>
                <a:latin typeface="+mn-lt"/>
                <a:ea typeface="+mn-ea"/>
                <a:cs typeface="+mn-cs"/>
              </a:rPr>
              <a:t>. For regression, the goal is different — we actually want to compare behavior with and without stationary agents — so we start from a more permissive filter: NA removal only, no speed cutoff. That gives us </a:t>
            </a:r>
            <a:r>
              <a:rPr lang="en-US" sz="1200" b="1" i="0" kern="1200" dirty="0">
                <a:solidFill>
                  <a:schemeClr val="tx1"/>
                </a:solidFill>
                <a:effectLst/>
                <a:latin typeface="+mn-lt"/>
                <a:ea typeface="+mn-ea"/>
                <a:cs typeface="+mn-cs"/>
              </a:rPr>
              <a:t>6,614 agents</a:t>
            </a:r>
            <a:r>
              <a:rPr lang="en-US" sz="1200" b="0" i="0" kern="1200" dirty="0">
                <a:solidFill>
                  <a:schemeClr val="tx1"/>
                </a:solidFill>
                <a:effectLst/>
                <a:latin typeface="+mn-lt"/>
                <a:ea typeface="+mn-ea"/>
                <a:cs typeface="+mn-cs"/>
              </a:rPr>
              <a:t> including stationary ones, which we then split into two conditions for the comparison.</a:t>
            </a: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167D6A2-A29A-65B1-E032-EB76B41CF4BD}"/>
              </a:ext>
            </a:extLst>
          </p:cNvPr>
          <p:cNvSpPr>
            <a:spLocks noGrp="1"/>
          </p:cNvSpPr>
          <p:nvPr>
            <p:ph type="sldNum" sz="quarter" idx="5"/>
          </p:nvPr>
        </p:nvSpPr>
        <p:spPr/>
        <p:txBody>
          <a:bodyPr/>
          <a:lstStyle/>
          <a:p>
            <a:fld id="{B3F43537-14D9-9349-AA70-B1088F1298F1}" type="slidenum">
              <a:rPr lang="en-US" smtClean="0"/>
              <a:t>6</a:t>
            </a:fld>
            <a:endParaRPr lang="en-US"/>
          </a:p>
        </p:txBody>
      </p:sp>
    </p:spTree>
    <p:extLst>
      <p:ext uri="{BB962C8B-B14F-4D97-AF65-F5344CB8AC3E}">
        <p14:creationId xmlns:p14="http://schemas.microsoft.com/office/powerpoint/2010/main" val="1336631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67FE-FC07-046B-D411-11854A122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52853-3AB6-9C9D-16AF-B6706B83B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2628F-3F1B-9BED-6991-834FD35D8ACB}"/>
              </a:ext>
            </a:extLst>
          </p:cNvPr>
          <p:cNvSpPr>
            <a:spLocks noGrp="1"/>
          </p:cNvSpPr>
          <p:nvPr>
            <p:ph type="body" idx="1"/>
          </p:nvPr>
        </p:nvSpPr>
        <p:spPr/>
        <p:txBody>
          <a:bodyPr/>
          <a:lstStyle/>
          <a:p>
            <a:r>
              <a:rPr lang="en-US" sz="1200" b="1" dirty="0">
                <a:latin typeface="GT Walsheim Trial Th" pitchFamily="2" charset="77"/>
              </a:rPr>
              <a:t>JUSTIN:</a:t>
            </a:r>
            <a:br>
              <a:rPr lang="en-US" sz="1200" b="1" dirty="0">
                <a:latin typeface="GT Walsheim Trial Th" pitchFamily="2" charset="77"/>
              </a:rPr>
            </a:br>
            <a:br>
              <a:rPr lang="en-US" sz="1200" b="1" dirty="0">
                <a:latin typeface="GT Walsheim Trial Th" pitchFamily="2" charset="77"/>
              </a:rPr>
            </a:br>
            <a:r>
              <a:rPr lang="en-US" sz="1200" b="0" i="0" kern="1200" dirty="0">
                <a:solidFill>
                  <a:schemeClr val="tx1"/>
                </a:solidFill>
                <a:effectLst/>
                <a:latin typeface="+mn-lt"/>
                <a:ea typeface="+mn-ea"/>
                <a:cs typeface="+mn-cs"/>
              </a:rPr>
              <a:t>Before diving into the models, let me give you a sense of what this data actually looks like.</a:t>
            </a:r>
          </a:p>
          <a:p>
            <a:r>
              <a:rPr lang="en-US" sz="1200" b="0" i="0" kern="1200" dirty="0">
                <a:solidFill>
                  <a:schemeClr val="tx1"/>
                </a:solidFill>
                <a:effectLst/>
                <a:latin typeface="+mn-lt"/>
                <a:ea typeface="+mn-ea"/>
                <a:cs typeface="+mn-cs"/>
              </a:rPr>
              <a:t>We extracted from </a:t>
            </a:r>
            <a:r>
              <a:rPr lang="en-US" sz="1200" b="1" i="0" kern="1200" dirty="0">
                <a:solidFill>
                  <a:schemeClr val="tx1"/>
                </a:solidFill>
                <a:effectLst/>
                <a:latin typeface="+mn-lt"/>
                <a:ea typeface="+mn-ea"/>
                <a:cs typeface="+mn-cs"/>
              </a:rPr>
              <a:t>300 scenarios</a:t>
            </a:r>
            <a:r>
              <a:rPr lang="en-US" sz="1200" b="0" i="0" kern="1200" dirty="0">
                <a:solidFill>
                  <a:schemeClr val="tx1"/>
                </a:solidFill>
                <a:effectLst/>
                <a:latin typeface="+mn-lt"/>
                <a:ea typeface="+mn-ea"/>
                <a:cs typeface="+mn-cs"/>
              </a:rPr>
              <a:t> from the validation split of the Waymo Open Motion Dataset — specifically shard 00000-of-00150. That gives us </a:t>
            </a:r>
            <a:r>
              <a:rPr lang="en-US" sz="1200" b="1" i="0" kern="1200" dirty="0">
                <a:solidFill>
                  <a:schemeClr val="tx1"/>
                </a:solidFill>
                <a:effectLst/>
                <a:latin typeface="+mn-lt"/>
                <a:ea typeface="+mn-ea"/>
                <a:cs typeface="+mn-cs"/>
              </a:rPr>
              <a:t>18,311 raw agent observations</a:t>
            </a:r>
            <a:r>
              <a:rPr lang="en-US" sz="1200" b="0" i="0" kern="1200" dirty="0">
                <a:solidFill>
                  <a:schemeClr val="tx1"/>
                </a:solidFill>
                <a:effectLst/>
                <a:latin typeface="+mn-lt"/>
                <a:ea typeface="+mn-ea"/>
                <a:cs typeface="+mn-cs"/>
              </a:rPr>
              <a:t> across vehicles, pedestrians, cyclists, and the Waymo self-driving car itself, which we exclude from all analysis.</a:t>
            </a:r>
          </a:p>
          <a:p>
            <a:r>
              <a:rPr lang="en-US" sz="1200" b="0" i="0" kern="1200" dirty="0">
                <a:solidFill>
                  <a:schemeClr val="tx1"/>
                </a:solidFill>
                <a:effectLst/>
                <a:latin typeface="+mn-lt"/>
                <a:ea typeface="+mn-ea"/>
                <a:cs typeface="+mn-cs"/>
              </a:rPr>
              <a:t>In terms of composition: vehicles make up the clear majority of the dataset, pedestrians account for roughly 25%, and cyclists around 5%. This imbalance matters because it affects both the anomaly detection and how we interpret per-class statistics.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few things worth noting about the raw data before any filtering. When you look at mean speeds including stationary agents, vehicles actually appear slower than cyclists — counterintuitive, and it's entirely because a large fraction of vehicles are stopped at intersections. The moment you filter to moving agents only, the expected ordering returns: vehicles fastest, then cyclists, then pedestrians.</a:t>
            </a:r>
          </a:p>
          <a:p>
            <a:r>
              <a:rPr lang="en-US" sz="1200" b="0" i="0" kern="1200" dirty="0">
                <a:solidFill>
                  <a:schemeClr val="tx1"/>
                </a:solidFill>
                <a:effectLst/>
                <a:latin typeface="+mn-lt"/>
                <a:ea typeface="+mn-ea"/>
                <a:cs typeface="+mn-cs"/>
              </a:rPr>
              <a:t>Waymo also provides behavioral flags: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marks agents relevant to the AV's immediate planning — typically nearby vehicles in adjacent lanes or at intersections. </a:t>
            </a:r>
            <a:r>
              <a:rPr lang="en-US" sz="1200" b="0" i="0" kern="1200" dirty="0" err="1">
                <a:solidFill>
                  <a:schemeClr val="tx1"/>
                </a:solidFill>
                <a:effectLst/>
                <a:latin typeface="+mn-lt"/>
                <a:ea typeface="+mn-ea"/>
                <a:cs typeface="+mn-cs"/>
              </a:rPr>
              <a:t>IsSDC</a:t>
            </a:r>
            <a:r>
              <a:rPr lang="en-US" sz="1200" b="0" i="0" kern="1200" dirty="0">
                <a:solidFill>
                  <a:schemeClr val="tx1"/>
                </a:solidFill>
                <a:effectLst/>
                <a:latin typeface="+mn-lt"/>
                <a:ea typeface="+mn-ea"/>
                <a:cs typeface="+mn-cs"/>
              </a:rPr>
              <a:t> identifies the self-driving car itself. These flags are not safety-incident labels — they're proximity-based planning annotations — and that distinction will matter when we interpret the anomaly results.</a:t>
            </a:r>
          </a:p>
          <a:p>
            <a:endParaRPr lang="en-US" b="1" dirty="0"/>
          </a:p>
        </p:txBody>
      </p:sp>
      <p:sp>
        <p:nvSpPr>
          <p:cNvPr id="4" name="Slide Number Placeholder 3">
            <a:extLst>
              <a:ext uri="{FF2B5EF4-FFF2-40B4-BE49-F238E27FC236}">
                <a16:creationId xmlns:a16="http://schemas.microsoft.com/office/drawing/2014/main" id="{858B9044-01F3-7D9D-2FBA-CE7EF15B93B8}"/>
              </a:ext>
            </a:extLst>
          </p:cNvPr>
          <p:cNvSpPr>
            <a:spLocks noGrp="1"/>
          </p:cNvSpPr>
          <p:nvPr>
            <p:ph type="sldNum" sz="quarter" idx="5"/>
          </p:nvPr>
        </p:nvSpPr>
        <p:spPr/>
        <p:txBody>
          <a:bodyPr/>
          <a:lstStyle/>
          <a:p>
            <a:fld id="{B3F43537-14D9-9349-AA70-B1088F1298F1}" type="slidenum">
              <a:rPr lang="en-US" smtClean="0"/>
              <a:t>7</a:t>
            </a:fld>
            <a:endParaRPr lang="en-US"/>
          </a:p>
        </p:txBody>
      </p:sp>
    </p:spTree>
    <p:extLst>
      <p:ext uri="{BB962C8B-B14F-4D97-AF65-F5344CB8AC3E}">
        <p14:creationId xmlns:p14="http://schemas.microsoft.com/office/powerpoint/2010/main" val="4041322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E5FB-F86F-92BB-7197-19F9D1B8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3747C-ED42-C0F7-C90C-5EF9DDE2A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A28B6-D5BC-6ACB-74A7-4FC545E777D0}"/>
              </a:ext>
            </a:extLst>
          </p:cNvPr>
          <p:cNvSpPr>
            <a:spLocks noGrp="1"/>
          </p:cNvSpPr>
          <p:nvPr>
            <p:ph type="body" idx="1"/>
          </p:nvPr>
        </p:nvSpPr>
        <p:spPr/>
        <p:txBody>
          <a:bodyPr/>
          <a:lstStyle/>
          <a:p>
            <a:r>
              <a:rPr lang="en-US" sz="1200" b="1" dirty="0">
                <a:latin typeface="GT Walsheim Trial Th" pitchFamily="2" charset="77"/>
              </a:rPr>
              <a:t>RAMSES:</a:t>
            </a:r>
          </a:p>
          <a:p>
            <a:endParaRPr lang="en-US" sz="1200" b="1" dirty="0">
              <a:latin typeface="GT Walsheim Trial Th" pitchFamily="2" charset="77"/>
            </a:endParaRPr>
          </a:p>
          <a:p>
            <a:r>
              <a:rPr lang="en-US" sz="1200" b="0" i="0" kern="1200" dirty="0">
                <a:solidFill>
                  <a:schemeClr val="tx1"/>
                </a:solidFill>
                <a:effectLst/>
                <a:latin typeface="+mn-lt"/>
                <a:ea typeface="+mn-ea"/>
                <a:cs typeface="+mn-cs"/>
              </a:rPr>
              <a:t>Our anomaly detection pipeline has three layers.</a:t>
            </a:r>
          </a:p>
          <a:p>
            <a:r>
              <a:rPr lang="en-US" sz="1200" b="0" i="0" kern="1200" dirty="0">
                <a:solidFill>
                  <a:schemeClr val="tx1"/>
                </a:solidFill>
                <a:effectLst/>
                <a:latin typeface="+mn-lt"/>
                <a:ea typeface="+mn-ea"/>
                <a:cs typeface="+mn-cs"/>
              </a:rPr>
              <a:t>A word first on feature selection, motivated by the correlation analysis. Yaw rate is uncorrelated with every other kinematic feature — |r| ≤ 0.09 across the board. That independence is exactly what makes it a strong discriminating signal: it carries information the other features don't.</a:t>
            </a:r>
          </a:p>
          <a:p>
            <a:r>
              <a:rPr lang="en-US" sz="1200" b="1" i="0" kern="1200" dirty="0">
                <a:solidFill>
                  <a:schemeClr val="tx1"/>
                </a:solidFill>
                <a:effectLst/>
                <a:latin typeface="+mn-lt"/>
                <a:ea typeface="+mn-ea"/>
                <a:cs typeface="+mn-cs"/>
              </a:rPr>
              <a:t>Layer 1: Isolation Forest.</a:t>
            </a:r>
            <a:r>
              <a:rPr lang="en-US" sz="1200" b="0" i="0" kern="1200" dirty="0">
                <a:solidFill>
                  <a:schemeClr val="tx1"/>
                </a:solidFill>
                <a:effectLst/>
                <a:latin typeface="+mn-lt"/>
                <a:ea typeface="+mn-ea"/>
                <a:cs typeface="+mn-cs"/>
              </a:rPr>
              <a:t> We fit 100 trees on Speed, Acceleration, and </a:t>
            </a:r>
            <a:r>
              <a:rPr lang="en-US" sz="1200" b="0" i="0" kern="1200" dirty="0" err="1">
                <a:solidFill>
                  <a:schemeClr val="tx1"/>
                </a:solidFill>
                <a:effectLst/>
                <a:latin typeface="+mn-lt"/>
                <a:ea typeface="+mn-ea"/>
                <a:cs typeface="+mn-cs"/>
              </a:rPr>
              <a:t>YawRate</a:t>
            </a:r>
            <a:r>
              <a:rPr lang="en-US" sz="1200" b="0" i="0" kern="1200" dirty="0">
                <a:solidFill>
                  <a:schemeClr val="tx1"/>
                </a:solidFill>
                <a:effectLst/>
                <a:latin typeface="+mn-lt"/>
                <a:ea typeface="+mn-ea"/>
                <a:cs typeface="+mn-cs"/>
              </a:rPr>
              <a:t>. Each agent receives an anomaly score between 0 and 1. We threshold at the 99th percentile — flagging </a:t>
            </a:r>
            <a:r>
              <a:rPr lang="en-US" sz="1200" b="1" i="0" kern="1200" dirty="0">
                <a:solidFill>
                  <a:schemeClr val="tx1"/>
                </a:solidFill>
                <a:effectLst/>
                <a:latin typeface="+mn-lt"/>
                <a:ea typeface="+mn-ea"/>
                <a:cs typeface="+mn-cs"/>
              </a:rPr>
              <a:t>46 agents</a:t>
            </a:r>
            <a:r>
              <a:rPr lang="en-US" sz="1200" b="0" i="0" kern="1200" dirty="0">
                <a:solidFill>
                  <a:schemeClr val="tx1"/>
                </a:solidFill>
                <a:effectLst/>
                <a:latin typeface="+mn-lt"/>
                <a:ea typeface="+mn-ea"/>
                <a:cs typeface="+mn-cs"/>
              </a:rPr>
              <a:t> out of 4,538 as anomalous.</a:t>
            </a:r>
          </a:p>
          <a:p>
            <a:r>
              <a:rPr lang="en-US" sz="1200" b="1" i="0" kern="1200" dirty="0">
                <a:solidFill>
                  <a:schemeClr val="tx1"/>
                </a:solidFill>
                <a:effectLst/>
                <a:latin typeface="+mn-lt"/>
                <a:ea typeface="+mn-ea"/>
                <a:cs typeface="+mn-cs"/>
              </a:rPr>
              <a:t>Layer 2: Statistical Validation.</a:t>
            </a:r>
            <a:r>
              <a:rPr lang="en-US" sz="1200" b="0" i="0" kern="1200" dirty="0">
                <a:solidFill>
                  <a:schemeClr val="tx1"/>
                </a:solidFill>
                <a:effectLst/>
                <a:latin typeface="+mn-lt"/>
                <a:ea typeface="+mn-ea"/>
                <a:cs typeface="+mn-cs"/>
              </a:rPr>
              <a:t> We build a contingency table of agent type versus anomaly status and run </a:t>
            </a:r>
            <a:r>
              <a:rPr lang="en-US" sz="1200" b="1" i="0" kern="1200" dirty="0">
                <a:solidFill>
                  <a:schemeClr val="tx1"/>
                </a:solidFill>
                <a:effectLst/>
                <a:latin typeface="+mn-lt"/>
                <a:ea typeface="+mn-ea"/>
                <a:cs typeface="+mn-cs"/>
              </a:rPr>
              <a:t>Fisher's Exact Test</a:t>
            </a:r>
            <a:r>
              <a:rPr lang="en-US" sz="1200" b="0" i="0" kern="1200" dirty="0">
                <a:solidFill>
                  <a:schemeClr val="tx1"/>
                </a:solidFill>
                <a:effectLst/>
                <a:latin typeface="+mn-lt"/>
                <a:ea typeface="+mn-ea"/>
                <a:cs typeface="+mn-cs"/>
              </a:rPr>
              <a:t> with Monte Carlo simulation. Result: </a:t>
            </a:r>
            <a:r>
              <a:rPr lang="en-US" sz="1200" b="1" i="0" kern="1200" dirty="0">
                <a:solidFill>
                  <a:schemeClr val="tx1"/>
                </a:solidFill>
                <a:effectLst/>
                <a:latin typeface="+mn-lt"/>
                <a:ea typeface="+mn-ea"/>
                <a:cs typeface="+mn-cs"/>
              </a:rPr>
              <a:t>p = 0.0005</a:t>
            </a:r>
            <a:r>
              <a:rPr lang="en-US" sz="1200" b="0" i="0" kern="1200" dirty="0">
                <a:solidFill>
                  <a:schemeClr val="tx1"/>
                </a:solidFill>
                <a:effectLst/>
                <a:latin typeface="+mn-lt"/>
                <a:ea typeface="+mn-ea"/>
                <a:cs typeface="+mn-cs"/>
              </a:rPr>
              <a:t>. The anomalies are not uniformly distributed — certain agent types are disproportionately flagged. That's signal, not noise.</a:t>
            </a:r>
          </a:p>
          <a:p>
            <a:r>
              <a:rPr lang="en-US" sz="1200" b="1" i="0" kern="1200" dirty="0">
                <a:solidFill>
                  <a:schemeClr val="tx1"/>
                </a:solidFill>
                <a:effectLst/>
                <a:latin typeface="+mn-lt"/>
                <a:ea typeface="+mn-ea"/>
                <a:cs typeface="+mn-cs"/>
              </a:rPr>
              <a:t>Layer 3: Supervised Characterization.</a:t>
            </a:r>
            <a:r>
              <a:rPr lang="en-US" sz="1200" b="0" i="0" kern="1200" dirty="0">
                <a:solidFill>
                  <a:schemeClr val="tx1"/>
                </a:solidFill>
                <a:effectLst/>
                <a:latin typeface="+mn-lt"/>
                <a:ea typeface="+mn-ea"/>
                <a:cs typeface="+mn-cs"/>
              </a:rPr>
              <a:t> We use those Isolation Forest flags as pseudo-labels to train a </a:t>
            </a:r>
            <a:r>
              <a:rPr lang="en-US" sz="1200" b="1" i="0" kern="1200" dirty="0">
                <a:solidFill>
                  <a:schemeClr val="tx1"/>
                </a:solidFill>
                <a:effectLst/>
                <a:latin typeface="+mn-lt"/>
                <a:ea typeface="+mn-ea"/>
                <a:cs typeface="+mn-cs"/>
              </a:rPr>
              <a:t>Random Forest classifier</a:t>
            </a:r>
            <a:r>
              <a:rPr lang="en-US" sz="1200" b="0" i="0" kern="1200" dirty="0">
                <a:solidFill>
                  <a:schemeClr val="tx1"/>
                </a:solidFill>
                <a:effectLst/>
                <a:latin typeface="+mn-lt"/>
                <a:ea typeface="+mn-ea"/>
                <a:cs typeface="+mn-cs"/>
              </a:rPr>
              <a:t>. Features: bounding box dimensions and yaw rate. Because the class ratio is 99:1, we apply </a:t>
            </a:r>
            <a:r>
              <a:rPr lang="en-US" sz="1200" b="0" i="0" kern="1200" dirty="0" err="1">
                <a:solidFill>
                  <a:schemeClr val="tx1"/>
                </a:solidFill>
                <a:effectLst/>
                <a:latin typeface="+mn-lt"/>
                <a:ea typeface="+mn-ea"/>
                <a:cs typeface="+mn-cs"/>
              </a:rPr>
              <a:t>downsampling</a:t>
            </a:r>
            <a:r>
              <a:rPr lang="en-US" sz="1200" b="0" i="0" kern="1200" dirty="0">
                <a:solidFill>
                  <a:schemeClr val="tx1"/>
                </a:solidFill>
                <a:effectLst/>
                <a:latin typeface="+mn-lt"/>
                <a:ea typeface="+mn-ea"/>
                <a:cs typeface="+mn-cs"/>
              </a:rPr>
              <a:t> and evaluate by AUC-ROC under 5-fold cross-validation.</a:t>
            </a:r>
          </a:p>
          <a:p>
            <a:br>
              <a:rPr lang="en-US" dirty="0"/>
            </a:br>
            <a:endParaRPr lang="en-US" b="1" dirty="0"/>
          </a:p>
        </p:txBody>
      </p:sp>
      <p:sp>
        <p:nvSpPr>
          <p:cNvPr id="4" name="Slide Number Placeholder 3">
            <a:extLst>
              <a:ext uri="{FF2B5EF4-FFF2-40B4-BE49-F238E27FC236}">
                <a16:creationId xmlns:a16="http://schemas.microsoft.com/office/drawing/2014/main" id="{089D28EE-E95F-7F62-B8CA-D7F9118AFDDD}"/>
              </a:ext>
            </a:extLst>
          </p:cNvPr>
          <p:cNvSpPr>
            <a:spLocks noGrp="1"/>
          </p:cNvSpPr>
          <p:nvPr>
            <p:ph type="sldNum" sz="quarter" idx="5"/>
          </p:nvPr>
        </p:nvSpPr>
        <p:spPr/>
        <p:txBody>
          <a:bodyPr/>
          <a:lstStyle/>
          <a:p>
            <a:fld id="{B3F43537-14D9-9349-AA70-B1088F1298F1}" type="slidenum">
              <a:rPr lang="en-US" smtClean="0"/>
              <a:t>8</a:t>
            </a:fld>
            <a:endParaRPr lang="en-US"/>
          </a:p>
        </p:txBody>
      </p:sp>
    </p:spTree>
    <p:extLst>
      <p:ext uri="{BB962C8B-B14F-4D97-AF65-F5344CB8AC3E}">
        <p14:creationId xmlns:p14="http://schemas.microsoft.com/office/powerpoint/2010/main" val="3701943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29456-C286-4321-7859-378BCA9E0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96865-A89D-917A-A07B-28DF55B8A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37BE1-4981-EB9C-876B-086A2D65DF0D}"/>
              </a:ext>
            </a:extLst>
          </p:cNvPr>
          <p:cNvSpPr>
            <a:spLocks noGrp="1"/>
          </p:cNvSpPr>
          <p:nvPr>
            <p:ph type="body" idx="1"/>
          </p:nvPr>
        </p:nvSpPr>
        <p:spPr/>
        <p:txBody>
          <a:bodyPr/>
          <a:lstStyle/>
          <a:p>
            <a:r>
              <a:rPr lang="en-US" b="1" dirty="0"/>
              <a:t>JUSTIN:</a:t>
            </a:r>
            <a:br>
              <a:rPr lang="en-US" dirty="0"/>
            </a:br>
            <a:br>
              <a:rPr lang="en-US" dirty="0"/>
            </a:br>
            <a:r>
              <a:rPr lang="en-US" sz="1200" b="0" i="0" kern="1200" dirty="0">
                <a:solidFill>
                  <a:schemeClr val="tx1"/>
                </a:solidFill>
                <a:effectLst/>
                <a:latin typeface="+mn-lt"/>
                <a:ea typeface="+mn-ea"/>
                <a:cs typeface="+mn-cs"/>
              </a:rPr>
              <a:t>For motion forecasting we use a linear regression model predicting </a:t>
            </a:r>
            <a:r>
              <a:rPr lang="en-US" sz="1200" b="1" i="0" kern="1200" dirty="0">
                <a:solidFill>
                  <a:schemeClr val="tx1"/>
                </a:solidFill>
                <a:effectLst/>
                <a:latin typeface="+mn-lt"/>
                <a:ea typeface="+mn-ea"/>
                <a:cs typeface="+mn-cs"/>
              </a:rPr>
              <a:t>5-second future displacement</a:t>
            </a:r>
            <a:r>
              <a:rPr lang="en-US" sz="1200" b="0" i="0" kern="1200" dirty="0">
                <a:solidFill>
                  <a:schemeClr val="tx1"/>
                </a:solidFill>
                <a:effectLst/>
                <a:latin typeface="+mn-lt"/>
                <a:ea typeface="+mn-ea"/>
                <a:cs typeface="+mn-cs"/>
              </a:rPr>
              <a:t> from the full kinematic state: speed, acceleration, yaw rate, and the signed velocity components Vx and Vy.</a:t>
            </a:r>
          </a:p>
          <a:p>
            <a:r>
              <a:rPr lang="en-US" sz="1200" b="0" i="0" kern="1200" dirty="0">
                <a:solidFill>
                  <a:schemeClr val="tx1"/>
                </a:solidFill>
                <a:effectLst/>
                <a:latin typeface="+mn-lt"/>
                <a:ea typeface="+mn-ea"/>
                <a:cs typeface="+mn-cs"/>
              </a:rPr>
              <a:t>We evaluate under </a:t>
            </a:r>
            <a:r>
              <a:rPr lang="en-US" sz="1200" b="1" i="0" kern="1200" dirty="0">
                <a:solidFill>
                  <a:schemeClr val="tx1"/>
                </a:solidFill>
                <a:effectLst/>
                <a:latin typeface="+mn-lt"/>
                <a:ea typeface="+mn-ea"/>
                <a:cs typeface="+mn-cs"/>
              </a:rPr>
              <a:t>two conditions</a:t>
            </a:r>
            <a:r>
              <a:rPr lang="en-US" sz="1200" b="0" i="0" kern="1200" dirty="0">
                <a:solidFill>
                  <a:schemeClr val="tx1"/>
                </a:solidFill>
                <a:effectLst/>
                <a:latin typeface="+mn-lt"/>
                <a:ea typeface="+mn-ea"/>
                <a:cs typeface="+mn-cs"/>
              </a:rPr>
              <a:t> — intentionally.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Condition A includes all agents: moving and stationary.</a:t>
            </a:r>
          </a:p>
          <a:p>
            <a:r>
              <a:rPr lang="en-US" sz="1200" b="1" i="0" kern="1200" dirty="0">
                <a:solidFill>
                  <a:schemeClr val="tx1"/>
                </a:solidFill>
                <a:effectLst/>
                <a:latin typeface="+mn-lt"/>
                <a:ea typeface="+mn-ea"/>
                <a:cs typeface="+mn-cs"/>
              </a:rPr>
              <a:t>Condition B restricts to moving agents only, giving us 3,196 observations.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Stationary agents have near-zero displacement — trivially easy to predict and likely to inflate R-squared. The two-condition design lets us directly measure that inflation.</a:t>
            </a:r>
          </a:p>
          <a:p>
            <a:r>
              <a:rPr lang="en-US" sz="1200" b="0" i="0" kern="1200" dirty="0">
                <a:solidFill>
                  <a:schemeClr val="tx1"/>
                </a:solidFill>
                <a:effectLst/>
                <a:latin typeface="+mn-lt"/>
                <a:ea typeface="+mn-ea"/>
                <a:cs typeface="+mn-cs"/>
              </a:rPr>
              <a:t>Both models were trained with 5-fold cross-validation and evaluated on a held-out 20% test set.</a:t>
            </a:r>
          </a:p>
          <a:p>
            <a:endParaRPr lang="en-US" dirty="0"/>
          </a:p>
        </p:txBody>
      </p:sp>
      <p:sp>
        <p:nvSpPr>
          <p:cNvPr id="4" name="Slide Number Placeholder 3">
            <a:extLst>
              <a:ext uri="{FF2B5EF4-FFF2-40B4-BE49-F238E27FC236}">
                <a16:creationId xmlns:a16="http://schemas.microsoft.com/office/drawing/2014/main" id="{82EF3F42-363B-0EC8-0F83-79FA967945F2}"/>
              </a:ext>
            </a:extLst>
          </p:cNvPr>
          <p:cNvSpPr>
            <a:spLocks noGrp="1"/>
          </p:cNvSpPr>
          <p:nvPr>
            <p:ph type="sldNum" sz="quarter" idx="5"/>
          </p:nvPr>
        </p:nvSpPr>
        <p:spPr/>
        <p:txBody>
          <a:bodyPr/>
          <a:lstStyle/>
          <a:p>
            <a:fld id="{B3F43537-14D9-9349-AA70-B1088F1298F1}" type="slidenum">
              <a:rPr lang="en-US" smtClean="0"/>
              <a:t>9</a:t>
            </a:fld>
            <a:endParaRPr lang="en-US"/>
          </a:p>
        </p:txBody>
      </p:sp>
    </p:spTree>
    <p:extLst>
      <p:ext uri="{BB962C8B-B14F-4D97-AF65-F5344CB8AC3E}">
        <p14:creationId xmlns:p14="http://schemas.microsoft.com/office/powerpoint/2010/main" val="2427523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6F447-6712-10CC-B836-ECC08ADB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7EA59-FF18-6101-C3B9-A9E808FE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F3CF9-8F06-1FBD-581A-29A668F3B3D2}"/>
              </a:ext>
            </a:extLst>
          </p:cNvPr>
          <p:cNvSpPr>
            <a:spLocks noGrp="1"/>
          </p:cNvSpPr>
          <p:nvPr>
            <p:ph type="body" idx="1"/>
          </p:nvPr>
        </p:nvSpPr>
        <p:spPr/>
        <p:txBody>
          <a:bodyPr/>
          <a:lstStyle/>
          <a:p>
            <a:r>
              <a:rPr lang="en-US" b="1" dirty="0"/>
              <a:t>JUSTIN:</a:t>
            </a:r>
            <a:br>
              <a:rPr lang="en-US" b="1" dirty="0"/>
            </a:br>
            <a:br>
              <a:rPr lang="en-US" b="1" dirty="0"/>
            </a:br>
            <a:r>
              <a:rPr lang="en-US" sz="1200" b="0" i="0" kern="1200" dirty="0">
                <a:solidFill>
                  <a:schemeClr val="tx1"/>
                </a:solidFill>
                <a:effectLst/>
                <a:latin typeface="+mn-lt"/>
                <a:ea typeface="+mn-ea"/>
                <a:cs typeface="+mn-cs"/>
              </a:rPr>
              <a:t>Let's talk about what we found — and I want to start with the anomalies themselves, because the videos tell the story better than any table.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are actual scenario clips from the Waymo dataset, centered on the agents our Isolation Forest flagged as most anomalous.</a:t>
            </a:r>
          </a:p>
          <a:p>
            <a:r>
              <a:rPr lang="en-US" sz="1200" b="0" i="0" kern="1200" dirty="0">
                <a:solidFill>
                  <a:schemeClr val="tx1"/>
                </a:solidFill>
                <a:effectLst/>
                <a:latin typeface="+mn-lt"/>
                <a:ea typeface="+mn-ea"/>
                <a:cs typeface="+mn-cs"/>
              </a:rPr>
              <a:t>The flagged agents fall into two distinct categories — and the split is instructive.</a:t>
            </a:r>
          </a:p>
          <a:p>
            <a:r>
              <a:rPr lang="en-US" sz="1200" b="0" i="0" kern="1200" dirty="0">
                <a:solidFill>
                  <a:schemeClr val="tx1"/>
                </a:solidFill>
                <a:effectLst/>
                <a:latin typeface="+mn-lt"/>
                <a:ea typeface="+mn-ea"/>
                <a:cs typeface="+mn-cs"/>
              </a:rPr>
              <a:t>The first is </a:t>
            </a:r>
            <a:r>
              <a:rPr lang="en-US" sz="1200" b="1" i="0" kern="1200" dirty="0">
                <a:solidFill>
                  <a:schemeClr val="tx1"/>
                </a:solidFill>
                <a:effectLst/>
                <a:latin typeface="+mn-lt"/>
                <a:ea typeface="+mn-ea"/>
                <a:cs typeface="+mn-cs"/>
              </a:rPr>
              <a:t>genuine kinematic extremes</a:t>
            </a:r>
            <a:r>
              <a:rPr lang="en-US" sz="1200" b="0" i="0" kern="1200" dirty="0">
                <a:solidFill>
                  <a:schemeClr val="tx1"/>
                </a:solidFill>
                <a:effectLst/>
                <a:latin typeface="+mn-lt"/>
                <a:ea typeface="+mn-ea"/>
                <a:cs typeface="+mn-cs"/>
              </a:rPr>
              <a:t>. Three agents were flagged for truly unusual speed and acceleration: one vehicle reaching </a:t>
            </a:r>
            <a:r>
              <a:rPr lang="en-US" sz="1200" b="1" i="0" kern="1200" dirty="0">
                <a:solidFill>
                  <a:schemeClr val="tx1"/>
                </a:solidFill>
                <a:effectLst/>
                <a:latin typeface="+mn-lt"/>
                <a:ea typeface="+mn-ea"/>
                <a:cs typeface="+mn-cs"/>
              </a:rPr>
              <a:t>49.75 m/s — roughly 180 km/h</a:t>
            </a:r>
            <a:r>
              <a:rPr lang="en-US" sz="1200" b="0" i="0" kern="1200" dirty="0">
                <a:solidFill>
                  <a:schemeClr val="tx1"/>
                </a:solidFill>
                <a:effectLst/>
                <a:latin typeface="+mn-lt"/>
                <a:ea typeface="+mn-ea"/>
                <a:cs typeface="+mn-cs"/>
              </a:rPr>
              <a:t> — with an acceleration reading of 355 m/s². Another at 32 m/s, another at 25 m/s. In urban scenario context, these are real outliers.</a:t>
            </a:r>
          </a:p>
          <a:p>
            <a:r>
              <a:rPr lang="en-US" sz="1200" b="0" i="0" kern="1200" dirty="0">
                <a:solidFill>
                  <a:schemeClr val="tx1"/>
                </a:solidFill>
                <a:effectLst/>
                <a:latin typeface="+mn-lt"/>
                <a:ea typeface="+mn-ea"/>
                <a:cs typeface="+mn-cs"/>
              </a:rPr>
              <a:t>The second category — and this accounts for seventeen of the top twenty — is a </a:t>
            </a:r>
            <a:r>
              <a:rPr lang="en-US" sz="1200" b="1" i="0" kern="1200" dirty="0">
                <a:solidFill>
                  <a:schemeClr val="tx1"/>
                </a:solidFill>
                <a:effectLst/>
                <a:latin typeface="+mn-lt"/>
                <a:ea typeface="+mn-ea"/>
                <a:cs typeface="+mn-cs"/>
              </a:rPr>
              <a:t>sensor artifact</a:t>
            </a:r>
            <a:r>
              <a:rPr lang="en-US" sz="1200" b="0" i="0" kern="1200" dirty="0">
                <a:solidFill>
                  <a:schemeClr val="tx1"/>
                </a:solidFill>
                <a:effectLst/>
                <a:latin typeface="+mn-lt"/>
                <a:ea typeface="+mn-ea"/>
                <a:cs typeface="+mn-cs"/>
              </a:rPr>
              <a:t>. Near-stationary agents, across all three agent types, with yaw rate fixed at exactly ±31 rad/s. A rotation rate of 31 radians per second is not physically possible for any ground vehicle. The pattern is unmistakable: near-zero speed, always the same magnitude, appearing in vehicles, pedestrians, and cyclists alike. This is numerical instability in the heading derivative computation when speed approaches zero. The model flagged real structure in the data — it's just that the structure reflects a measurement issue, not a driving incident.</a:t>
            </a:r>
          </a:p>
          <a:p>
            <a:r>
              <a:rPr lang="en-US" sz="1200" b="0" i="0" kern="1200" dirty="0">
                <a:solidFill>
                  <a:schemeClr val="tx1"/>
                </a:solidFill>
                <a:effectLst/>
                <a:latin typeface="+mn-lt"/>
                <a:ea typeface="+mn-ea"/>
                <a:cs typeface="+mn-cs"/>
              </a:rPr>
              <a:t>There's one more detail worth highlighting: </a:t>
            </a:r>
            <a:r>
              <a:rPr lang="en-US" sz="1200" b="1" i="0" kern="1200" dirty="0">
                <a:solidFill>
                  <a:schemeClr val="tx1"/>
                </a:solidFill>
                <a:effectLst/>
                <a:latin typeface="+mn-lt"/>
                <a:ea typeface="+mn-ea"/>
                <a:cs typeface="+mn-cs"/>
              </a:rPr>
              <a:t>none of the top 20 anomalies carry an </a:t>
            </a:r>
            <a:r>
              <a:rPr lang="en-US" sz="1200" b="1" i="0" kern="1200" dirty="0" err="1">
                <a:solidFill>
                  <a:schemeClr val="tx1"/>
                </a:solidFill>
                <a:effectLst/>
                <a:latin typeface="+mn-lt"/>
                <a:ea typeface="+mn-ea"/>
                <a:cs typeface="+mn-cs"/>
              </a:rPr>
              <a:t>IsInteractive</a:t>
            </a:r>
            <a:r>
              <a:rPr lang="en-US" sz="1200" b="1" i="0" kern="1200" dirty="0">
                <a:solidFill>
                  <a:schemeClr val="tx1"/>
                </a:solidFill>
                <a:effectLst/>
                <a:latin typeface="+mn-lt"/>
                <a:ea typeface="+mn-ea"/>
                <a:cs typeface="+mn-cs"/>
              </a:rPr>
              <a:t> flag from Waymo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marks agents that are safety-relevant to the AV's immediate planning. Our most extreme kinematic outliers — the 180 km/h vehicle, the ±31 rad/s artifacts — were not flagged by Waymo as planning-relevant. We'll come back to what that means in discussion, but it's an important caveat to carry into the results.</a:t>
            </a:r>
          </a:p>
          <a:p>
            <a:endParaRPr lang="en-US" b="1" dirty="0"/>
          </a:p>
        </p:txBody>
      </p:sp>
      <p:sp>
        <p:nvSpPr>
          <p:cNvPr id="4" name="Slide Number Placeholder 3">
            <a:extLst>
              <a:ext uri="{FF2B5EF4-FFF2-40B4-BE49-F238E27FC236}">
                <a16:creationId xmlns:a16="http://schemas.microsoft.com/office/drawing/2014/main" id="{83AF3720-730E-9476-95AA-C800296916AA}"/>
              </a:ext>
            </a:extLst>
          </p:cNvPr>
          <p:cNvSpPr>
            <a:spLocks noGrp="1"/>
          </p:cNvSpPr>
          <p:nvPr>
            <p:ph type="sldNum" sz="quarter" idx="5"/>
          </p:nvPr>
        </p:nvSpPr>
        <p:spPr/>
        <p:txBody>
          <a:bodyPr/>
          <a:lstStyle/>
          <a:p>
            <a:fld id="{B3F43537-14D9-9349-AA70-B1088F1298F1}" type="slidenum">
              <a:rPr lang="en-US" smtClean="0"/>
              <a:t>10</a:t>
            </a:fld>
            <a:endParaRPr lang="en-US"/>
          </a:p>
        </p:txBody>
      </p:sp>
    </p:spTree>
    <p:extLst>
      <p:ext uri="{BB962C8B-B14F-4D97-AF65-F5344CB8AC3E}">
        <p14:creationId xmlns:p14="http://schemas.microsoft.com/office/powerpoint/2010/main" val="1370636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DAAD-CB10-64D3-DAA8-47B82DCA5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02A42-AAF8-D249-52E3-776BE3545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BA5FD-4FBA-E6D4-070D-0E8EAC478CB6}"/>
              </a:ext>
            </a:extLst>
          </p:cNvPr>
          <p:cNvSpPr>
            <a:spLocks noGrp="1"/>
          </p:cNvSpPr>
          <p:nvPr>
            <p:ph type="body" idx="1"/>
          </p:nvPr>
        </p:nvSpPr>
        <p:spPr/>
        <p:txBody>
          <a:bodyPr/>
          <a:lstStyle/>
          <a:p>
            <a:r>
              <a:rPr lang="en-US" dirty="0"/>
              <a:t>JUSTIN:</a:t>
            </a:r>
            <a:br>
              <a:rPr lang="en-US" dirty="0"/>
            </a:br>
            <a:br>
              <a:rPr lang="en-US" dirty="0"/>
            </a:br>
            <a:r>
              <a:rPr lang="en-US" sz="1200" b="0" i="0" kern="1200" dirty="0">
                <a:solidFill>
                  <a:schemeClr val="tx1"/>
                </a:solidFill>
                <a:effectLst/>
                <a:latin typeface="+mn-lt"/>
                <a:ea typeface="+mn-ea"/>
                <a:cs typeface="+mn-cs"/>
              </a:rPr>
              <a:t>The Random Forest classifier trained on those pseudo-labels achieved:</a:t>
            </a:r>
          </a:p>
          <a:p>
            <a:r>
              <a:rPr lang="en-US" sz="1200" b="0" i="0" kern="1200" dirty="0">
                <a:solidFill>
                  <a:schemeClr val="tx1"/>
                </a:solidFill>
                <a:effectLst/>
                <a:latin typeface="+mn-lt"/>
                <a:ea typeface="+mn-ea"/>
                <a:cs typeface="+mn-cs"/>
              </a:rPr>
              <a:t>Cross-validated AUC-ROC of </a:t>
            </a:r>
            <a:r>
              <a:rPr lang="en-US" sz="1200" b="1" i="0" kern="1200" dirty="0">
                <a:solidFill>
                  <a:schemeClr val="tx1"/>
                </a:solidFill>
                <a:effectLst/>
                <a:latin typeface="+mn-lt"/>
                <a:ea typeface="+mn-ea"/>
                <a:cs typeface="+mn-cs"/>
              </a:rPr>
              <a:t>0.887</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Sensitivity 0.836, Specificity 0.839 on training data</a:t>
            </a:r>
          </a:p>
          <a:p>
            <a:r>
              <a:rPr lang="en-US" sz="1200" b="0" i="0" kern="1200" dirty="0">
                <a:solidFill>
                  <a:schemeClr val="tx1"/>
                </a:solidFill>
                <a:effectLst/>
                <a:latin typeface="+mn-lt"/>
                <a:ea typeface="+mn-ea"/>
                <a:cs typeface="+mn-cs"/>
              </a:rPr>
              <a:t>On the held-out test set: accuracy </a:t>
            </a:r>
            <a:r>
              <a:rPr lang="en-US" sz="1200" b="1" i="0" kern="1200" dirty="0">
                <a:solidFill>
                  <a:schemeClr val="tx1"/>
                </a:solidFill>
                <a:effectLst/>
                <a:latin typeface="+mn-lt"/>
                <a:ea typeface="+mn-ea"/>
                <a:cs typeface="+mn-cs"/>
              </a:rPr>
              <a:t>79.5%</a:t>
            </a:r>
            <a:r>
              <a:rPr lang="en-US" sz="1200" b="0" i="0" kern="1200" dirty="0">
                <a:solidFill>
                  <a:schemeClr val="tx1"/>
                </a:solidFill>
                <a:effectLst/>
                <a:latin typeface="+mn-lt"/>
                <a:ea typeface="+mn-ea"/>
                <a:cs typeface="+mn-cs"/>
              </a:rPr>
              <a:t>, balanced accuracy </a:t>
            </a:r>
            <a:r>
              <a:rPr lang="en-US" sz="1200" b="1" i="0" kern="1200" dirty="0">
                <a:solidFill>
                  <a:schemeClr val="tx1"/>
                </a:solidFill>
                <a:effectLst/>
                <a:latin typeface="+mn-lt"/>
                <a:ea typeface="+mn-ea"/>
                <a:cs typeface="+mn-cs"/>
              </a:rPr>
              <a:t>73.1%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Strong performance — especially given we're training on unsupervised pseudo-labels rather than verified ground truth. And it's worth noting what the classifier was actually learning from: its three features are </a:t>
            </a:r>
            <a:r>
              <a:rPr lang="en-US" sz="1200" b="1" i="0" kern="1200" dirty="0">
                <a:solidFill>
                  <a:schemeClr val="tx1"/>
                </a:solidFill>
                <a:effectLst/>
                <a:latin typeface="+mn-lt"/>
                <a:ea typeface="+mn-ea"/>
                <a:cs typeface="+mn-cs"/>
              </a:rPr>
              <a:t>Length, Width, and </a:t>
            </a:r>
            <a:r>
              <a:rPr lang="en-US" sz="1200" b="1" i="0" kern="1200" dirty="0" err="1">
                <a:solidFill>
                  <a:schemeClr val="tx1"/>
                </a:solidFill>
                <a:effectLst/>
                <a:latin typeface="+mn-lt"/>
                <a:ea typeface="+mn-ea"/>
                <a:cs typeface="+mn-cs"/>
              </a:rPr>
              <a:t>YawRate</a:t>
            </a:r>
            <a:r>
              <a:rPr lang="en-US" sz="1200" b="0" i="0" kern="1200" dirty="0">
                <a:solidFill>
                  <a:schemeClr val="tx1"/>
                </a:solidFill>
                <a:effectLst/>
                <a:latin typeface="+mn-lt"/>
                <a:ea typeface="+mn-ea"/>
                <a:cs typeface="+mn-cs"/>
              </a:rPr>
              <a:t> — agent geometry and turning behavior. Not speed. The anomaly characterization signal lives in how an agent is shaped and how it rotates, not how fast it moves.</a:t>
            </a:r>
          </a:p>
          <a:p>
            <a:endParaRPr lang="en-US" dirty="0"/>
          </a:p>
        </p:txBody>
      </p:sp>
      <p:sp>
        <p:nvSpPr>
          <p:cNvPr id="4" name="Slide Number Placeholder 3">
            <a:extLst>
              <a:ext uri="{FF2B5EF4-FFF2-40B4-BE49-F238E27FC236}">
                <a16:creationId xmlns:a16="http://schemas.microsoft.com/office/drawing/2014/main" id="{F5BC7428-4764-44FF-34A8-89B31D28AAC0}"/>
              </a:ext>
            </a:extLst>
          </p:cNvPr>
          <p:cNvSpPr>
            <a:spLocks noGrp="1"/>
          </p:cNvSpPr>
          <p:nvPr>
            <p:ph type="sldNum" sz="quarter" idx="5"/>
          </p:nvPr>
        </p:nvSpPr>
        <p:spPr/>
        <p:txBody>
          <a:bodyPr/>
          <a:lstStyle/>
          <a:p>
            <a:fld id="{B3F43537-14D9-9349-AA70-B1088F1298F1}" type="slidenum">
              <a:rPr lang="en-US" smtClean="0"/>
              <a:t>11</a:t>
            </a:fld>
            <a:endParaRPr lang="en-US"/>
          </a:p>
        </p:txBody>
      </p:sp>
    </p:spTree>
    <p:extLst>
      <p:ext uri="{BB962C8B-B14F-4D97-AF65-F5344CB8AC3E}">
        <p14:creationId xmlns:p14="http://schemas.microsoft.com/office/powerpoint/2010/main" val="1240367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974E-7575-A76B-8A9B-8D5F9228F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82245-A6C3-FFCE-6DE5-F2A8BEFA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3F5C7-CDE7-D571-7B51-2A786C35585C}"/>
              </a:ext>
            </a:extLst>
          </p:cNvPr>
          <p:cNvSpPr>
            <a:spLocks noGrp="1"/>
          </p:cNvSpPr>
          <p:nvPr>
            <p:ph type="body" idx="1"/>
          </p:nvPr>
        </p:nvSpPr>
        <p:spPr/>
        <p:txBody>
          <a:bodyPr/>
          <a:lstStyle/>
          <a:p>
            <a:r>
              <a:rPr lang="en-US" dirty="0"/>
              <a:t>JUSTIN:</a:t>
            </a:r>
          </a:p>
          <a:p>
            <a:endParaRPr lang="en-US" dirty="0"/>
          </a:p>
          <a:p>
            <a:r>
              <a:rPr lang="en-US" sz="1200" b="0" i="0" kern="1200" dirty="0">
                <a:solidFill>
                  <a:schemeClr val="tx1"/>
                </a:solidFill>
                <a:effectLst/>
                <a:latin typeface="+mn-lt"/>
                <a:ea typeface="+mn-ea"/>
                <a:cs typeface="+mn-cs"/>
              </a:rPr>
              <a:t>For motion prediction: with stationary agents included, test RMSE </a:t>
            </a:r>
            <a:r>
              <a:rPr lang="en-US" sz="1200" b="1" i="0" kern="1200" dirty="0">
                <a:solidFill>
                  <a:schemeClr val="tx1"/>
                </a:solidFill>
                <a:effectLst/>
                <a:latin typeface="+mn-lt"/>
                <a:ea typeface="+mn-ea"/>
                <a:cs typeface="+mn-cs"/>
              </a:rPr>
              <a:t>7.44 meters</a:t>
            </a:r>
            <a:r>
              <a:rPr lang="en-US" sz="1200" b="0" i="0" kern="1200" dirty="0">
                <a:solidFill>
                  <a:schemeClr val="tx1"/>
                </a:solidFill>
                <a:effectLst/>
                <a:latin typeface="+mn-lt"/>
                <a:ea typeface="+mn-ea"/>
                <a:cs typeface="+mn-cs"/>
              </a:rPr>
              <a:t>, R-squared </a:t>
            </a:r>
            <a:r>
              <a:rPr lang="en-US" sz="1200" b="1" i="0" kern="1200" dirty="0">
                <a:solidFill>
                  <a:schemeClr val="tx1"/>
                </a:solidFill>
                <a:effectLst/>
                <a:latin typeface="+mn-lt"/>
                <a:ea typeface="+mn-ea"/>
                <a:cs typeface="+mn-cs"/>
              </a:rPr>
              <a:t>0.880</a:t>
            </a:r>
            <a:r>
              <a:rPr lang="en-US" sz="1200" b="0" i="0" kern="1200" dirty="0">
                <a:solidFill>
                  <a:schemeClr val="tx1"/>
                </a:solidFill>
                <a:effectLst/>
                <a:latin typeface="+mn-lt"/>
                <a:ea typeface="+mn-ea"/>
                <a:cs typeface="+mn-cs"/>
              </a:rPr>
              <a:t>. Remove stationary agents and RMSE jumps to </a:t>
            </a:r>
            <a:r>
              <a:rPr lang="en-US" sz="1200" b="1" i="0" kern="1200" dirty="0">
                <a:solidFill>
                  <a:schemeClr val="tx1"/>
                </a:solidFill>
                <a:effectLst/>
                <a:latin typeface="+mn-lt"/>
                <a:ea typeface="+mn-ea"/>
                <a:cs typeface="+mn-cs"/>
              </a:rPr>
              <a:t>13.15 meters</a:t>
            </a:r>
            <a:r>
              <a:rPr lang="en-US" sz="1200" b="0" i="0" kern="1200" dirty="0">
                <a:solidFill>
                  <a:schemeClr val="tx1"/>
                </a:solidFill>
                <a:effectLst/>
                <a:latin typeface="+mn-lt"/>
                <a:ea typeface="+mn-ea"/>
                <a:cs typeface="+mn-cs"/>
              </a:rPr>
              <a:t>, R-squared drops to </a:t>
            </a:r>
            <a:r>
              <a:rPr lang="en-US" sz="1200" b="1" i="0" kern="1200" dirty="0">
                <a:solidFill>
                  <a:schemeClr val="tx1"/>
                </a:solidFill>
                <a:effectLst/>
                <a:latin typeface="+mn-lt"/>
                <a:ea typeface="+mn-ea"/>
                <a:cs typeface="+mn-cs"/>
              </a:rPr>
              <a:t>0.728</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standardized beta coefficients give us the feature importance for the regression — and the picture could not be clearer. </a:t>
            </a:r>
            <a:r>
              <a:rPr lang="en-US" sz="1200" b="1" i="0" kern="1200" dirty="0">
                <a:solidFill>
                  <a:schemeClr val="tx1"/>
                </a:solidFill>
                <a:effectLst/>
                <a:latin typeface="+mn-lt"/>
                <a:ea typeface="+mn-ea"/>
                <a:cs typeface="+mn-cs"/>
              </a:rPr>
              <a:t>Speed dominates with </a:t>
            </a:r>
            <a:r>
              <a:rPr lang="el-GR" sz="1200" b="1" i="0" kern="1200" dirty="0">
                <a:solidFill>
                  <a:schemeClr val="tx1"/>
                </a:solidFill>
                <a:effectLst/>
                <a:latin typeface="+mn-lt"/>
                <a:ea typeface="+mn-ea"/>
                <a:cs typeface="+mn-cs"/>
              </a:rPr>
              <a:t>β ≈ 0.95</a:t>
            </a:r>
            <a:r>
              <a:rPr lang="el-G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essentially the entire predictive signal. Acceleration and the velocity components contribute marginally. </a:t>
            </a:r>
            <a:r>
              <a:rPr lang="en-US" sz="1200" b="0" i="0" kern="1200" dirty="0" err="1">
                <a:solidFill>
                  <a:schemeClr val="tx1"/>
                </a:solidFill>
                <a:effectLst/>
                <a:latin typeface="+mn-lt"/>
                <a:ea typeface="+mn-ea"/>
                <a:cs typeface="+mn-cs"/>
              </a:rPr>
              <a:t>YawRate</a:t>
            </a:r>
            <a:r>
              <a:rPr lang="en-US" sz="1200" b="0" i="0" kern="1200" dirty="0">
                <a:solidFill>
                  <a:schemeClr val="tx1"/>
                </a:solidFill>
                <a:effectLst/>
                <a:latin typeface="+mn-lt"/>
                <a:ea typeface="+mn-ea"/>
                <a:cs typeface="+mn-cs"/>
              </a:rPr>
              <a:t> is nearly zero at </a:t>
            </a:r>
            <a:r>
              <a:rPr lang="el-GR" sz="1200" b="0" i="0" kern="1200" dirty="0">
                <a:solidFill>
                  <a:schemeClr val="tx1"/>
                </a:solidFill>
                <a:effectLst/>
                <a:latin typeface="+mn-lt"/>
                <a:ea typeface="+mn-ea"/>
                <a:cs typeface="+mn-cs"/>
              </a:rPr>
              <a:t>β ≈ -0.007 — </a:t>
            </a:r>
            <a:r>
              <a:rPr lang="en-US" sz="1200" b="0" i="0" kern="1200" dirty="0">
                <a:solidFill>
                  <a:schemeClr val="tx1"/>
                </a:solidFill>
                <a:effectLst/>
                <a:latin typeface="+mn-lt"/>
                <a:ea typeface="+mn-ea"/>
                <a:cs typeface="+mn-cs"/>
              </a:rPr>
              <a:t>it adds almost nothing to displacement prediction.</a:t>
            </a:r>
          </a:p>
          <a:p>
            <a:r>
              <a:rPr lang="en-US" sz="1200" b="0" i="0" kern="1200" dirty="0">
                <a:solidFill>
                  <a:schemeClr val="tx1"/>
                </a:solidFill>
                <a:effectLst/>
                <a:latin typeface="+mn-lt"/>
                <a:ea typeface="+mn-ea"/>
                <a:cs typeface="+mn-cs"/>
              </a:rPr>
              <a:t>That contrast is the key finding across both models: </a:t>
            </a:r>
            <a:r>
              <a:rPr lang="en-US" sz="1200" b="1" i="0" kern="1200" dirty="0" err="1">
                <a:solidFill>
                  <a:schemeClr val="tx1"/>
                </a:solidFill>
                <a:effectLst/>
                <a:latin typeface="+mn-lt"/>
                <a:ea typeface="+mn-ea"/>
                <a:cs typeface="+mn-cs"/>
              </a:rPr>
              <a:t>YawRate</a:t>
            </a:r>
            <a:r>
              <a:rPr lang="en-US" sz="1200" b="1" i="0" kern="1200" dirty="0">
                <a:solidFill>
                  <a:schemeClr val="tx1"/>
                </a:solidFill>
                <a:effectLst/>
                <a:latin typeface="+mn-lt"/>
                <a:ea typeface="+mn-ea"/>
                <a:cs typeface="+mn-cs"/>
              </a:rPr>
              <a:t> is the anomaly signal, Speed is the displacement signal.</a:t>
            </a:r>
            <a:r>
              <a:rPr lang="en-US" sz="1200" b="0" i="0" kern="1200" dirty="0">
                <a:solidFill>
                  <a:schemeClr val="tx1"/>
                </a:solidFill>
                <a:effectLst/>
                <a:latin typeface="+mn-lt"/>
                <a:ea typeface="+mn-ea"/>
                <a:cs typeface="+mn-cs"/>
              </a:rPr>
              <a:t> They're measuring completely different aspects of agent behavior, and the feature importance of each model confirms exactly that. Neither result is surprising given the physics — but having the data validate the physics is precisely the sanity check you want before trusting a pipeline on real-world safety data.</a:t>
            </a:r>
          </a:p>
          <a:p>
            <a:endParaRPr lang="en-US" dirty="0"/>
          </a:p>
        </p:txBody>
      </p:sp>
      <p:sp>
        <p:nvSpPr>
          <p:cNvPr id="4" name="Slide Number Placeholder 3">
            <a:extLst>
              <a:ext uri="{FF2B5EF4-FFF2-40B4-BE49-F238E27FC236}">
                <a16:creationId xmlns:a16="http://schemas.microsoft.com/office/drawing/2014/main" id="{389F4370-24B7-A7F4-9539-CBBB55DED659}"/>
              </a:ext>
            </a:extLst>
          </p:cNvPr>
          <p:cNvSpPr>
            <a:spLocks noGrp="1"/>
          </p:cNvSpPr>
          <p:nvPr>
            <p:ph type="sldNum" sz="quarter" idx="5"/>
          </p:nvPr>
        </p:nvSpPr>
        <p:spPr/>
        <p:txBody>
          <a:bodyPr/>
          <a:lstStyle/>
          <a:p>
            <a:fld id="{B3F43537-14D9-9349-AA70-B1088F1298F1}" type="slidenum">
              <a:rPr lang="en-US" smtClean="0"/>
              <a:t>12</a:t>
            </a:fld>
            <a:endParaRPr lang="en-US"/>
          </a:p>
        </p:txBody>
      </p:sp>
    </p:spTree>
    <p:extLst>
      <p:ext uri="{BB962C8B-B14F-4D97-AF65-F5344CB8AC3E}">
        <p14:creationId xmlns:p14="http://schemas.microsoft.com/office/powerpoint/2010/main" val="3862493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07FC6-B445-F0AB-4976-5ACB26E6D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DE358-5E58-B511-0F9E-30A67414C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39F3E-A388-74E6-431B-3E3B0C05448C}"/>
              </a:ext>
            </a:extLst>
          </p:cNvPr>
          <p:cNvSpPr>
            <a:spLocks noGrp="1"/>
          </p:cNvSpPr>
          <p:nvPr>
            <p:ph type="body" idx="1"/>
          </p:nvPr>
        </p:nvSpPr>
        <p:spPr/>
        <p:txBody>
          <a:bodyPr/>
          <a:lstStyle/>
          <a:p>
            <a:r>
              <a:rPr lang="en-US" b="1" dirty="0"/>
              <a:t>RAMSES:</a:t>
            </a:r>
          </a:p>
          <a:p>
            <a:endParaRPr lang="en-US" b="1" dirty="0"/>
          </a:p>
          <a:p>
            <a:r>
              <a:rPr lang="en-US" sz="1200" b="0" i="0" kern="1200" dirty="0">
                <a:solidFill>
                  <a:schemeClr val="tx1"/>
                </a:solidFill>
                <a:effectLst/>
                <a:latin typeface="+mn-lt"/>
                <a:ea typeface="+mn-ea"/>
                <a:cs typeface="+mn-cs"/>
              </a:rPr>
              <a:t>Before we get to the takeaways, I want to address what Justin flagged at the end of the results section — because it's the most important nuance in this project.</a:t>
            </a:r>
          </a:p>
          <a:p>
            <a:r>
              <a:rPr lang="en-US" sz="1200" b="0" i="0" kern="1200" dirty="0">
                <a:solidFill>
                  <a:schemeClr val="tx1"/>
                </a:solidFill>
                <a:effectLst/>
                <a:latin typeface="+mn-lt"/>
                <a:ea typeface="+mn-ea"/>
                <a:cs typeface="+mn-cs"/>
              </a:rPr>
              <a:t>The pipeline produced statistically validated results: Fisher's p = 0.0005, AUC of 0.887. The numbers look good. But when we actually inspect what was flagged, none of the top 20 anomalies were marked as safety-relevant by Waymo's own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flag. That's not a failure of the model — it's a clarification of what the model is actually measuring. </a:t>
            </a:r>
            <a:r>
              <a:rPr lang="en-US" sz="1200" b="1" i="0" kern="1200" dirty="0">
                <a:solidFill>
                  <a:schemeClr val="tx1"/>
                </a:solidFill>
                <a:effectLst/>
                <a:latin typeface="+mn-lt"/>
                <a:ea typeface="+mn-ea"/>
                <a:cs typeface="+mn-cs"/>
              </a:rPr>
              <a:t>A kinematic outlier is not the same thing as a safety incident.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reflects which agents are in close proximity to the AV during routine planning — adjacent lane vehicles, approaching intersections. Our flagged events — extreme speeds and sensor artifacts — exist outside that frame entirely.</a:t>
            </a:r>
          </a:p>
          <a:p>
            <a:r>
              <a:rPr lang="en-US" sz="1200" b="0" i="0" kern="1200" dirty="0">
                <a:solidFill>
                  <a:schemeClr val="tx1"/>
                </a:solidFill>
                <a:effectLst/>
                <a:latin typeface="+mn-lt"/>
                <a:ea typeface="+mn-ea"/>
                <a:cs typeface="+mn-cs"/>
              </a:rPr>
              <a:t>What this means in practice: the pipeline is more accurately described as a </a:t>
            </a:r>
            <a:r>
              <a:rPr lang="en-US" sz="1200" b="1" i="0" kern="1200" dirty="0">
                <a:solidFill>
                  <a:schemeClr val="tx1"/>
                </a:solidFill>
                <a:effectLst/>
                <a:latin typeface="+mn-lt"/>
                <a:ea typeface="+mn-ea"/>
                <a:cs typeface="+mn-cs"/>
              </a:rPr>
              <a:t>data quality and behavioral characterization tool</a:t>
            </a:r>
            <a:r>
              <a:rPr lang="en-US" sz="1200" b="0" i="0" kern="1200" dirty="0">
                <a:solidFill>
                  <a:schemeClr val="tx1"/>
                </a:solidFill>
                <a:effectLst/>
                <a:latin typeface="+mn-lt"/>
                <a:ea typeface="+mn-ea"/>
                <a:cs typeface="+mn-cs"/>
              </a:rPr>
              <a:t> than a safety-incident detector. It found genuine extremes in the data, and it surfaced a systematic measurement problem that would have gone unnoticed without it. Both are useful contributions — but they require domain knowledge to interpret correctly. The danger is treating model outputs as ground truth without that context.</a:t>
            </a:r>
          </a:p>
          <a:p>
            <a:r>
              <a:rPr lang="en-US" sz="1200" b="0" i="0" kern="1200" dirty="0">
                <a:solidFill>
                  <a:schemeClr val="tx1"/>
                </a:solidFill>
                <a:effectLst/>
                <a:latin typeface="+mn-lt"/>
                <a:ea typeface="+mn-ea"/>
                <a:cs typeface="+mn-cs"/>
              </a:rPr>
              <a:t>With that framing, two broader takeaways.</a:t>
            </a: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unsupervised detection works and is statistically </a:t>
            </a:r>
            <a:r>
              <a:rPr lang="en-US" sz="1200" b="1" i="0" kern="1200" dirty="0" err="1">
                <a:solidFill>
                  <a:schemeClr val="tx1"/>
                </a:solidFill>
                <a:effectLst/>
                <a:latin typeface="+mn-lt"/>
                <a:ea typeface="+mn-ea"/>
                <a:cs typeface="+mn-cs"/>
              </a:rPr>
              <a:t>validatable</a:t>
            </a:r>
            <a:r>
              <a:rPr lang="en-US" sz="1200" b="0" i="0" kern="1200" dirty="0">
                <a:solidFill>
                  <a:schemeClr val="tx1"/>
                </a:solidFill>
                <a:effectLst/>
                <a:latin typeface="+mn-lt"/>
                <a:ea typeface="+mn-ea"/>
                <a:cs typeface="+mn-cs"/>
              </a:rPr>
              <a:t>. The Fisher test confirms structure in who gets flagged. Anomalies concentrate in pedestrians and cyclists — consistent with their more irregular urban kinematics. The Random Forest can characterize what anomalous agents look like at 0.887 AUC, even starting from noisy pseudo-labels.</a:t>
            </a: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dataset composition dominates metrics</a:t>
            </a:r>
            <a:r>
              <a:rPr lang="en-US" sz="1200" b="0" i="0" kern="1200" dirty="0">
                <a:solidFill>
                  <a:schemeClr val="tx1"/>
                </a:solidFill>
                <a:effectLst/>
                <a:latin typeface="+mn-lt"/>
                <a:ea typeface="+mn-ea"/>
                <a:cs typeface="+mn-cs"/>
              </a:rPr>
              <a:t>. The 15-point R-squared drop when removing stationary agents is not a model failure — it's a dataset artifact. Any evaluation reported on a mixed moving-and-stationary population is inflated. The 0.728 on moving agents is the honest number for dynamic AV deployment.</a:t>
            </a:r>
          </a:p>
          <a:p>
            <a:r>
              <a:rPr lang="en-US" sz="1200" b="0" i="0" kern="1200" dirty="0">
                <a:solidFill>
                  <a:schemeClr val="tx1"/>
                </a:solidFill>
                <a:effectLst/>
                <a:latin typeface="+mn-lt"/>
                <a:ea typeface="+mn-ea"/>
                <a:cs typeface="+mn-cs"/>
              </a:rPr>
              <a:t>On limitations: pseudo-labels from the Isolation Forest are not verified ground truth — the test specificity of 0.667 reflects that noise. We work from a single snapshot frame per agent, ignoring the full 20-second trajectory. Our regression is linear; pedestrian and cyclist motion may be nonlinear. And we only analyzed 300 scenarios — the genuine high-speed anomaly tail would be richer with the full dataset.</a:t>
            </a:r>
          </a:p>
          <a:p>
            <a:endParaRPr lang="en-US" b="1" dirty="0"/>
          </a:p>
        </p:txBody>
      </p:sp>
      <p:sp>
        <p:nvSpPr>
          <p:cNvPr id="4" name="Slide Number Placeholder 3">
            <a:extLst>
              <a:ext uri="{FF2B5EF4-FFF2-40B4-BE49-F238E27FC236}">
                <a16:creationId xmlns:a16="http://schemas.microsoft.com/office/drawing/2014/main" id="{5E855AEE-73AB-1783-0D2F-7103A8414119}"/>
              </a:ext>
            </a:extLst>
          </p:cNvPr>
          <p:cNvSpPr>
            <a:spLocks noGrp="1"/>
          </p:cNvSpPr>
          <p:nvPr>
            <p:ph type="sldNum" sz="quarter" idx="5"/>
          </p:nvPr>
        </p:nvSpPr>
        <p:spPr/>
        <p:txBody>
          <a:bodyPr/>
          <a:lstStyle/>
          <a:p>
            <a:fld id="{B3F43537-14D9-9349-AA70-B1088F1298F1}" type="slidenum">
              <a:rPr lang="en-US" smtClean="0"/>
              <a:t>13</a:t>
            </a:fld>
            <a:endParaRPr lang="en-US"/>
          </a:p>
        </p:txBody>
      </p:sp>
    </p:spTree>
    <p:extLst>
      <p:ext uri="{BB962C8B-B14F-4D97-AF65-F5344CB8AC3E}">
        <p14:creationId xmlns:p14="http://schemas.microsoft.com/office/powerpoint/2010/main" val="1530582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FE7B-6849-61F2-7989-1C9996269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C3D6F-CDC3-0D7D-3B9A-57570428C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073AC-BACC-955B-B633-1C324E325E43}"/>
              </a:ext>
            </a:extLst>
          </p:cNvPr>
          <p:cNvSpPr>
            <a:spLocks noGrp="1"/>
          </p:cNvSpPr>
          <p:nvPr>
            <p:ph type="body" idx="1"/>
          </p:nvPr>
        </p:nvSpPr>
        <p:spPr/>
        <p:txBody>
          <a:bodyPr/>
          <a:lstStyle/>
          <a:p>
            <a:r>
              <a:rPr lang="en-US" b="1" dirty="0"/>
              <a:t>PAVEL:</a:t>
            </a:r>
            <a:br>
              <a:rPr lang="en-US" b="1"/>
            </a:br>
            <a:endParaRPr lang="en-US" b="1" dirty="0"/>
          </a:p>
          <a:p>
            <a:r>
              <a:rPr lang="en-US" sz="1200" b="0" i="0" kern="1200" dirty="0">
                <a:solidFill>
                  <a:schemeClr val="tx1"/>
                </a:solidFill>
                <a:effectLst/>
                <a:latin typeface="+mn-lt"/>
                <a:ea typeface="+mn-ea"/>
                <a:cs typeface="+mn-cs"/>
              </a:rPr>
              <a:t>To summarize: we built a two-stage statistical pipeline for autonomous driving data.</a:t>
            </a:r>
          </a:p>
          <a:p>
            <a:r>
              <a:rPr lang="en-US" sz="1200" b="0" i="0" kern="1200" dirty="0">
                <a:solidFill>
                  <a:schemeClr val="tx1"/>
                </a:solidFill>
                <a:effectLst/>
                <a:latin typeface="+mn-lt"/>
                <a:ea typeface="+mn-ea"/>
                <a:cs typeface="+mn-cs"/>
              </a:rPr>
              <a:t>Stage one: Isolation Forest detects kinematic anomalies unsupervised. Fisher's Exact Test validates them at p &lt; 0.001. A Random Forest characterizes them at 0.887 AUC. And manual inspection reveals both genuine extreme events and a systematic sensor artifact that only became visible through the anomaly detection step.</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Stage two: Linear regression predicts 5-second displacement with R-squared of 0.88 — a strong classical baseline.</a:t>
            </a:r>
          </a:p>
          <a:p>
            <a:r>
              <a:rPr lang="en-US" sz="1200" b="0" i="0" kern="1200" dirty="0">
                <a:solidFill>
                  <a:schemeClr val="tx1"/>
                </a:solidFill>
                <a:effectLst/>
                <a:latin typeface="+mn-lt"/>
                <a:ea typeface="+mn-ea"/>
                <a:cs typeface="+mn-cs"/>
              </a:rPr>
              <a:t>The result: </a:t>
            </a:r>
            <a:r>
              <a:rPr lang="en-US" sz="1200" b="1" i="0" kern="1200" dirty="0">
                <a:solidFill>
                  <a:schemeClr val="tx1"/>
                </a:solidFill>
                <a:effectLst/>
                <a:latin typeface="+mn-lt"/>
                <a:ea typeface="+mn-ea"/>
                <a:cs typeface="+mn-cs"/>
              </a:rPr>
              <a:t>interpretable, reproducible statistical methods can deliver meaningful safety-relevant insights from large-scale real-world AV data</a:t>
            </a:r>
            <a:r>
              <a:rPr lang="en-US" sz="1200" b="0" i="0" kern="1200" dirty="0">
                <a:solidFill>
                  <a:schemeClr val="tx1"/>
                </a:solidFill>
                <a:effectLst/>
                <a:latin typeface="+mn-lt"/>
                <a:ea typeface="+mn-ea"/>
                <a:cs typeface="+mn-cs"/>
              </a:rPr>
              <a:t>, without any deep learning — and with the important caveat that interpreting those insights requires understanding what each model is and isn't measuring.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future work, three extensions:</a:t>
            </a:r>
          </a:p>
          <a:p>
            <a:r>
              <a:rPr lang="en-US" sz="1200" b="0" i="0" kern="1200" dirty="0">
                <a:solidFill>
                  <a:schemeClr val="tx1"/>
                </a:solidFill>
                <a:effectLst/>
                <a:latin typeface="+mn-lt"/>
                <a:ea typeface="+mn-ea"/>
                <a:cs typeface="+mn-cs"/>
              </a:rPr>
              <a:t>Filter yaw rate at |yaw| &lt; 10 rad/s before anomaly detection, to remove the sensor artifact and surface more meaningful behavioral anomalies.</a:t>
            </a:r>
          </a:p>
          <a:p>
            <a:r>
              <a:rPr lang="en-US" sz="1200" b="0" i="0" kern="1200" dirty="0">
                <a:solidFill>
                  <a:schemeClr val="tx1"/>
                </a:solidFill>
                <a:effectLst/>
                <a:latin typeface="+mn-lt"/>
                <a:ea typeface="+mn-ea"/>
                <a:cs typeface="+mn-cs"/>
              </a:rPr>
              <a:t>Validate flagged agents against Waymo's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flag as a soft reference label, with appropriate caveats about what that flag actually represents.</a:t>
            </a:r>
          </a:p>
          <a:p>
            <a:r>
              <a:rPr lang="en-US" sz="1200" b="0" i="0" kern="1200" dirty="0">
                <a:solidFill>
                  <a:schemeClr val="tx1"/>
                </a:solidFill>
                <a:effectLst/>
                <a:latin typeface="+mn-lt"/>
                <a:ea typeface="+mn-ea"/>
                <a:cs typeface="+mn-cs"/>
              </a:rPr>
              <a:t>Apply the pipeline to the full dataset — not just 300 scenarios — to get a richer tail of genuine high-speed events.</a:t>
            </a:r>
          </a:p>
          <a:p>
            <a:r>
              <a:rPr lang="en-US" sz="1200" b="0" i="0" kern="1200" dirty="0">
                <a:solidFill>
                  <a:schemeClr val="tx1"/>
                </a:solidFill>
                <a:effectLst/>
                <a:latin typeface="+mn-lt"/>
                <a:ea typeface="+mn-ea"/>
                <a:cs typeface="+mn-cs"/>
              </a:rPr>
              <a:t>Our full code is open-source on GitHub.</a:t>
            </a:r>
          </a:p>
          <a:p>
            <a:r>
              <a:rPr lang="en-US" sz="1200" b="0" i="0" kern="1200" dirty="0">
                <a:solidFill>
                  <a:schemeClr val="tx1"/>
                </a:solidFill>
                <a:effectLst/>
                <a:latin typeface="+mn-lt"/>
                <a:ea typeface="+mn-ea"/>
                <a:cs typeface="+mn-cs"/>
              </a:rPr>
              <a:t>Thank you — we're happy to take questions.</a:t>
            </a:r>
          </a:p>
          <a:p>
            <a:endParaRPr lang="en-US" b="1" dirty="0"/>
          </a:p>
        </p:txBody>
      </p:sp>
      <p:sp>
        <p:nvSpPr>
          <p:cNvPr id="4" name="Slide Number Placeholder 3">
            <a:extLst>
              <a:ext uri="{FF2B5EF4-FFF2-40B4-BE49-F238E27FC236}">
                <a16:creationId xmlns:a16="http://schemas.microsoft.com/office/drawing/2014/main" id="{7FDE5603-34A3-CE6F-9867-E919FEB194E0}"/>
              </a:ext>
            </a:extLst>
          </p:cNvPr>
          <p:cNvSpPr>
            <a:spLocks noGrp="1"/>
          </p:cNvSpPr>
          <p:nvPr>
            <p:ph type="sldNum" sz="quarter" idx="5"/>
          </p:nvPr>
        </p:nvSpPr>
        <p:spPr/>
        <p:txBody>
          <a:bodyPr/>
          <a:lstStyle/>
          <a:p>
            <a:fld id="{B3F43537-14D9-9349-AA70-B1088F1298F1}" type="slidenum">
              <a:rPr lang="en-US" smtClean="0"/>
              <a:t>14</a:t>
            </a:fld>
            <a:endParaRPr lang="en-US"/>
          </a:p>
        </p:txBody>
      </p:sp>
    </p:spTree>
    <p:extLst>
      <p:ext uri="{BB962C8B-B14F-4D97-AF65-F5344CB8AC3E}">
        <p14:creationId xmlns:p14="http://schemas.microsoft.com/office/powerpoint/2010/main" val="2960017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FF43-9781-F26A-41BC-8EFD5E3E2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D2121-4831-F4DE-0C29-F4CE4B867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4BDD2-F0CB-D890-0723-D43703CBD560}"/>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Q: Why Isolation Forest and not One-Class SVM?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Isolation Forest scales better to our dataset size (~4,500 agents) and requires no kernel tuning. One-Class SVM is sensitive to the nu hyperparameter and the kernel choice; IF is more robust out of the box and interpretable via feature importance.</a:t>
            </a:r>
          </a:p>
          <a:p>
            <a:r>
              <a:rPr lang="en-US" sz="1200" b="1" i="0" kern="1200" dirty="0">
                <a:solidFill>
                  <a:schemeClr val="tx1"/>
                </a:solidFill>
                <a:effectLst/>
                <a:latin typeface="+mn-lt"/>
                <a:ea typeface="+mn-ea"/>
                <a:cs typeface="+mn-cs"/>
              </a:rPr>
              <a:t>Q: The 99th percentile threshold — isn't that arbitrary?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It's a design choice, yes. We chose 1% to ensure only the most extreme kinematic outliers are flagged. The Fisher test validates that this threshold produces statistically meaningful, non-random groups. A lower threshold would give more recall at the cost of precision.</a:t>
            </a:r>
          </a:p>
          <a:p>
            <a:r>
              <a:rPr lang="en-US" sz="1200" b="1" i="0" kern="1200" dirty="0">
                <a:solidFill>
                  <a:schemeClr val="tx1"/>
                </a:solidFill>
                <a:effectLst/>
                <a:latin typeface="+mn-lt"/>
                <a:ea typeface="+mn-ea"/>
                <a:cs typeface="+mn-cs"/>
              </a:rPr>
              <a:t>Q: None of the top 20 were </a:t>
            </a:r>
            <a:r>
              <a:rPr lang="en-US" sz="1200" b="1" i="0" kern="1200" dirty="0" err="1">
                <a:solidFill>
                  <a:schemeClr val="tx1"/>
                </a:solidFill>
                <a:effectLst/>
                <a:latin typeface="+mn-lt"/>
                <a:ea typeface="+mn-ea"/>
                <a:cs typeface="+mn-cs"/>
              </a:rPr>
              <a:t>IsInteractive</a:t>
            </a:r>
            <a:r>
              <a:rPr lang="en-US" sz="1200" b="1" i="0" kern="1200" dirty="0">
                <a:solidFill>
                  <a:schemeClr val="tx1"/>
                </a:solidFill>
                <a:effectLst/>
                <a:latin typeface="+mn-lt"/>
                <a:ea typeface="+mn-ea"/>
                <a:cs typeface="+mn-cs"/>
              </a:rPr>
              <a:t> — does that mean the results are useless?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 — it means we're measuring something different from what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tracks.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is a proximity-based planning flag for routine AV decisions. Our pipeline finds kinematic extremes that fall outside normal operating ranges and surfaces data quality issues. Those are complementary, not competing, signals.</a:t>
            </a:r>
          </a:p>
          <a:p>
            <a:r>
              <a:rPr lang="en-US" sz="1200" b="1" i="0" kern="1200" dirty="0">
                <a:solidFill>
                  <a:schemeClr val="tx1"/>
                </a:solidFill>
                <a:effectLst/>
                <a:latin typeface="+mn-lt"/>
                <a:ea typeface="+mn-ea"/>
                <a:cs typeface="+mn-cs"/>
              </a:rPr>
              <a:t>Q: Why linear regression and not something more powerful for prediction?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Intentionally. We wanted to establish a classical baseline first. An R-squared of 0.88 from a linear model means there's strong linear signal in the kinematic features. Neural approaches should be benchmarked against this, not introduced without first knowing what simpler methods can already achieve.</a:t>
            </a:r>
          </a:p>
          <a:p>
            <a:r>
              <a:rPr lang="en-US" sz="1200" b="1" i="0" kern="1200" dirty="0">
                <a:solidFill>
                  <a:schemeClr val="tx1"/>
                </a:solidFill>
                <a:effectLst/>
                <a:latin typeface="+mn-lt"/>
                <a:ea typeface="+mn-ea"/>
                <a:cs typeface="+mn-cs"/>
              </a:rPr>
              <a:t>Q: How generalizable are these results beyond Waymo?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kinematic features we use — speed, acceleration, yaw rate — are universal to any tracked agent. The pipeline is dataset-agnostic. The specific thresholds and model weights would need retraining, but the methodology transfers directly. The sensor artifact finding (±31 rad/s at near-zero speed) may also appear in other datasets using the same heading derivative computation.</a:t>
            </a:r>
          </a:p>
          <a:p>
            <a:endParaRPr lang="en-US" dirty="0"/>
          </a:p>
        </p:txBody>
      </p:sp>
      <p:sp>
        <p:nvSpPr>
          <p:cNvPr id="4" name="Slide Number Placeholder 3">
            <a:extLst>
              <a:ext uri="{FF2B5EF4-FFF2-40B4-BE49-F238E27FC236}">
                <a16:creationId xmlns:a16="http://schemas.microsoft.com/office/drawing/2014/main" id="{DA603D53-DC03-F09A-2704-89A27E1D60E8}"/>
              </a:ext>
            </a:extLst>
          </p:cNvPr>
          <p:cNvSpPr>
            <a:spLocks noGrp="1"/>
          </p:cNvSpPr>
          <p:nvPr>
            <p:ph type="sldNum" sz="quarter" idx="5"/>
          </p:nvPr>
        </p:nvSpPr>
        <p:spPr/>
        <p:txBody>
          <a:bodyPr/>
          <a:lstStyle/>
          <a:p>
            <a:fld id="{B3F43537-14D9-9349-AA70-B1088F1298F1}" type="slidenum">
              <a:rPr lang="en-US" smtClean="0"/>
              <a:t>15</a:t>
            </a:fld>
            <a:endParaRPr lang="en-US"/>
          </a:p>
        </p:txBody>
      </p:sp>
    </p:spTree>
    <p:extLst>
      <p:ext uri="{BB962C8B-B14F-4D97-AF65-F5344CB8AC3E}">
        <p14:creationId xmlns:p14="http://schemas.microsoft.com/office/powerpoint/2010/main" val="1662718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B09E-98BE-7237-C650-7BE9BCD05A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BF2457-9A8C-0808-8110-DB4132630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9DEB88-4FE5-53CA-AB95-9B7ED10A947C}"/>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BECA79C0-058D-335E-A5A5-5C343EE9F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B0DDF-125C-3970-79A8-C6A669FEFFAE}"/>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813192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BF45-2E6F-C2DF-9128-C27CA30E1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902D9E-CD98-F7A6-ED64-30885FA32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D52E18-41DF-19F4-9252-3780B4CD3004}"/>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C9DF6EE9-E0FB-2808-D45C-212044622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AC7A7F-E089-0782-6DDE-FFFD3B09A1D3}"/>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296410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B125-D530-E4B1-0688-D66E7A7CC0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02A777-E0DE-9ED8-68EF-FEEC4C3BB5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67070D-761E-832D-EEC5-0BF9D8A62E31}"/>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C30A7405-6ED6-51D1-965D-2623B78433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1B47E-2EB4-A5F3-2FD9-E5F1B6455E8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87718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37CE-C52D-7189-3138-40D632BE3B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401763-E8C8-388F-4659-524F1AD00C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0F69A1-1785-A1B6-E1E8-3453B79CAE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3FDC1-3F23-C17E-11BE-E9BC30D8CD35}"/>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6" name="Footer Placeholder 5">
            <a:extLst>
              <a:ext uri="{FF2B5EF4-FFF2-40B4-BE49-F238E27FC236}">
                <a16:creationId xmlns:a16="http://schemas.microsoft.com/office/drawing/2014/main" id="{0A2D6F4B-71EB-181A-7B6B-B5CEA4580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4C3908-390B-4BF6-8359-B17D87C5A0C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36551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613C-22A0-79D8-D553-2D54A52FEF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F0AC1-51AC-DD5E-B50B-2C65436E2A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947A8A-35CB-C35A-7E6B-7E66939D7D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CE17D2-2437-C7FD-1803-2498AA8AD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D66E2D-A112-D4C3-A781-FFF6EEFD8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B1140-BFAB-C1A5-B099-18743E7962E8}"/>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8" name="Footer Placeholder 7">
            <a:extLst>
              <a:ext uri="{FF2B5EF4-FFF2-40B4-BE49-F238E27FC236}">
                <a16:creationId xmlns:a16="http://schemas.microsoft.com/office/drawing/2014/main" id="{B4276090-2264-A5FE-AE77-5F59DEDEFB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2F99E3-604C-1D76-8033-9CEDAB3BCBF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03174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2E60-F590-795F-1168-3B1FB410A4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CF5456-4850-C9B9-DC5F-6B1936CFA297}"/>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4" name="Footer Placeholder 3">
            <a:extLst>
              <a:ext uri="{FF2B5EF4-FFF2-40B4-BE49-F238E27FC236}">
                <a16:creationId xmlns:a16="http://schemas.microsoft.com/office/drawing/2014/main" id="{28F3DEBF-A9B1-D59D-2A8B-FF034A1E5A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F623AA-98CA-CAE0-41C7-81E575C23AF0}"/>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3020611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F820E3-CC12-EED2-9421-5E4C020C81CD}"/>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3" name="Footer Placeholder 2">
            <a:extLst>
              <a:ext uri="{FF2B5EF4-FFF2-40B4-BE49-F238E27FC236}">
                <a16:creationId xmlns:a16="http://schemas.microsoft.com/office/drawing/2014/main" id="{C439FFDB-F7F3-5DA2-302B-050722A0FE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0D29D5-C29E-0C53-0A99-139D69E76D4D}"/>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67334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501C6-2D22-BFC1-57FE-0C88D45ED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55AD63-5ABA-67BC-0A86-38F80ADB04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A2D2E-A338-6B53-4810-6EF71305C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51706-F9DF-05DF-96A6-263E46A14491}"/>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6" name="Footer Placeholder 5">
            <a:extLst>
              <a:ext uri="{FF2B5EF4-FFF2-40B4-BE49-F238E27FC236}">
                <a16:creationId xmlns:a16="http://schemas.microsoft.com/office/drawing/2014/main" id="{4C654930-40E2-750F-9E75-F718AD3187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9A3365-A431-49C1-4069-58DF83110742}"/>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3037081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8059-372B-9B3F-4105-38D6B0567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CC57F3-50E5-B02C-C8A7-703D506FC1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B873D6-10BC-BB43-4B44-5424E4745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57F46-F4FC-35FD-926A-E552B6BC48AB}"/>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6" name="Footer Placeholder 5">
            <a:extLst>
              <a:ext uri="{FF2B5EF4-FFF2-40B4-BE49-F238E27FC236}">
                <a16:creationId xmlns:a16="http://schemas.microsoft.com/office/drawing/2014/main" id="{A20CD297-2588-B98F-E475-88EA6EA037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9DA1A-FA31-6E69-E8AB-709FB655F4AD}"/>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75404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D8EC-7786-324E-9937-DF54BCE466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A0893F-76C4-706A-A8FA-B733F767CF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9E589-AE50-573A-B591-5440221C9155}"/>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55875C38-029D-9581-E38E-E663571A8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CE0E3-2609-5529-BC93-A984EFC46570}"/>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59946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73427B-72AF-196D-50D7-0279CB5463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33588F-FAFD-C13D-67D3-C0D097DC07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CA7BB7-F185-76E0-E133-4EE996B3C80E}"/>
              </a:ext>
            </a:extLst>
          </p:cNvPr>
          <p:cNvSpPr>
            <a:spLocks noGrp="1"/>
          </p:cNvSpPr>
          <p:nvPr>
            <p:ph type="dt" sz="half" idx="10"/>
          </p:nvPr>
        </p:nvSpPr>
        <p:spPr/>
        <p:txBody>
          <a:body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7E4100E5-49E4-F35C-FFA5-BCBC1E798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F1006-33FB-D1AC-BB7C-A6678FA40A76}"/>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670044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D7ECD3-DC2D-D39F-FF8B-0464977E1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2B8CD4-CC87-00BA-13A6-A3BF527C2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05476-213C-8634-0139-0AE90A0E1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D9423D-11F4-C548-8D9D-A6AEB1163E9F}" type="datetimeFigureOut">
              <a:rPr lang="en-US" smtClean="0"/>
              <a:t>4/11/26</a:t>
            </a:fld>
            <a:endParaRPr lang="en-US"/>
          </a:p>
        </p:txBody>
      </p:sp>
      <p:sp>
        <p:nvSpPr>
          <p:cNvPr id="5" name="Footer Placeholder 4">
            <a:extLst>
              <a:ext uri="{FF2B5EF4-FFF2-40B4-BE49-F238E27FC236}">
                <a16:creationId xmlns:a16="http://schemas.microsoft.com/office/drawing/2014/main" id="{4FAAEFFD-86F4-32F4-309E-3FA2A7260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62DB6D-1EC7-6978-82B1-A3821A831E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F5007F-7F64-6744-BF78-D45325ECE55E}" type="slidenum">
              <a:rPr lang="en-US" smtClean="0"/>
              <a:t>‹#›</a:t>
            </a:fld>
            <a:endParaRPr lang="en-US"/>
          </a:p>
        </p:txBody>
      </p:sp>
    </p:spTree>
    <p:extLst>
      <p:ext uri="{BB962C8B-B14F-4D97-AF65-F5344CB8AC3E}">
        <p14:creationId xmlns:p14="http://schemas.microsoft.com/office/powerpoint/2010/main" val="1546298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0AAD04C-E248-922E-F9B5-608FFDF7029F}"/>
              </a:ext>
            </a:extLst>
          </p:cNvPr>
          <p:cNvSpPr/>
          <p:nvPr/>
        </p:nvSpPr>
        <p:spPr>
          <a:xfrm rot="7324454">
            <a:off x="-2480422" y="1243536"/>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AEE4AA-D2CA-CB0C-01DE-666FE3459549}"/>
              </a:ext>
            </a:extLst>
          </p:cNvPr>
          <p:cNvSpPr>
            <a:spLocks noGrp="1"/>
          </p:cNvSpPr>
          <p:nvPr>
            <p:ph type="ctrTitle"/>
          </p:nvPr>
        </p:nvSpPr>
        <p:spPr>
          <a:xfrm>
            <a:off x="680852" y="1599521"/>
            <a:ext cx="8154390" cy="2548246"/>
          </a:xfrm>
        </p:spPr>
        <p:txBody>
          <a:bodyPr>
            <a:noAutofit/>
          </a:bodyPr>
          <a:lstStyle/>
          <a:p>
            <a:pPr algn="l"/>
            <a:r>
              <a:rPr lang="en-US" sz="4500" b="1" dirty="0">
                <a:latin typeface="GT Walsheim Trial Rg" pitchFamily="2" charset="77"/>
              </a:rPr>
              <a:t>Unsupervised Statistical Learning </a:t>
            </a:r>
            <a:r>
              <a:rPr lang="en-US" sz="4500" dirty="0">
                <a:latin typeface="GT Walsheim Trial Rg" pitchFamily="2" charset="77"/>
              </a:rPr>
              <a:t>for Kinematic Anomaly Detection in Autonomous Driving Scenarios</a:t>
            </a:r>
          </a:p>
        </p:txBody>
      </p:sp>
      <p:pic>
        <p:nvPicPr>
          <p:cNvPr id="1026" name="Picture 2" descr="Waymo Logo">
            <a:extLst>
              <a:ext uri="{FF2B5EF4-FFF2-40B4-BE49-F238E27FC236}">
                <a16:creationId xmlns:a16="http://schemas.microsoft.com/office/drawing/2014/main" id="{E05DD438-99CC-9720-EA36-5A9433528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AEB3031-73B3-1280-82F5-25B36391EA35}"/>
              </a:ext>
            </a:extLst>
          </p:cNvPr>
          <p:cNvSpPr txBox="1">
            <a:spLocks/>
          </p:cNvSpPr>
          <p:nvPr/>
        </p:nvSpPr>
        <p:spPr>
          <a:xfrm>
            <a:off x="785750" y="4837123"/>
            <a:ext cx="7716982" cy="14070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latin typeface="GT Walsheim Trial Lt" pitchFamily="2" charset="77"/>
              </a:rPr>
              <a:t>Pavel Stepanov</a:t>
            </a:r>
          </a:p>
          <a:p>
            <a:pPr algn="l"/>
            <a:r>
              <a:rPr lang="en-US" sz="1500" dirty="0">
                <a:latin typeface="GT Walsheim Trial Lt" pitchFamily="2" charset="77"/>
              </a:rPr>
              <a:t>Ramses </a:t>
            </a:r>
            <a:r>
              <a:rPr lang="en-US" sz="1500" dirty="0" err="1">
                <a:latin typeface="GT Walsheim Trial Lt" pitchFamily="2" charset="77"/>
              </a:rPr>
              <a:t>Loaces</a:t>
            </a:r>
            <a:endParaRPr lang="en-US" sz="1500" dirty="0">
              <a:latin typeface="GT Walsheim Trial Lt" pitchFamily="2" charset="77"/>
            </a:endParaRPr>
          </a:p>
          <a:p>
            <a:pPr algn="l"/>
            <a:r>
              <a:rPr lang="en-US" sz="1500" dirty="0">
                <a:latin typeface="GT Walsheim Trial Lt" pitchFamily="2" charset="77"/>
              </a:rPr>
              <a:t>Justin Cabrera</a:t>
            </a:r>
          </a:p>
          <a:p>
            <a:pPr algn="l"/>
            <a:endParaRPr lang="en-US" sz="1500" dirty="0">
              <a:latin typeface="GT Walsheim Trial Lt" pitchFamily="2" charset="77"/>
            </a:endParaRPr>
          </a:p>
          <a:p>
            <a:pPr algn="l"/>
            <a:r>
              <a:rPr lang="en-US" sz="1500" b="1" dirty="0">
                <a:latin typeface="GT Walsheim Trial Lt" pitchFamily="2" charset="77"/>
              </a:rPr>
              <a:t>Department of Computer Science University of Miami </a:t>
            </a:r>
          </a:p>
          <a:p>
            <a:pPr algn="l"/>
            <a:r>
              <a:rPr lang="en-US" sz="1500" dirty="0">
                <a:latin typeface="GT Walsheim Trial Lt" pitchFamily="2" charset="77"/>
              </a:rPr>
              <a:t>CSC 642 · Spring 2026</a:t>
            </a:r>
          </a:p>
        </p:txBody>
      </p:sp>
      <p:sp>
        <p:nvSpPr>
          <p:cNvPr id="7" name="Title 3">
            <a:extLst>
              <a:ext uri="{FF2B5EF4-FFF2-40B4-BE49-F238E27FC236}">
                <a16:creationId xmlns:a16="http://schemas.microsoft.com/office/drawing/2014/main" id="{72DA9D78-DF8C-0660-96D9-51D808F0ED00}"/>
              </a:ext>
            </a:extLst>
          </p:cNvPr>
          <p:cNvSpPr txBox="1">
            <a:spLocks/>
          </p:cNvSpPr>
          <p:nvPr/>
        </p:nvSpPr>
        <p:spPr>
          <a:xfrm>
            <a:off x="716478" y="447821"/>
            <a:ext cx="2406732" cy="3693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solidFill>
                  <a:srgbClr val="989DA2"/>
                </a:solidFill>
                <a:latin typeface="GT Walsheim Trial Rg" pitchFamily="2" charset="77"/>
              </a:rPr>
              <a:t>INTRO</a:t>
            </a:r>
          </a:p>
        </p:txBody>
      </p:sp>
      <p:pic>
        <p:nvPicPr>
          <p:cNvPr id="5" name="Picture 4">
            <a:extLst>
              <a:ext uri="{FF2B5EF4-FFF2-40B4-BE49-F238E27FC236}">
                <a16:creationId xmlns:a16="http://schemas.microsoft.com/office/drawing/2014/main" id="{B77B8B92-ED80-FBD4-B3FE-B0A9FED4E325}"/>
              </a:ext>
            </a:extLst>
          </p:cNvPr>
          <p:cNvPicPr>
            <a:picLocks noChangeAspect="1"/>
          </p:cNvPicPr>
          <p:nvPr/>
        </p:nvPicPr>
        <p:blipFill>
          <a:blip r:embed="rId4"/>
          <a:stretch>
            <a:fillRect/>
          </a:stretch>
        </p:blipFill>
        <p:spPr>
          <a:xfrm>
            <a:off x="8271717" y="2134183"/>
            <a:ext cx="5047322" cy="5591901"/>
          </a:xfrm>
          <a:prstGeom prst="rect">
            <a:avLst/>
          </a:prstGeom>
        </p:spPr>
      </p:pic>
    </p:spTree>
    <p:extLst>
      <p:ext uri="{BB962C8B-B14F-4D97-AF65-F5344CB8AC3E}">
        <p14:creationId xmlns:p14="http://schemas.microsoft.com/office/powerpoint/2010/main" val="3542837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AEB97-5D45-A841-4EFF-CDAAC0B95EF5}"/>
            </a:ext>
          </a:extLst>
        </p:cNvPr>
        <p:cNvGrpSpPr/>
        <p:nvPr/>
      </p:nvGrpSpPr>
      <p:grpSpPr>
        <a:xfrm>
          <a:off x="0" y="0"/>
          <a:ext cx="0" cy="0"/>
          <a:chOff x="0" y="0"/>
          <a:chExt cx="0" cy="0"/>
        </a:xfrm>
      </p:grpSpPr>
      <p:pic>
        <p:nvPicPr>
          <p:cNvPr id="1026" name="Picture 2" descr="Waymo Logo">
            <a:extLst>
              <a:ext uri="{FF2B5EF4-FFF2-40B4-BE49-F238E27FC236}">
                <a16:creationId xmlns:a16="http://schemas.microsoft.com/office/drawing/2014/main" id="{6B73BB8B-7F6B-CD32-507F-968351976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5E77092-C168-5E0F-86BD-4C92F2357D03}"/>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PROBLEM</a:t>
            </a:r>
          </a:p>
        </p:txBody>
      </p:sp>
      <p:pic>
        <p:nvPicPr>
          <p:cNvPr id="2052" name="Picture 4">
            <a:extLst>
              <a:ext uri="{FF2B5EF4-FFF2-40B4-BE49-F238E27FC236}">
                <a16:creationId xmlns:a16="http://schemas.microsoft.com/office/drawing/2014/main" id="{E4C636A6-82AD-B33D-61A0-3A8D8F6B18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0436" y="4880918"/>
            <a:ext cx="3721564" cy="19770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A3918D-B312-8466-1504-C777366DF7C8}"/>
              </a:ext>
            </a:extLst>
          </p:cNvPr>
          <p:cNvSpPr txBox="1"/>
          <p:nvPr/>
        </p:nvSpPr>
        <p:spPr>
          <a:xfrm>
            <a:off x="716478" y="952090"/>
            <a:ext cx="6097978" cy="1169551"/>
          </a:xfrm>
          <a:prstGeom prst="rect">
            <a:avLst/>
          </a:prstGeom>
          <a:noFill/>
        </p:spPr>
        <p:txBody>
          <a:bodyPr wrap="square">
            <a:spAutoFit/>
          </a:bodyPr>
          <a:lstStyle/>
          <a:p>
            <a:r>
              <a:rPr lang="en-US" sz="3500" dirty="0">
                <a:latin typeface="GT Walsheim Trial Rg" pitchFamily="2" charset="77"/>
              </a:rPr>
              <a:t>The Long-Tail Problem in Autonomous Driving</a:t>
            </a:r>
          </a:p>
        </p:txBody>
      </p:sp>
      <p:sp>
        <p:nvSpPr>
          <p:cNvPr id="2" name="TextBox 1">
            <a:extLst>
              <a:ext uri="{FF2B5EF4-FFF2-40B4-BE49-F238E27FC236}">
                <a16:creationId xmlns:a16="http://schemas.microsoft.com/office/drawing/2014/main" id="{838A964F-48F4-B4E1-E1B0-BD8449744408}"/>
              </a:ext>
            </a:extLst>
          </p:cNvPr>
          <p:cNvSpPr txBox="1"/>
          <p:nvPr/>
        </p:nvSpPr>
        <p:spPr>
          <a:xfrm>
            <a:off x="868878" y="2567473"/>
            <a:ext cx="6196386" cy="3170099"/>
          </a:xfrm>
          <a:prstGeom prst="rect">
            <a:avLst/>
          </a:prstGeom>
          <a:noFill/>
        </p:spPr>
        <p:txBody>
          <a:bodyPr wrap="square">
            <a:spAutoFit/>
          </a:bodyPr>
          <a:lstStyle/>
          <a:p>
            <a:r>
              <a:rPr lang="en-US" sz="2000" dirty="0">
                <a:latin typeface="GT Walsheim Trial Th" pitchFamily="2" charset="77"/>
              </a:rPr>
              <a:t>Most driving is routine and predictable.</a:t>
            </a:r>
          </a:p>
          <a:p>
            <a:endParaRPr lang="en-US" sz="2000" dirty="0">
              <a:latin typeface="GT Walsheim Trial Th" pitchFamily="2" charset="77"/>
            </a:endParaRPr>
          </a:p>
          <a:p>
            <a:r>
              <a:rPr lang="en-US" sz="2000" dirty="0">
                <a:latin typeface="GT Walsheim Trial Th" pitchFamily="2" charset="77"/>
              </a:rPr>
              <a:t>Safety-critical events are rare but risky:</a:t>
            </a:r>
          </a:p>
          <a:p>
            <a:endParaRPr lang="en-US" sz="2000" dirty="0">
              <a:latin typeface="GT Walsheim Trial Th" pitchFamily="2" charset="77"/>
            </a:endParaRPr>
          </a:p>
          <a:p>
            <a:r>
              <a:rPr lang="en-US" sz="2000" dirty="0">
                <a:latin typeface="GT Walsheim Trial Th" pitchFamily="2" charset="77"/>
              </a:rPr>
              <a:t>* Sudden braking or acceleration</a:t>
            </a:r>
          </a:p>
          <a:p>
            <a:r>
              <a:rPr lang="en-US" sz="2000" dirty="0">
                <a:latin typeface="GT Walsheim Trial Th" pitchFamily="2" charset="77"/>
              </a:rPr>
              <a:t>* Jaywalking pedestrians</a:t>
            </a:r>
          </a:p>
          <a:p>
            <a:r>
              <a:rPr lang="en-US" sz="2000" dirty="0">
                <a:latin typeface="GT Walsheim Trial Th" pitchFamily="2" charset="77"/>
              </a:rPr>
              <a:t>* Near-misses</a:t>
            </a:r>
          </a:p>
          <a:p>
            <a:endParaRPr lang="en-US" sz="2000" dirty="0">
              <a:latin typeface="GT Walsheim Trial Th" pitchFamily="2" charset="77"/>
            </a:endParaRPr>
          </a:p>
          <a:p>
            <a:r>
              <a:rPr lang="en-US" sz="2000" dirty="0">
                <a:latin typeface="GT Walsheim Trial Th" pitchFamily="2" charset="77"/>
              </a:rPr>
              <a:t>Anomaly data is scarce, and “danger” depends on context.</a:t>
            </a:r>
          </a:p>
        </p:txBody>
      </p:sp>
      <p:sp>
        <p:nvSpPr>
          <p:cNvPr id="3" name="Freeform 2">
            <a:extLst>
              <a:ext uri="{FF2B5EF4-FFF2-40B4-BE49-F238E27FC236}">
                <a16:creationId xmlns:a16="http://schemas.microsoft.com/office/drawing/2014/main" id="{FFF5F632-AB2B-5851-4C9F-220142F83551}"/>
              </a:ext>
            </a:extLst>
          </p:cNvPr>
          <p:cNvSpPr/>
          <p:nvPr/>
        </p:nvSpPr>
        <p:spPr>
          <a:xfrm rot="19378475">
            <a:off x="-4581419" y="96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83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7435626-9967-90C4-BA6C-EEE07BEC825E}"/>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2D7D061C-6FCC-F08D-4061-3B26691D1FFF}"/>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2B538EF2-B772-6D93-57AA-3A176BBD0D72}"/>
              </a:ext>
            </a:extLst>
          </p:cNvPr>
          <p:cNvGraphicFramePr>
            <a:graphicFrameLocks noGrp="1"/>
          </p:cNvGraphicFramePr>
          <p:nvPr>
            <p:extLst>
              <p:ext uri="{D42A27DB-BD31-4B8C-83A1-F6EECF244321}">
                <p14:modId xmlns:p14="http://schemas.microsoft.com/office/powerpoint/2010/main" val="2528568666"/>
              </p:ext>
            </p:extLst>
          </p:nvPr>
        </p:nvGraphicFramePr>
        <p:xfrm>
          <a:off x="786384" y="3382466"/>
          <a:ext cx="10806444" cy="2348534"/>
        </p:xfrm>
        <a:graphic>
          <a:graphicData uri="http://schemas.openxmlformats.org/drawingml/2006/table">
            <a:tbl>
              <a:tblPr firstRow="1" bandRow="1">
                <a:tableStyleId>{073A0DAA-6AF3-43AB-8588-CEC1D06C72B9}</a:tableStyleId>
              </a:tblPr>
              <a:tblGrid>
                <a:gridCol w="5550583">
                  <a:extLst>
                    <a:ext uri="{9D8B030D-6E8A-4147-A177-3AD203B41FA5}">
                      <a16:colId xmlns:a16="http://schemas.microsoft.com/office/drawing/2014/main" val="1610543496"/>
                    </a:ext>
                  </a:extLst>
                </a:gridCol>
                <a:gridCol w="5255861">
                  <a:extLst>
                    <a:ext uri="{9D8B030D-6E8A-4147-A177-3AD203B41FA5}">
                      <a16:colId xmlns:a16="http://schemas.microsoft.com/office/drawing/2014/main" val="2940384537"/>
                    </a:ext>
                  </a:extLst>
                </a:gridCol>
              </a:tblGrid>
              <a:tr h="650040">
                <a:tc>
                  <a:txBody>
                    <a:bodyPr/>
                    <a:lstStyle/>
                    <a:p>
                      <a:r>
                        <a:rPr lang="en-US" sz="2500" b="0" i="0" dirty="0">
                          <a:solidFill>
                            <a:schemeClr val="bg1"/>
                          </a:solidFill>
                          <a:latin typeface="GT Walsheim Trial Rg" pitchFamily="2" charset="77"/>
                        </a:rPr>
                        <a:t>Goal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i="0" dirty="0">
                          <a:solidFill>
                            <a:schemeClr val="bg1"/>
                          </a:solidFill>
                          <a:latin typeface="GT Walsheim Trial Rg" pitchFamily="2" charset="77"/>
                        </a:rPr>
                        <a:t>Goal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1698494">
                <a:tc>
                  <a:txBody>
                    <a:bodyPr/>
                    <a:lstStyle/>
                    <a:p>
                      <a:r>
                        <a:rPr lang="en-US" sz="2500" b="0" dirty="0">
                          <a:solidFill>
                            <a:schemeClr val="bg1"/>
                          </a:solidFill>
                        </a:rPr>
                        <a:t>Detect anomalous agents from kinematics alone — no labels</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dirty="0">
                          <a:solidFill>
                            <a:schemeClr val="bg1"/>
                          </a:solidFill>
                        </a:rPr>
                        <a:t>Predict 5-second future displacement from current kinematic state</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152326013"/>
                  </a:ext>
                </a:extLst>
              </a:tr>
            </a:tbl>
          </a:graphicData>
        </a:graphic>
      </p:graphicFrame>
      <p:pic>
        <p:nvPicPr>
          <p:cNvPr id="4102" name="Picture 6" descr="Our Trademarks">
            <a:extLst>
              <a:ext uri="{FF2B5EF4-FFF2-40B4-BE49-F238E27FC236}">
                <a16:creationId xmlns:a16="http://schemas.microsoft.com/office/drawing/2014/main" id="{4C86D87E-65A4-3B6A-7810-E59734111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5A8E7D96-496D-CBB3-6118-7D000C06BDA2}"/>
              </a:ext>
            </a:extLst>
          </p:cNvPr>
          <p:cNvSpPr>
            <a:spLocks noGrp="1"/>
          </p:cNvSpPr>
          <p:nvPr>
            <p:ph type="ctrTitle"/>
          </p:nvPr>
        </p:nvSpPr>
        <p:spPr>
          <a:xfrm>
            <a:off x="716478" y="447821"/>
            <a:ext cx="2406732" cy="369333"/>
          </a:xfrm>
        </p:spPr>
        <p:txBody>
          <a:bodyPr>
            <a:normAutofit/>
          </a:bodyPr>
          <a:lstStyle/>
          <a:p>
            <a:pPr algn="l"/>
            <a:r>
              <a:rPr lang="en-US" sz="1500" dirty="0">
                <a:solidFill>
                  <a:schemeClr val="bg1">
                    <a:lumMod val="50000"/>
                  </a:schemeClr>
                </a:solidFill>
                <a:latin typeface="GT Walsheim Trial Rg" pitchFamily="2" charset="77"/>
              </a:rPr>
              <a:t>MOTIVATION</a:t>
            </a:r>
          </a:p>
        </p:txBody>
      </p:sp>
      <p:sp>
        <p:nvSpPr>
          <p:cNvPr id="9" name="TextBox 8">
            <a:extLst>
              <a:ext uri="{FF2B5EF4-FFF2-40B4-BE49-F238E27FC236}">
                <a16:creationId xmlns:a16="http://schemas.microsoft.com/office/drawing/2014/main" id="{E046777D-25C7-5B43-733F-E04B67AF23CB}"/>
              </a:ext>
            </a:extLst>
          </p:cNvPr>
          <p:cNvSpPr txBox="1"/>
          <p:nvPr/>
        </p:nvSpPr>
        <p:spPr>
          <a:xfrm>
            <a:off x="716477" y="2268582"/>
            <a:ext cx="6419437" cy="707886"/>
          </a:xfrm>
          <a:prstGeom prst="rect">
            <a:avLst/>
          </a:prstGeom>
          <a:noFill/>
        </p:spPr>
        <p:txBody>
          <a:bodyPr wrap="square">
            <a:spAutoFit/>
          </a:bodyPr>
          <a:lstStyle/>
          <a:p>
            <a:r>
              <a:rPr lang="en-US" sz="2000" dirty="0">
                <a:solidFill>
                  <a:schemeClr val="bg1"/>
                </a:solidFill>
                <a:latin typeface="GT Walsheim Trial Lt" pitchFamily="2" charset="77"/>
              </a:rPr>
              <a:t>Unsupervised learning lets the data define normal — and flags what falls outside.</a:t>
            </a:r>
          </a:p>
        </p:txBody>
      </p:sp>
      <p:grpSp>
        <p:nvGrpSpPr>
          <p:cNvPr id="11" name="Group 10">
            <a:extLst>
              <a:ext uri="{FF2B5EF4-FFF2-40B4-BE49-F238E27FC236}">
                <a16:creationId xmlns:a16="http://schemas.microsoft.com/office/drawing/2014/main" id="{9954336C-71C6-F898-E339-0C59351E3331}"/>
              </a:ext>
            </a:extLst>
          </p:cNvPr>
          <p:cNvGrpSpPr/>
          <p:nvPr/>
        </p:nvGrpSpPr>
        <p:grpSpPr>
          <a:xfrm>
            <a:off x="786383" y="5561837"/>
            <a:ext cx="10806445" cy="848342"/>
            <a:chOff x="-6677360" y="5718464"/>
            <a:chExt cx="10876352" cy="848342"/>
          </a:xfrm>
        </p:grpSpPr>
        <p:sp>
          <p:nvSpPr>
            <p:cNvPr id="13" name="Rectangle 12">
              <a:extLst>
                <a:ext uri="{FF2B5EF4-FFF2-40B4-BE49-F238E27FC236}">
                  <a16:creationId xmlns:a16="http://schemas.microsoft.com/office/drawing/2014/main" id="{BB51C987-572B-CC5E-A99A-C9F2E5407627}"/>
                </a:ext>
              </a:extLst>
            </p:cNvPr>
            <p:cNvSpPr/>
            <p:nvPr/>
          </p:nvSpPr>
          <p:spPr>
            <a:xfrm>
              <a:off x="-583868" y="6039291"/>
              <a:ext cx="4782860" cy="448593"/>
            </a:xfrm>
            <a:prstGeom prst="rect">
              <a:avLst/>
            </a:prstGeom>
            <a:solidFill>
              <a:srgbClr val="02E8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8BBA2C4-5ED3-5B90-FB16-91F9F60914F2}"/>
                </a:ext>
              </a:extLst>
            </p:cNvPr>
            <p:cNvSpPr/>
            <p:nvPr/>
          </p:nvSpPr>
          <p:spPr>
            <a:xfrm>
              <a:off x="-6677360" y="6039291"/>
              <a:ext cx="5546317" cy="44859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2B2C8A67-6173-BDFC-CC77-AC0873EC9F5C}"/>
                </a:ext>
              </a:extLst>
            </p:cNvPr>
            <p:cNvPicPr>
              <a:picLocks noChangeAspect="1"/>
            </p:cNvPicPr>
            <p:nvPr/>
          </p:nvPicPr>
          <p:blipFill>
            <a:blip r:embed="rId4"/>
            <a:stretch>
              <a:fillRect/>
            </a:stretch>
          </p:blipFill>
          <p:spPr>
            <a:xfrm>
              <a:off x="-1678214" y="5718464"/>
              <a:ext cx="1391461" cy="848342"/>
            </a:xfrm>
            <a:prstGeom prst="rect">
              <a:avLst/>
            </a:prstGeom>
          </p:spPr>
        </p:pic>
      </p:grpSp>
      <p:sp>
        <p:nvSpPr>
          <p:cNvPr id="19" name="TextBox 18">
            <a:extLst>
              <a:ext uri="{FF2B5EF4-FFF2-40B4-BE49-F238E27FC236}">
                <a16:creationId xmlns:a16="http://schemas.microsoft.com/office/drawing/2014/main" id="{E30F2CB9-37A7-B97A-9790-30EA278CDFC2}"/>
              </a:ext>
            </a:extLst>
          </p:cNvPr>
          <p:cNvSpPr txBox="1"/>
          <p:nvPr/>
        </p:nvSpPr>
        <p:spPr>
          <a:xfrm>
            <a:off x="12034157" y="3624943"/>
            <a:ext cx="184731" cy="369332"/>
          </a:xfrm>
          <a:prstGeom prst="rect">
            <a:avLst/>
          </a:prstGeom>
          <a:noFill/>
        </p:spPr>
        <p:txBody>
          <a:bodyPr wrap="none" rtlCol="0">
            <a:spAutoFit/>
          </a:bodyPr>
          <a:lstStyle/>
          <a:p>
            <a:endParaRPr lang="en-US" dirty="0"/>
          </a:p>
        </p:txBody>
      </p:sp>
      <p:sp>
        <p:nvSpPr>
          <p:cNvPr id="20" name="TextBox 19">
            <a:extLst>
              <a:ext uri="{FF2B5EF4-FFF2-40B4-BE49-F238E27FC236}">
                <a16:creationId xmlns:a16="http://schemas.microsoft.com/office/drawing/2014/main" id="{524598DF-A7B7-722C-E6DE-E958717DAE2C}"/>
              </a:ext>
            </a:extLst>
          </p:cNvPr>
          <p:cNvSpPr txBox="1"/>
          <p:nvPr/>
        </p:nvSpPr>
        <p:spPr>
          <a:xfrm>
            <a:off x="716478" y="952090"/>
            <a:ext cx="6097978" cy="1169551"/>
          </a:xfrm>
          <a:prstGeom prst="rect">
            <a:avLst/>
          </a:prstGeom>
          <a:noFill/>
        </p:spPr>
        <p:txBody>
          <a:bodyPr wrap="square">
            <a:spAutoFit/>
          </a:bodyPr>
          <a:lstStyle/>
          <a:p>
            <a:r>
              <a:rPr lang="en-US" sz="3500" dirty="0">
                <a:solidFill>
                  <a:schemeClr val="bg1"/>
                </a:solidFill>
                <a:latin typeface="GT Walsheim Trial Rg" pitchFamily="2" charset="77"/>
              </a:rPr>
              <a:t>The Long-Tail Problem in Autonomous Driving</a:t>
            </a:r>
          </a:p>
        </p:txBody>
      </p:sp>
    </p:spTree>
    <p:extLst>
      <p:ext uri="{BB962C8B-B14F-4D97-AF65-F5344CB8AC3E}">
        <p14:creationId xmlns:p14="http://schemas.microsoft.com/office/powerpoint/2010/main" val="37105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216D-B759-7121-1A50-BB44BAEF58BD}"/>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568FC75A-02FA-BB25-0851-770322A46375}"/>
              </a:ext>
            </a:extLst>
          </p:cNvPr>
          <p:cNvSpPr/>
          <p:nvPr/>
        </p:nvSpPr>
        <p:spPr>
          <a:xfrm rot="7893553">
            <a:off x="-1472354" y="-459379"/>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BF12FDF6-6561-91B6-CD70-422746B6B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B762FE4-49BE-E4AA-E327-33235A9320E4}"/>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RELATED WORK</a:t>
            </a:r>
          </a:p>
        </p:txBody>
      </p:sp>
      <p:sp>
        <p:nvSpPr>
          <p:cNvPr id="8" name="TextBox 7">
            <a:extLst>
              <a:ext uri="{FF2B5EF4-FFF2-40B4-BE49-F238E27FC236}">
                <a16:creationId xmlns:a16="http://schemas.microsoft.com/office/drawing/2014/main" id="{96EB75F2-8ED4-9142-7F47-88F132F05E9C}"/>
              </a:ext>
            </a:extLst>
          </p:cNvPr>
          <p:cNvSpPr txBox="1"/>
          <p:nvPr/>
        </p:nvSpPr>
        <p:spPr>
          <a:xfrm>
            <a:off x="716478" y="952090"/>
            <a:ext cx="6097978" cy="630942"/>
          </a:xfrm>
          <a:prstGeom prst="rect">
            <a:avLst/>
          </a:prstGeom>
          <a:noFill/>
        </p:spPr>
        <p:txBody>
          <a:bodyPr wrap="square">
            <a:spAutoFit/>
          </a:bodyPr>
          <a:lstStyle/>
          <a:p>
            <a:r>
              <a:rPr lang="en-US" sz="3500" dirty="0">
                <a:latin typeface="GT Walsheim Trial Rg" pitchFamily="2" charset="77"/>
              </a:rPr>
              <a:t>Where This Work Fits</a:t>
            </a:r>
          </a:p>
        </p:txBody>
      </p:sp>
      <p:graphicFrame>
        <p:nvGraphicFramePr>
          <p:cNvPr id="5" name="Table 4">
            <a:extLst>
              <a:ext uri="{FF2B5EF4-FFF2-40B4-BE49-F238E27FC236}">
                <a16:creationId xmlns:a16="http://schemas.microsoft.com/office/drawing/2014/main" id="{F34FDD3D-19EC-317A-14E1-D28EE4554BAB}"/>
              </a:ext>
            </a:extLst>
          </p:cNvPr>
          <p:cNvGraphicFramePr>
            <a:graphicFrameLocks noGrp="1"/>
          </p:cNvGraphicFramePr>
          <p:nvPr>
            <p:extLst>
              <p:ext uri="{D42A27DB-BD31-4B8C-83A1-F6EECF244321}">
                <p14:modId xmlns:p14="http://schemas.microsoft.com/office/powerpoint/2010/main" val="4073808013"/>
              </p:ext>
            </p:extLst>
          </p:nvPr>
        </p:nvGraphicFramePr>
        <p:xfrm>
          <a:off x="771836" y="1717968"/>
          <a:ext cx="10806445" cy="3456510"/>
        </p:xfrm>
        <a:graphic>
          <a:graphicData uri="http://schemas.openxmlformats.org/drawingml/2006/table">
            <a:tbl>
              <a:tblPr firstRow="1" bandRow="1">
                <a:tableStyleId>{073A0DAA-6AF3-43AB-8588-CEC1D06C72B9}</a:tableStyleId>
              </a:tblPr>
              <a:tblGrid>
                <a:gridCol w="1706321">
                  <a:extLst>
                    <a:ext uri="{9D8B030D-6E8A-4147-A177-3AD203B41FA5}">
                      <a16:colId xmlns:a16="http://schemas.microsoft.com/office/drawing/2014/main" val="1610543496"/>
                    </a:ext>
                  </a:extLst>
                </a:gridCol>
                <a:gridCol w="2649582">
                  <a:extLst>
                    <a:ext uri="{9D8B030D-6E8A-4147-A177-3AD203B41FA5}">
                      <a16:colId xmlns:a16="http://schemas.microsoft.com/office/drawing/2014/main" val="2940384537"/>
                    </a:ext>
                  </a:extLst>
                </a:gridCol>
                <a:gridCol w="3225271">
                  <a:extLst>
                    <a:ext uri="{9D8B030D-6E8A-4147-A177-3AD203B41FA5}">
                      <a16:colId xmlns:a16="http://schemas.microsoft.com/office/drawing/2014/main" val="3740313691"/>
                    </a:ext>
                  </a:extLst>
                </a:gridCol>
                <a:gridCol w="3225271">
                  <a:extLst>
                    <a:ext uri="{9D8B030D-6E8A-4147-A177-3AD203B41FA5}">
                      <a16:colId xmlns:a16="http://schemas.microsoft.com/office/drawing/2014/main" val="928774917"/>
                    </a:ext>
                  </a:extLst>
                </a:gridCol>
              </a:tblGrid>
              <a:tr h="307273">
                <a:tc>
                  <a:txBody>
                    <a:bodyPr/>
                    <a:lstStyle/>
                    <a:p>
                      <a:r>
                        <a:rPr lang="en-US" sz="1500" b="0" i="0" dirty="0">
                          <a:solidFill>
                            <a:schemeClr val="bg1"/>
                          </a:solidFill>
                          <a:latin typeface="GT Walsheim Trial Rg" pitchFamily="2" charset="77"/>
                        </a:rPr>
                        <a:t>Method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Strength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Limitation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627294">
                <a:tc>
                  <a:txBody>
                    <a:bodyPr/>
                    <a:lstStyle/>
                    <a:p>
                      <a:r>
                        <a:rPr lang="en-US" sz="1500" b="0" i="0" dirty="0">
                          <a:solidFill>
                            <a:schemeClr val="tx1"/>
                          </a:solidFill>
                          <a:latin typeface="GT Walsheim Trial Rg" pitchFamily="2" charset="77"/>
                        </a:rPr>
                        <a:t>Kalman Filter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Classical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Interpretable, fast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Linear dynamics only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627294">
                <a:tc>
                  <a:txBody>
                    <a:bodyPr/>
                    <a:lstStyle/>
                    <a:p>
                      <a:r>
                        <a:rPr lang="en-US" sz="1500" b="0" i="0" dirty="0">
                          <a:solidFill>
                            <a:schemeClr val="tx1"/>
                          </a:solidFill>
                          <a:latin typeface="GT Walsheim Trial Rg" pitchFamily="2" charset="77"/>
                        </a:rPr>
                        <a:t>LSTM / GRU</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Deep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Captures sequences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Needs large labeled data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627294">
                <a:tc>
                  <a:txBody>
                    <a:bodyPr/>
                    <a:lstStyle/>
                    <a:p>
                      <a:r>
                        <a:rPr lang="en-US" sz="1500" b="0" i="0" dirty="0">
                          <a:solidFill>
                            <a:schemeClr val="tx1"/>
                          </a:solidFill>
                          <a:latin typeface="GT Walsheim Trial Rg" pitchFamily="2" charset="77"/>
                        </a:rPr>
                        <a:t>Transformer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Deep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State-of-the-art accuracy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Black box, expensive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r h="627294">
                <a:tc>
                  <a:txBody>
                    <a:bodyPr/>
                    <a:lstStyle/>
                    <a:p>
                      <a:r>
                        <a:rPr lang="en-US" sz="1500" b="0" i="0" dirty="0">
                          <a:solidFill>
                            <a:schemeClr val="tx1"/>
                          </a:solidFill>
                          <a:latin typeface="GT Walsheim Trial Rg" pitchFamily="2" charset="77"/>
                        </a:rPr>
                        <a:t>One-Class SVM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Unsupervised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No labels needed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Kernel tuning sensitive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62120210"/>
                  </a:ext>
                </a:extLst>
              </a:tr>
              <a:tr h="627294">
                <a:tc>
                  <a:txBody>
                    <a:bodyPr/>
                    <a:lstStyle/>
                    <a:p>
                      <a:r>
                        <a:rPr lang="en-US" sz="1500" b="0" i="0" dirty="0">
                          <a:solidFill>
                            <a:schemeClr val="tx1"/>
                          </a:solidFill>
                          <a:latin typeface="GT Walsheim Trial Rg" pitchFamily="2" charset="77"/>
                        </a:rPr>
                        <a:t>Isolation Forest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Unsupervised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Scalable, minimal assumptions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No temporal context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2557333310"/>
                  </a:ext>
                </a:extLst>
              </a:tr>
            </a:tbl>
          </a:graphicData>
        </a:graphic>
      </p:graphicFrame>
      <p:sp>
        <p:nvSpPr>
          <p:cNvPr id="6" name="TextBox 5">
            <a:extLst>
              <a:ext uri="{FF2B5EF4-FFF2-40B4-BE49-F238E27FC236}">
                <a16:creationId xmlns:a16="http://schemas.microsoft.com/office/drawing/2014/main" id="{2A360C83-E23A-CC4E-2E57-6A4AB55E65DB}"/>
              </a:ext>
            </a:extLst>
          </p:cNvPr>
          <p:cNvSpPr txBox="1"/>
          <p:nvPr/>
        </p:nvSpPr>
        <p:spPr>
          <a:xfrm>
            <a:off x="716478" y="5536139"/>
            <a:ext cx="7623957" cy="784830"/>
          </a:xfrm>
          <a:prstGeom prst="rect">
            <a:avLst/>
          </a:prstGeom>
          <a:noFill/>
        </p:spPr>
        <p:txBody>
          <a:bodyPr wrap="square">
            <a:spAutoFit/>
          </a:bodyPr>
          <a:lstStyle/>
          <a:p>
            <a:r>
              <a:rPr lang="en-US" sz="1500" dirty="0">
                <a:latin typeface="GT Walsheim Trial Lt" pitchFamily="2" charset="77"/>
              </a:rPr>
              <a:t>Prior work on WOMD focuses on deep learning prediction.</a:t>
            </a:r>
          </a:p>
          <a:p>
            <a:r>
              <a:rPr lang="en-US" sz="1500" b="1" dirty="0">
                <a:latin typeface="GT Walsheim Trial Bd" pitchFamily="2" charset="77"/>
              </a:rPr>
              <a:t>Classical statistical baselines over the full agent population remain unexplored.</a:t>
            </a:r>
          </a:p>
          <a:p>
            <a:r>
              <a:rPr lang="en-US" sz="1500" dirty="0">
                <a:latin typeface="GT Walsheim Trial Lt" pitchFamily="2" charset="77"/>
              </a:rPr>
              <a:t>This work fills that gap.</a:t>
            </a:r>
          </a:p>
        </p:txBody>
      </p:sp>
    </p:spTree>
    <p:extLst>
      <p:ext uri="{BB962C8B-B14F-4D97-AF65-F5344CB8AC3E}">
        <p14:creationId xmlns:p14="http://schemas.microsoft.com/office/powerpoint/2010/main" val="3489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99BC192-5576-CACC-462A-68BD190F2D20}"/>
            </a:ext>
          </a:extLst>
        </p:cNvPr>
        <p:cNvGrpSpPr/>
        <p:nvPr/>
      </p:nvGrpSpPr>
      <p:grpSpPr>
        <a:xfrm>
          <a:off x="0" y="0"/>
          <a:ext cx="0" cy="0"/>
          <a:chOff x="0" y="0"/>
          <a:chExt cx="0" cy="0"/>
        </a:xfrm>
      </p:grpSpPr>
      <p:sp>
        <p:nvSpPr>
          <p:cNvPr id="29" name="Freeform 28">
            <a:extLst>
              <a:ext uri="{FF2B5EF4-FFF2-40B4-BE49-F238E27FC236}">
                <a16:creationId xmlns:a16="http://schemas.microsoft.com/office/drawing/2014/main" id="{EF811BE5-10FC-A23D-B733-8D64D4799C78}"/>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5F33613-789F-68FD-A10B-870E4C2E5E81}"/>
              </a:ext>
            </a:extLst>
          </p:cNvPr>
          <p:cNvSpPr/>
          <p:nvPr/>
        </p:nvSpPr>
        <p:spPr>
          <a:xfrm rot="10800000">
            <a:off x="716469" y="4880713"/>
            <a:ext cx="4890877" cy="1316871"/>
          </a:xfrm>
          <a:prstGeom prst="rect">
            <a:avLst/>
          </a:prstGeom>
          <a:solidFill>
            <a:srgbClr val="00E9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C8744DF-0E14-4729-83A3-2555BE74DF08}"/>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DATASET &amp; PIPLINE</a:t>
            </a:r>
          </a:p>
        </p:txBody>
      </p:sp>
      <p:sp>
        <p:nvSpPr>
          <p:cNvPr id="8" name="TextBox 7">
            <a:extLst>
              <a:ext uri="{FF2B5EF4-FFF2-40B4-BE49-F238E27FC236}">
                <a16:creationId xmlns:a16="http://schemas.microsoft.com/office/drawing/2014/main" id="{9A4C1B2E-72FB-B260-E399-AE91F7FA7FE7}"/>
              </a:ext>
            </a:extLst>
          </p:cNvPr>
          <p:cNvSpPr txBox="1"/>
          <p:nvPr/>
        </p:nvSpPr>
        <p:spPr>
          <a:xfrm>
            <a:off x="716477" y="952090"/>
            <a:ext cx="7346867" cy="630942"/>
          </a:xfrm>
          <a:prstGeom prst="rect">
            <a:avLst/>
          </a:prstGeom>
          <a:noFill/>
        </p:spPr>
        <p:txBody>
          <a:bodyPr wrap="square">
            <a:spAutoFit/>
          </a:bodyPr>
          <a:lstStyle/>
          <a:p>
            <a:r>
              <a:rPr lang="en-US" sz="3500" dirty="0">
                <a:solidFill>
                  <a:schemeClr val="bg1"/>
                </a:solidFill>
                <a:latin typeface="GT Walsheim Trial Rg" pitchFamily="2" charset="77"/>
              </a:rPr>
              <a:t>Waymo Open Motion Dataset v1.3.1</a:t>
            </a:r>
          </a:p>
        </p:txBody>
      </p:sp>
      <p:sp>
        <p:nvSpPr>
          <p:cNvPr id="2" name="TextBox 1">
            <a:extLst>
              <a:ext uri="{FF2B5EF4-FFF2-40B4-BE49-F238E27FC236}">
                <a16:creationId xmlns:a16="http://schemas.microsoft.com/office/drawing/2014/main" id="{AF5135FE-E590-239C-0982-FF07DAD6A753}"/>
              </a:ext>
            </a:extLst>
          </p:cNvPr>
          <p:cNvSpPr txBox="1"/>
          <p:nvPr/>
        </p:nvSpPr>
        <p:spPr>
          <a:xfrm>
            <a:off x="716477" y="1653376"/>
            <a:ext cx="10861804" cy="400110"/>
          </a:xfrm>
          <a:prstGeom prst="rect">
            <a:avLst/>
          </a:prstGeom>
          <a:noFill/>
        </p:spPr>
        <p:txBody>
          <a:bodyPr wrap="square">
            <a:spAutoFit/>
          </a:bodyPr>
          <a:lstStyle/>
          <a:p>
            <a:r>
              <a:rPr lang="en-US" sz="2000" b="1" dirty="0">
                <a:solidFill>
                  <a:schemeClr val="bg1"/>
                </a:solidFill>
                <a:latin typeface="GT Walsheim Trial Lt" pitchFamily="2" charset="77"/>
              </a:rPr>
              <a:t>18,311 raw agent observations </a:t>
            </a:r>
            <a:r>
              <a:rPr lang="en-US" sz="2000" b="0" i="0" dirty="0">
                <a:solidFill>
                  <a:schemeClr val="bg1"/>
                </a:solidFill>
                <a:effectLst/>
                <a:latin typeface="GT Walsheim Trial Rg" pitchFamily="2" charset="77"/>
              </a:rPr>
              <a:t>— </a:t>
            </a:r>
            <a:r>
              <a:rPr lang="en-US" sz="2000" b="1" dirty="0">
                <a:solidFill>
                  <a:schemeClr val="bg1"/>
                </a:solidFill>
                <a:latin typeface="GT Walsheim Trial Lt" pitchFamily="2" charset="77"/>
              </a:rPr>
              <a:t>20 Hz object tracking </a:t>
            </a:r>
            <a:r>
              <a:rPr lang="en-US" sz="2000" b="0" i="0" dirty="0">
                <a:solidFill>
                  <a:schemeClr val="bg1"/>
                </a:solidFill>
                <a:effectLst/>
                <a:latin typeface="GT Walsheim Trial Rg" pitchFamily="2" charset="77"/>
              </a:rPr>
              <a:t>— </a:t>
            </a:r>
            <a:r>
              <a:rPr lang="en-US" sz="2000" b="1" dirty="0">
                <a:solidFill>
                  <a:schemeClr val="bg1"/>
                </a:solidFill>
                <a:latin typeface="GT Walsheim Trial Lt" pitchFamily="2" charset="77"/>
              </a:rPr>
              <a:t>20-second scenario segments</a:t>
            </a:r>
          </a:p>
        </p:txBody>
      </p:sp>
      <p:sp>
        <p:nvSpPr>
          <p:cNvPr id="7" name="Rectangle 6">
            <a:extLst>
              <a:ext uri="{FF2B5EF4-FFF2-40B4-BE49-F238E27FC236}">
                <a16:creationId xmlns:a16="http://schemas.microsoft.com/office/drawing/2014/main" id="{63B1D7EC-1CA7-6572-C738-03EBF46A6752}"/>
              </a:ext>
            </a:extLst>
          </p:cNvPr>
          <p:cNvSpPr/>
          <p:nvPr/>
        </p:nvSpPr>
        <p:spPr>
          <a:xfrm rot="5400000">
            <a:off x="427798" y="2591387"/>
            <a:ext cx="2411272" cy="179954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E0D26C6-5B83-D274-92B8-C8D5027C3FBD}"/>
              </a:ext>
            </a:extLst>
          </p:cNvPr>
          <p:cNvSpPr/>
          <p:nvPr/>
        </p:nvSpPr>
        <p:spPr>
          <a:xfrm rot="5400000">
            <a:off x="2949458" y="2038904"/>
            <a:ext cx="2411272" cy="2904509"/>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E18DF5B-3BA6-FEA2-151C-766C411F8C25}"/>
              </a:ext>
            </a:extLst>
          </p:cNvPr>
          <p:cNvSpPr txBox="1"/>
          <p:nvPr/>
        </p:nvSpPr>
        <p:spPr>
          <a:xfrm>
            <a:off x="842014" y="3062593"/>
            <a:ext cx="1582840" cy="923330"/>
          </a:xfrm>
          <a:prstGeom prst="rect">
            <a:avLst/>
          </a:prstGeom>
          <a:noFill/>
        </p:spPr>
        <p:txBody>
          <a:bodyPr wrap="square">
            <a:spAutoFit/>
          </a:bodyPr>
          <a:lstStyle/>
          <a:p>
            <a:pPr algn="ctr">
              <a:buNone/>
            </a:pPr>
            <a:r>
              <a:rPr lang="en-US" b="0" i="0" dirty="0">
                <a:solidFill>
                  <a:schemeClr val="bg1"/>
                </a:solidFill>
                <a:effectLst/>
                <a:latin typeface="GT Walsheim Trial Rg" pitchFamily="2" charset="77"/>
              </a:rPr>
              <a:t>Waymo </a:t>
            </a:r>
          </a:p>
          <a:p>
            <a:pPr algn="ctr">
              <a:buNone/>
            </a:pPr>
            <a:r>
              <a:rPr lang="en-US" b="0" i="0" dirty="0">
                <a:solidFill>
                  <a:schemeClr val="bg1"/>
                </a:solidFill>
                <a:effectLst/>
                <a:latin typeface="GT Walsheim Trial Rg" pitchFamily="2" charset="77"/>
              </a:rPr>
              <a:t>GCS Bucket (TFRecords)</a:t>
            </a:r>
          </a:p>
        </p:txBody>
      </p:sp>
      <p:sp>
        <p:nvSpPr>
          <p:cNvPr id="14" name="TextBox 13">
            <a:extLst>
              <a:ext uri="{FF2B5EF4-FFF2-40B4-BE49-F238E27FC236}">
                <a16:creationId xmlns:a16="http://schemas.microsoft.com/office/drawing/2014/main" id="{307D8074-A78C-D935-403F-05021A7FD410}"/>
              </a:ext>
            </a:extLst>
          </p:cNvPr>
          <p:cNvSpPr txBox="1"/>
          <p:nvPr/>
        </p:nvSpPr>
        <p:spPr>
          <a:xfrm>
            <a:off x="2930520" y="2894563"/>
            <a:ext cx="2090853" cy="369332"/>
          </a:xfrm>
          <a:prstGeom prst="rect">
            <a:avLst/>
          </a:prstGeom>
          <a:noFill/>
        </p:spPr>
        <p:txBody>
          <a:bodyPr wrap="square">
            <a:spAutoFit/>
          </a:bodyPr>
          <a:lstStyle/>
          <a:p>
            <a:pPr>
              <a:buNone/>
            </a:pPr>
            <a:r>
              <a:rPr lang="en-US" dirty="0">
                <a:solidFill>
                  <a:schemeClr val="bg1"/>
                </a:solidFill>
                <a:effectLst/>
                <a:latin typeface="GT Walsheim Trial Md" pitchFamily="2" charset="77"/>
              </a:rPr>
              <a:t>Python Notebook</a:t>
            </a:r>
          </a:p>
        </p:txBody>
      </p:sp>
      <p:sp>
        <p:nvSpPr>
          <p:cNvPr id="15" name="TextBox 14">
            <a:extLst>
              <a:ext uri="{FF2B5EF4-FFF2-40B4-BE49-F238E27FC236}">
                <a16:creationId xmlns:a16="http://schemas.microsoft.com/office/drawing/2014/main" id="{6CE13089-0731-8EA9-E13B-909D5D04BC4B}"/>
              </a:ext>
            </a:extLst>
          </p:cNvPr>
          <p:cNvSpPr txBox="1"/>
          <p:nvPr/>
        </p:nvSpPr>
        <p:spPr>
          <a:xfrm>
            <a:off x="2930520" y="3320826"/>
            <a:ext cx="2515707" cy="1200329"/>
          </a:xfrm>
          <a:prstGeom prst="rect">
            <a:avLst/>
          </a:prstGeom>
          <a:noFill/>
        </p:spPr>
        <p:txBody>
          <a:bodyPr wrap="square">
            <a:spAutoFit/>
          </a:bodyPr>
          <a:lstStyle/>
          <a:p>
            <a:pPr>
              <a:buNone/>
            </a:pPr>
            <a:r>
              <a:rPr lang="en-US" i="0" dirty="0">
                <a:solidFill>
                  <a:schemeClr val="bg1"/>
                </a:solidFill>
                <a:effectLst/>
                <a:latin typeface="GT Walsheim Trial Rg" pitchFamily="2" charset="77"/>
              </a:rPr>
              <a:t>GCS authentication</a:t>
            </a:r>
          </a:p>
          <a:p>
            <a:pPr>
              <a:buNone/>
            </a:pPr>
            <a:r>
              <a:rPr lang="en-US" i="0" dirty="0">
                <a:solidFill>
                  <a:schemeClr val="bg1"/>
                </a:solidFill>
                <a:effectLst/>
                <a:latin typeface="GT Walsheim Trial Rg" pitchFamily="2" charset="77"/>
              </a:rPr>
              <a:t>Parse Scenario protos</a:t>
            </a:r>
          </a:p>
          <a:p>
            <a:pPr>
              <a:buNone/>
            </a:pPr>
            <a:r>
              <a:rPr lang="en-US" i="0" dirty="0">
                <a:solidFill>
                  <a:schemeClr val="bg1"/>
                </a:solidFill>
                <a:effectLst/>
                <a:latin typeface="GT Walsheim Trial Rg" pitchFamily="2" charset="77"/>
              </a:rPr>
              <a:t>Extract kinematics at  t = 0, t = -0.1s, t = +5s</a:t>
            </a:r>
          </a:p>
        </p:txBody>
      </p:sp>
      <p:sp>
        <p:nvSpPr>
          <p:cNvPr id="16" name="Rectangle 15">
            <a:extLst>
              <a:ext uri="{FF2B5EF4-FFF2-40B4-BE49-F238E27FC236}">
                <a16:creationId xmlns:a16="http://schemas.microsoft.com/office/drawing/2014/main" id="{F7FF29CB-B9A0-D774-8556-025972A6411F}"/>
              </a:ext>
            </a:extLst>
          </p:cNvPr>
          <p:cNvSpPr/>
          <p:nvPr/>
        </p:nvSpPr>
        <p:spPr>
          <a:xfrm rot="10800000">
            <a:off x="5843540" y="2277080"/>
            <a:ext cx="5734740" cy="7855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0A8CB1E-CA6D-B69B-4A23-51F6F650AA12}"/>
              </a:ext>
            </a:extLst>
          </p:cNvPr>
          <p:cNvSpPr txBox="1"/>
          <p:nvPr/>
        </p:nvSpPr>
        <p:spPr>
          <a:xfrm>
            <a:off x="7221516" y="2482739"/>
            <a:ext cx="2904508" cy="369332"/>
          </a:xfrm>
          <a:prstGeom prst="rect">
            <a:avLst/>
          </a:prstGeom>
          <a:noFill/>
        </p:spPr>
        <p:txBody>
          <a:bodyPr wrap="square">
            <a:spAutoFit/>
          </a:bodyPr>
          <a:lstStyle/>
          <a:p>
            <a:pPr algn="ctr">
              <a:buNone/>
            </a:pPr>
            <a:r>
              <a:rPr lang="en-US" b="0" i="0" dirty="0" err="1">
                <a:effectLst/>
                <a:latin typeface="GT Walsheim Trial Rg" pitchFamily="2" charset="77"/>
              </a:rPr>
              <a:t>waymo_final_dataset.csv</a:t>
            </a:r>
            <a:endParaRPr lang="en-US" b="0" i="0" dirty="0">
              <a:effectLst/>
              <a:latin typeface="GT Walsheim Trial Rg" pitchFamily="2" charset="77"/>
            </a:endParaRPr>
          </a:p>
        </p:txBody>
      </p:sp>
      <p:sp>
        <p:nvSpPr>
          <p:cNvPr id="18" name="Rectangle 17">
            <a:extLst>
              <a:ext uri="{FF2B5EF4-FFF2-40B4-BE49-F238E27FC236}">
                <a16:creationId xmlns:a16="http://schemas.microsoft.com/office/drawing/2014/main" id="{0371A77D-2D16-2B5A-2A9E-FB91657476D0}"/>
              </a:ext>
            </a:extLst>
          </p:cNvPr>
          <p:cNvSpPr/>
          <p:nvPr/>
        </p:nvSpPr>
        <p:spPr>
          <a:xfrm rot="5400000">
            <a:off x="7722035" y="1348383"/>
            <a:ext cx="1977748" cy="5734738"/>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96750D8F-67A1-98B2-A822-4BDFCE53DAA2}"/>
              </a:ext>
            </a:extLst>
          </p:cNvPr>
          <p:cNvSpPr txBox="1"/>
          <p:nvPr/>
        </p:nvSpPr>
        <p:spPr>
          <a:xfrm>
            <a:off x="6081505" y="3846420"/>
            <a:ext cx="2723250" cy="369332"/>
          </a:xfrm>
          <a:prstGeom prst="rect">
            <a:avLst/>
          </a:prstGeom>
          <a:noFill/>
        </p:spPr>
        <p:txBody>
          <a:bodyPr wrap="square">
            <a:spAutoFit/>
          </a:bodyPr>
          <a:lstStyle/>
          <a:p>
            <a:pPr>
              <a:buNone/>
            </a:pPr>
            <a:r>
              <a:rPr lang="en-US" b="0" i="0" dirty="0">
                <a:solidFill>
                  <a:schemeClr val="bg1"/>
                </a:solidFill>
                <a:effectLst/>
                <a:latin typeface="GT Walsheim Trial Rg" pitchFamily="2" charset="77"/>
              </a:rPr>
              <a:t>R —</a:t>
            </a:r>
            <a:r>
              <a:rPr lang="en-US" dirty="0">
                <a:solidFill>
                  <a:schemeClr val="bg1"/>
                </a:solidFill>
                <a:latin typeface="GT Walsheim Trial Rg" pitchFamily="2" charset="77"/>
              </a:rPr>
              <a:t> </a:t>
            </a:r>
            <a:r>
              <a:rPr lang="en-US" b="0" i="0" dirty="0">
                <a:solidFill>
                  <a:schemeClr val="bg1"/>
                </a:solidFill>
                <a:effectLst/>
                <a:latin typeface="GT Walsheim Trial Rg" pitchFamily="2" charset="77"/>
              </a:rPr>
              <a:t>Statistical Modeling</a:t>
            </a:r>
          </a:p>
        </p:txBody>
      </p:sp>
      <p:sp>
        <p:nvSpPr>
          <p:cNvPr id="20" name="TextBox 19">
            <a:extLst>
              <a:ext uri="{FF2B5EF4-FFF2-40B4-BE49-F238E27FC236}">
                <a16:creationId xmlns:a16="http://schemas.microsoft.com/office/drawing/2014/main" id="{21B762C7-DF74-D983-5BBB-B91A460C2CC7}"/>
              </a:ext>
            </a:extLst>
          </p:cNvPr>
          <p:cNvSpPr txBox="1"/>
          <p:nvPr/>
        </p:nvSpPr>
        <p:spPr>
          <a:xfrm>
            <a:off x="6081505" y="4268860"/>
            <a:ext cx="4421646" cy="646331"/>
          </a:xfrm>
          <a:prstGeom prst="rect">
            <a:avLst/>
          </a:prstGeom>
          <a:noFill/>
        </p:spPr>
        <p:txBody>
          <a:bodyPr wrap="square">
            <a:spAutoFit/>
          </a:bodyPr>
          <a:lstStyle/>
          <a:p>
            <a:pPr>
              <a:buNone/>
            </a:pPr>
            <a:r>
              <a:rPr lang="en-US" b="1" i="0" dirty="0">
                <a:solidFill>
                  <a:schemeClr val="bg1"/>
                </a:solidFill>
                <a:effectLst/>
                <a:latin typeface="GT Walsheim Trial Rg" pitchFamily="2" charset="77"/>
              </a:rPr>
              <a:t>Preprocessing → Anomaly Detection → Motion Prediction</a:t>
            </a:r>
            <a:endParaRPr lang="en-US" b="0" i="0" dirty="0">
              <a:solidFill>
                <a:schemeClr val="bg1"/>
              </a:solidFill>
              <a:effectLst/>
              <a:latin typeface="GT Walsheim Trial Rg" pitchFamily="2" charset="77"/>
            </a:endParaRPr>
          </a:p>
        </p:txBody>
      </p:sp>
      <p:sp>
        <p:nvSpPr>
          <p:cNvPr id="21" name="Rectangle 20">
            <a:extLst>
              <a:ext uri="{FF2B5EF4-FFF2-40B4-BE49-F238E27FC236}">
                <a16:creationId xmlns:a16="http://schemas.microsoft.com/office/drawing/2014/main" id="{D45C3F3C-74CB-A77D-4520-791C9D34E8BD}"/>
              </a:ext>
            </a:extLst>
          </p:cNvPr>
          <p:cNvSpPr/>
          <p:nvPr/>
        </p:nvSpPr>
        <p:spPr>
          <a:xfrm rot="10800000">
            <a:off x="716470" y="5368911"/>
            <a:ext cx="10861807" cy="835916"/>
          </a:xfrm>
          <a:prstGeom prst="rect">
            <a:avLst/>
          </a:prstGeom>
          <a:solidFill>
            <a:srgbClr val="00E9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58A5016-C08E-98B3-26B4-A2802863211D}"/>
              </a:ext>
            </a:extLst>
          </p:cNvPr>
          <p:cNvSpPr txBox="1"/>
          <p:nvPr/>
        </p:nvSpPr>
        <p:spPr>
          <a:xfrm>
            <a:off x="1826044" y="5405539"/>
            <a:ext cx="2904508" cy="369332"/>
          </a:xfrm>
          <a:prstGeom prst="rect">
            <a:avLst/>
          </a:prstGeom>
          <a:noFill/>
        </p:spPr>
        <p:txBody>
          <a:bodyPr wrap="square">
            <a:spAutoFit/>
          </a:bodyPr>
          <a:lstStyle/>
          <a:p>
            <a:pPr algn="ctr">
              <a:buNone/>
            </a:pPr>
            <a:r>
              <a:rPr lang="en-US" b="0" i="0" dirty="0">
                <a:solidFill>
                  <a:schemeClr val="bg1"/>
                </a:solidFill>
                <a:effectLst/>
                <a:latin typeface="GT Walsheim Trial Rg" pitchFamily="2" charset="77"/>
              </a:rPr>
              <a:t>Results (Tables / Plots)</a:t>
            </a:r>
          </a:p>
        </p:txBody>
      </p:sp>
      <p:sp>
        <p:nvSpPr>
          <p:cNvPr id="12" name="TextBox 11">
            <a:extLst>
              <a:ext uri="{FF2B5EF4-FFF2-40B4-BE49-F238E27FC236}">
                <a16:creationId xmlns:a16="http://schemas.microsoft.com/office/drawing/2014/main" id="{89F526F9-F57F-C78A-0497-4A253585B117}"/>
              </a:ext>
            </a:extLst>
          </p:cNvPr>
          <p:cNvSpPr txBox="1"/>
          <p:nvPr/>
        </p:nvSpPr>
        <p:spPr>
          <a:xfrm>
            <a:off x="243204" y="2092251"/>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01</a:t>
            </a:r>
            <a:endParaRPr lang="en-US" sz="5000" b="0" i="0" dirty="0">
              <a:solidFill>
                <a:schemeClr val="bg1">
                  <a:alpha val="20000"/>
                </a:schemeClr>
              </a:solidFill>
              <a:effectLst/>
              <a:latin typeface="GT Walsheim Trial Rg" pitchFamily="2" charset="77"/>
            </a:endParaRPr>
          </a:p>
        </p:txBody>
      </p:sp>
      <p:sp>
        <p:nvSpPr>
          <p:cNvPr id="13" name="TextBox 12">
            <a:extLst>
              <a:ext uri="{FF2B5EF4-FFF2-40B4-BE49-F238E27FC236}">
                <a16:creationId xmlns:a16="http://schemas.microsoft.com/office/drawing/2014/main" id="{98A5120A-2843-1FFE-7923-2B0862B5691F}"/>
              </a:ext>
            </a:extLst>
          </p:cNvPr>
          <p:cNvSpPr txBox="1"/>
          <p:nvPr/>
        </p:nvSpPr>
        <p:spPr>
          <a:xfrm>
            <a:off x="2267099" y="2099493"/>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02</a:t>
            </a:r>
            <a:endParaRPr lang="en-US" sz="5000" b="0" i="0" dirty="0">
              <a:solidFill>
                <a:schemeClr val="bg1">
                  <a:alpha val="20000"/>
                </a:schemeClr>
              </a:solidFill>
              <a:effectLst/>
              <a:latin typeface="GT Walsheim Trial Rg" pitchFamily="2" charset="77"/>
            </a:endParaRPr>
          </a:p>
        </p:txBody>
      </p:sp>
      <p:sp>
        <p:nvSpPr>
          <p:cNvPr id="23" name="TextBox 22">
            <a:extLst>
              <a:ext uri="{FF2B5EF4-FFF2-40B4-BE49-F238E27FC236}">
                <a16:creationId xmlns:a16="http://schemas.microsoft.com/office/drawing/2014/main" id="{5C55AA3B-0B37-D055-C550-D536B15871AC}"/>
              </a:ext>
            </a:extLst>
          </p:cNvPr>
          <p:cNvSpPr txBox="1"/>
          <p:nvPr/>
        </p:nvSpPr>
        <p:spPr>
          <a:xfrm>
            <a:off x="5402485" y="2099493"/>
            <a:ext cx="1582840" cy="861774"/>
          </a:xfrm>
          <a:prstGeom prst="rect">
            <a:avLst/>
          </a:prstGeom>
          <a:noFill/>
        </p:spPr>
        <p:txBody>
          <a:bodyPr wrap="square">
            <a:spAutoFit/>
          </a:bodyPr>
          <a:lstStyle/>
          <a:p>
            <a:pPr algn="ctr">
              <a:buNone/>
            </a:pPr>
            <a:r>
              <a:rPr lang="en-US" sz="5000" dirty="0">
                <a:solidFill>
                  <a:schemeClr val="tx1">
                    <a:alpha val="5000"/>
                  </a:schemeClr>
                </a:solidFill>
                <a:latin typeface="GT Walsheim Trial Rg" pitchFamily="2" charset="77"/>
              </a:rPr>
              <a:t>03</a:t>
            </a:r>
            <a:endParaRPr lang="en-US" sz="5000" b="0" i="0" dirty="0">
              <a:solidFill>
                <a:schemeClr val="tx1">
                  <a:alpha val="5000"/>
                </a:schemeClr>
              </a:solidFill>
              <a:effectLst/>
              <a:latin typeface="GT Walsheim Trial Rg" pitchFamily="2" charset="77"/>
            </a:endParaRPr>
          </a:p>
        </p:txBody>
      </p:sp>
      <p:sp>
        <p:nvSpPr>
          <p:cNvPr id="25" name="TextBox 24">
            <a:extLst>
              <a:ext uri="{FF2B5EF4-FFF2-40B4-BE49-F238E27FC236}">
                <a16:creationId xmlns:a16="http://schemas.microsoft.com/office/drawing/2014/main" id="{D08567BA-74CD-E9BD-D382-9328F41BC61C}"/>
              </a:ext>
            </a:extLst>
          </p:cNvPr>
          <p:cNvSpPr txBox="1"/>
          <p:nvPr/>
        </p:nvSpPr>
        <p:spPr>
          <a:xfrm>
            <a:off x="5402485" y="3014375"/>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04</a:t>
            </a:r>
            <a:endParaRPr lang="en-US" sz="5000" b="0" i="0" dirty="0">
              <a:solidFill>
                <a:schemeClr val="bg1">
                  <a:alpha val="20000"/>
                </a:schemeClr>
              </a:solidFill>
              <a:effectLst/>
              <a:latin typeface="GT Walsheim Trial Rg" pitchFamily="2" charset="77"/>
            </a:endParaRPr>
          </a:p>
        </p:txBody>
      </p:sp>
      <p:sp>
        <p:nvSpPr>
          <p:cNvPr id="26" name="TextBox 25">
            <a:extLst>
              <a:ext uri="{FF2B5EF4-FFF2-40B4-BE49-F238E27FC236}">
                <a16:creationId xmlns:a16="http://schemas.microsoft.com/office/drawing/2014/main" id="{2E8F2B63-2F27-CF63-85DB-DB6BF472F87C}"/>
              </a:ext>
            </a:extLst>
          </p:cNvPr>
          <p:cNvSpPr txBox="1"/>
          <p:nvPr/>
        </p:nvSpPr>
        <p:spPr>
          <a:xfrm>
            <a:off x="277042" y="4701431"/>
            <a:ext cx="1582840" cy="861774"/>
          </a:xfrm>
          <a:prstGeom prst="rect">
            <a:avLst/>
          </a:prstGeom>
          <a:noFill/>
        </p:spPr>
        <p:txBody>
          <a:bodyPr wrap="square">
            <a:spAutoFit/>
          </a:bodyPr>
          <a:lstStyle/>
          <a:p>
            <a:pPr algn="ctr">
              <a:buNone/>
            </a:pPr>
            <a:r>
              <a:rPr lang="en-US" sz="5000" dirty="0">
                <a:solidFill>
                  <a:schemeClr val="bg1">
                    <a:alpha val="30000"/>
                  </a:schemeClr>
                </a:solidFill>
                <a:latin typeface="GT Walsheim Trial Rg" pitchFamily="2" charset="77"/>
              </a:rPr>
              <a:t>05</a:t>
            </a:r>
            <a:endParaRPr lang="en-US" sz="5000" b="0" i="0" dirty="0">
              <a:solidFill>
                <a:schemeClr val="bg1">
                  <a:alpha val="30000"/>
                </a:schemeClr>
              </a:solidFill>
              <a:effectLst/>
              <a:latin typeface="GT Walsheim Trial Rg" pitchFamily="2" charset="77"/>
            </a:endParaRPr>
          </a:p>
        </p:txBody>
      </p:sp>
      <p:pic>
        <p:nvPicPr>
          <p:cNvPr id="28" name="Picture 6" descr="Our Trademarks">
            <a:extLst>
              <a:ext uri="{FF2B5EF4-FFF2-40B4-BE49-F238E27FC236}">
                <a16:creationId xmlns:a16="http://schemas.microsoft.com/office/drawing/2014/main" id="{5E9127DC-E0BF-246E-DFAD-95EB3D195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313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18335D-070D-E2CD-7974-1D934C6B4106}"/>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1A7F5B05-687E-2A4C-A8CD-9F064CE84592}"/>
              </a:ext>
            </a:extLst>
          </p:cNvPr>
          <p:cNvSpPr/>
          <p:nvPr/>
        </p:nvSpPr>
        <p:spPr>
          <a:xfrm>
            <a:off x="-6144266" y="5082576"/>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11818D86-B172-7F3C-A000-ECBB85ED72A7}"/>
              </a:ext>
            </a:extLst>
          </p:cNvPr>
          <p:cNvSpPr/>
          <p:nvPr/>
        </p:nvSpPr>
        <p:spPr>
          <a:xfrm rot="724800">
            <a:off x="-2872042" y="3203933"/>
            <a:ext cx="18325767" cy="1340166"/>
          </a:xfrm>
          <a:custGeom>
            <a:avLst/>
            <a:gdLst>
              <a:gd name="csX0" fmla="*/ 0 w 11430000"/>
              <a:gd name="csY0" fmla="*/ 691323 h 1340166"/>
              <a:gd name="csX1" fmla="*/ 1422400 w 11430000"/>
              <a:gd name="csY1" fmla="*/ 18223 h 1340166"/>
              <a:gd name="csX2" fmla="*/ 7150100 w 11430000"/>
              <a:gd name="csY2" fmla="*/ 1339023 h 1340166"/>
              <a:gd name="csX3" fmla="*/ 11430000 w 11430000"/>
              <a:gd name="csY3" fmla="*/ 246823 h 1340166"/>
            </a:gdLst>
            <a:ahLst/>
            <a:cxnLst>
              <a:cxn ang="0">
                <a:pos x="csX0" y="csY0"/>
              </a:cxn>
              <a:cxn ang="0">
                <a:pos x="csX1" y="csY1"/>
              </a:cxn>
              <a:cxn ang="0">
                <a:pos x="csX2" y="csY2"/>
              </a:cxn>
              <a:cxn ang="0">
                <a:pos x="csX3" y="csY3"/>
              </a:cxn>
            </a:cxnLst>
            <a:rect l="l" t="t" r="r" b="b"/>
            <a:pathLst>
              <a:path w="11430000" h="1340166">
                <a:moveTo>
                  <a:pt x="0" y="691323"/>
                </a:moveTo>
                <a:cubicBezTo>
                  <a:pt x="115358" y="300798"/>
                  <a:pt x="230717" y="-89727"/>
                  <a:pt x="1422400" y="18223"/>
                </a:cubicBezTo>
                <a:cubicBezTo>
                  <a:pt x="2614083" y="126173"/>
                  <a:pt x="5482167" y="1300923"/>
                  <a:pt x="7150100" y="1339023"/>
                </a:cubicBezTo>
                <a:cubicBezTo>
                  <a:pt x="8818033" y="1377123"/>
                  <a:pt x="10687050" y="452140"/>
                  <a:pt x="11430000" y="246823"/>
                </a:cubicBezTo>
              </a:path>
            </a:pathLst>
          </a:custGeom>
          <a:noFill/>
          <a:ln w="762000" cap="flat">
            <a:gradFill flip="none" rotWithShape="1">
              <a:gsLst>
                <a:gs pos="69000">
                  <a:srgbClr val="0078FF"/>
                </a:gs>
                <a:gs pos="0">
                  <a:srgbClr val="0078FF"/>
                </a:gs>
                <a:gs pos="29000">
                  <a:srgbClr val="0078FF"/>
                </a:gs>
                <a:gs pos="46000">
                  <a:srgbClr val="0078FF"/>
                </a:gs>
                <a:gs pos="77000">
                  <a:srgbClr val="00E9A0"/>
                </a:gs>
                <a:gs pos="100000">
                  <a:srgbClr val="00E9A0"/>
                </a:gs>
              </a:gsLst>
              <a:lin ang="360000" scaled="0"/>
              <a:tileRect/>
            </a:gra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03C362FE-26C6-9E59-253C-0E8E33DFB89E}"/>
              </a:ext>
            </a:extLst>
          </p:cNvPr>
          <p:cNvSpPr>
            <a:spLocks noGrp="1"/>
          </p:cNvSpPr>
          <p:nvPr>
            <p:ph type="ctrTitle"/>
          </p:nvPr>
        </p:nvSpPr>
        <p:spPr>
          <a:xfrm>
            <a:off x="716478" y="447821"/>
            <a:ext cx="3347522" cy="369333"/>
          </a:xfrm>
        </p:spPr>
        <p:txBody>
          <a:bodyPr>
            <a:normAutofit/>
          </a:bodyPr>
          <a:lstStyle/>
          <a:p>
            <a:pPr algn="l"/>
            <a:r>
              <a:rPr lang="en-US" sz="1500" dirty="0">
                <a:solidFill>
                  <a:schemeClr val="bg1">
                    <a:lumMod val="50000"/>
                  </a:schemeClr>
                </a:solidFill>
                <a:latin typeface="GT Walsheim Trial Rg" pitchFamily="2" charset="77"/>
              </a:rPr>
              <a:t>DATASET &amp; PIPLINE [AGENT TYPE]</a:t>
            </a:r>
          </a:p>
        </p:txBody>
      </p:sp>
      <p:sp>
        <p:nvSpPr>
          <p:cNvPr id="8" name="TextBox 7">
            <a:extLst>
              <a:ext uri="{FF2B5EF4-FFF2-40B4-BE49-F238E27FC236}">
                <a16:creationId xmlns:a16="http://schemas.microsoft.com/office/drawing/2014/main" id="{AA0B286F-ACC4-E15E-FE10-F81A14DF3948}"/>
              </a:ext>
            </a:extLst>
          </p:cNvPr>
          <p:cNvSpPr txBox="1"/>
          <p:nvPr/>
        </p:nvSpPr>
        <p:spPr>
          <a:xfrm>
            <a:off x="716477" y="952090"/>
            <a:ext cx="7346867" cy="630942"/>
          </a:xfrm>
          <a:prstGeom prst="rect">
            <a:avLst/>
          </a:prstGeom>
          <a:noFill/>
        </p:spPr>
        <p:txBody>
          <a:bodyPr wrap="square">
            <a:spAutoFit/>
          </a:bodyPr>
          <a:lstStyle/>
          <a:p>
            <a:r>
              <a:rPr lang="en-US" sz="3500" dirty="0">
                <a:solidFill>
                  <a:schemeClr val="bg1"/>
                </a:solidFill>
                <a:latin typeface="GT Walsheim Trial Rg" pitchFamily="2" charset="77"/>
              </a:rPr>
              <a:t>Waymo Open Motion Dataset v1.3.1</a:t>
            </a:r>
          </a:p>
        </p:txBody>
      </p:sp>
      <p:graphicFrame>
        <p:nvGraphicFramePr>
          <p:cNvPr id="3" name="Table 2">
            <a:extLst>
              <a:ext uri="{FF2B5EF4-FFF2-40B4-BE49-F238E27FC236}">
                <a16:creationId xmlns:a16="http://schemas.microsoft.com/office/drawing/2014/main" id="{6E5ED46D-9A9D-45B4-50C0-E4B617433E8C}"/>
              </a:ext>
            </a:extLst>
          </p:cNvPr>
          <p:cNvGraphicFramePr>
            <a:graphicFrameLocks noGrp="1"/>
          </p:cNvGraphicFramePr>
          <p:nvPr>
            <p:extLst>
              <p:ext uri="{D42A27DB-BD31-4B8C-83A1-F6EECF244321}">
                <p14:modId xmlns:p14="http://schemas.microsoft.com/office/powerpoint/2010/main" val="3777935987"/>
              </p:ext>
            </p:extLst>
          </p:nvPr>
        </p:nvGraphicFramePr>
        <p:xfrm>
          <a:off x="716477" y="1932130"/>
          <a:ext cx="10876350" cy="2646176"/>
        </p:xfrm>
        <a:graphic>
          <a:graphicData uri="http://schemas.openxmlformats.org/drawingml/2006/table">
            <a:tbl>
              <a:tblPr firstRow="1" bandRow="1">
                <a:tableStyleId>{073A0DAA-6AF3-43AB-8588-CEC1D06C72B9}</a:tableStyleId>
              </a:tblPr>
              <a:tblGrid>
                <a:gridCol w="2447977">
                  <a:extLst>
                    <a:ext uri="{9D8B030D-6E8A-4147-A177-3AD203B41FA5}">
                      <a16:colId xmlns:a16="http://schemas.microsoft.com/office/drawing/2014/main" val="1610543496"/>
                    </a:ext>
                  </a:extLst>
                </a:gridCol>
                <a:gridCol w="3801230">
                  <a:extLst>
                    <a:ext uri="{9D8B030D-6E8A-4147-A177-3AD203B41FA5}">
                      <a16:colId xmlns:a16="http://schemas.microsoft.com/office/drawing/2014/main" val="2940384537"/>
                    </a:ext>
                  </a:extLst>
                </a:gridCol>
                <a:gridCol w="4627143">
                  <a:extLst>
                    <a:ext uri="{9D8B030D-6E8A-4147-A177-3AD203B41FA5}">
                      <a16:colId xmlns:a16="http://schemas.microsoft.com/office/drawing/2014/main" val="3740313691"/>
                    </a:ext>
                  </a:extLst>
                </a:gridCol>
              </a:tblGrid>
              <a:tr h="296694">
                <a:tc>
                  <a:txBody>
                    <a:bodyPr/>
                    <a:lstStyle/>
                    <a:p>
                      <a:r>
                        <a:rPr lang="en-US" sz="1500" b="0" i="0" dirty="0">
                          <a:solidFill>
                            <a:schemeClr val="bg1"/>
                          </a:solidFill>
                          <a:latin typeface="GT Walsheim Trial Rg" pitchFamily="2" charset="77"/>
                        </a:rPr>
                        <a:t>Agent 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Count (raw)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After preprocessing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581534">
                <a:tc>
                  <a:txBody>
                    <a:bodyPr/>
                    <a:lstStyle/>
                    <a:p>
                      <a:r>
                        <a:rPr lang="en-US" sz="1500" b="0" i="0" dirty="0">
                          <a:solidFill>
                            <a:schemeClr val="tx1"/>
                          </a:solidFill>
                          <a:latin typeface="GT Walsheim Trial Rg" pitchFamily="2" charset="77"/>
                        </a:rPr>
                        <a:t>Vehicle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majority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581534">
                <a:tc>
                  <a:txBody>
                    <a:bodyPr/>
                    <a:lstStyle/>
                    <a:p>
                      <a:r>
                        <a:rPr lang="en-US" sz="1500" b="0" i="0" dirty="0">
                          <a:solidFill>
                            <a:schemeClr val="tx1"/>
                          </a:solidFill>
                          <a:latin typeface="GT Walsheim Trial Rg" pitchFamily="2" charset="77"/>
                        </a:rPr>
                        <a:t>Pedestrian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581534">
                <a:tc>
                  <a:txBody>
                    <a:bodyPr/>
                    <a:lstStyle/>
                    <a:p>
                      <a:r>
                        <a:rPr lang="en-US" sz="1500" b="0" i="0" dirty="0">
                          <a:solidFill>
                            <a:schemeClr val="tx1"/>
                          </a:solidFill>
                          <a:latin typeface="GT Walsheim Trial Rg" pitchFamily="2" charset="77"/>
                        </a:rPr>
                        <a:t>Cyclist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r h="581534">
                <a:tc>
                  <a:txBody>
                    <a:bodyPr/>
                    <a:lstStyle/>
                    <a:p>
                      <a:r>
                        <a:rPr lang="en-US" sz="1500" b="0" i="0" dirty="0">
                          <a:solidFill>
                            <a:schemeClr val="tx1"/>
                          </a:solidFill>
                          <a:latin typeface="GT Walsheim Trial Rg" pitchFamily="2" charset="77"/>
                        </a:rPr>
                        <a:t>SDC (AV itself)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removed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excluded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62120210"/>
                  </a:ext>
                </a:extLst>
              </a:tr>
            </a:tbl>
          </a:graphicData>
        </a:graphic>
      </p:graphicFrame>
      <p:sp>
        <p:nvSpPr>
          <p:cNvPr id="6" name="TextBox 5">
            <a:extLst>
              <a:ext uri="{FF2B5EF4-FFF2-40B4-BE49-F238E27FC236}">
                <a16:creationId xmlns:a16="http://schemas.microsoft.com/office/drawing/2014/main" id="{63141582-FD1E-F62F-4490-D627EFD530A0}"/>
              </a:ext>
            </a:extLst>
          </p:cNvPr>
          <p:cNvSpPr txBox="1"/>
          <p:nvPr/>
        </p:nvSpPr>
        <p:spPr>
          <a:xfrm>
            <a:off x="624468" y="5082576"/>
            <a:ext cx="6676929" cy="1015663"/>
          </a:xfrm>
          <a:prstGeom prst="rect">
            <a:avLst/>
          </a:prstGeom>
          <a:noFill/>
        </p:spPr>
        <p:txBody>
          <a:bodyPr wrap="square">
            <a:spAutoFit/>
          </a:bodyPr>
          <a:lstStyle/>
          <a:p>
            <a:r>
              <a:rPr lang="en-US" sz="1500" dirty="0">
                <a:solidFill>
                  <a:schemeClr val="bg1"/>
                </a:solidFill>
                <a:latin typeface="GT Walsheim Trial Md" pitchFamily="2" charset="77"/>
              </a:rPr>
              <a:t>Features extracted: </a:t>
            </a:r>
            <a:r>
              <a:rPr lang="en-US" sz="1500" dirty="0">
                <a:solidFill>
                  <a:schemeClr val="bg1"/>
                </a:solidFill>
                <a:latin typeface="GT Walsheim Trial Lt" pitchFamily="2" charset="77"/>
              </a:rPr>
              <a:t>Speed, Acceleration, Yaw Rate,</a:t>
            </a:r>
          </a:p>
          <a:p>
            <a:r>
              <a:rPr lang="en-US" sz="1500" dirty="0" err="1">
                <a:solidFill>
                  <a:schemeClr val="bg1"/>
                </a:solidFill>
                <a:latin typeface="GT Walsheim Trial Lt" pitchFamily="2" charset="77"/>
              </a:rPr>
              <a:t>Vel_X</a:t>
            </a:r>
            <a:r>
              <a:rPr lang="en-US" sz="1500" dirty="0">
                <a:solidFill>
                  <a:schemeClr val="bg1"/>
                </a:solidFill>
                <a:latin typeface="GT Walsheim Trial Lt" pitchFamily="2" charset="77"/>
              </a:rPr>
              <a:t>, </a:t>
            </a:r>
            <a:r>
              <a:rPr lang="en-US" sz="1500" dirty="0" err="1">
                <a:solidFill>
                  <a:schemeClr val="bg1"/>
                </a:solidFill>
                <a:latin typeface="GT Walsheim Trial Lt" pitchFamily="2" charset="77"/>
              </a:rPr>
              <a:t>Vel_Y</a:t>
            </a:r>
            <a:endParaRPr lang="en-US" sz="1500" dirty="0">
              <a:solidFill>
                <a:schemeClr val="bg1"/>
              </a:solidFill>
              <a:latin typeface="GT Walsheim Trial Lt" pitchFamily="2" charset="77"/>
            </a:endParaRPr>
          </a:p>
          <a:p>
            <a:r>
              <a:rPr lang="en-US" sz="1500" dirty="0">
                <a:solidFill>
                  <a:schemeClr val="bg1"/>
                </a:solidFill>
                <a:latin typeface="GT Walsheim Trial Lt" pitchFamily="2" charset="77"/>
              </a:rPr>
              <a:t>Length, Width</a:t>
            </a:r>
          </a:p>
          <a:p>
            <a:r>
              <a:rPr lang="en-US" sz="1500" dirty="0">
                <a:solidFill>
                  <a:schemeClr val="bg1"/>
                </a:solidFill>
                <a:latin typeface="GT Walsheim Trial Lt" pitchFamily="2" charset="77"/>
              </a:rPr>
              <a:t>FutureDist_5s</a:t>
            </a:r>
          </a:p>
        </p:txBody>
      </p:sp>
      <p:pic>
        <p:nvPicPr>
          <p:cNvPr id="2" name="Picture 6" descr="Our Trademarks">
            <a:extLst>
              <a:ext uri="{FF2B5EF4-FFF2-40B4-BE49-F238E27FC236}">
                <a16:creationId xmlns:a16="http://schemas.microsoft.com/office/drawing/2014/main" id="{0E3246AA-DF2A-798A-F5B3-ED4A58B46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567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4AF451-3682-FF2C-D616-3F71F91C5A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7B1E02-7E04-CB0C-3314-A673C2BD6DEC}"/>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2606525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5C9765-B19F-2DA8-B49F-3989A712FA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AB2BF5-F20F-C31F-3CA6-179525C2DB7D}"/>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015887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D43B-6B18-E76B-0A5E-6F5A9E177C55}"/>
            </a:ext>
          </a:extLst>
        </p:cNvPr>
        <p:cNvGrpSpPr/>
        <p:nvPr/>
      </p:nvGrpSpPr>
      <p:grpSpPr>
        <a:xfrm>
          <a:off x="0" y="0"/>
          <a:ext cx="0" cy="0"/>
          <a:chOff x="0" y="0"/>
          <a:chExt cx="0" cy="0"/>
        </a:xfrm>
      </p:grpSpPr>
      <p:sp>
        <p:nvSpPr>
          <p:cNvPr id="25" name="Freeform 24">
            <a:extLst>
              <a:ext uri="{FF2B5EF4-FFF2-40B4-BE49-F238E27FC236}">
                <a16:creationId xmlns:a16="http://schemas.microsoft.com/office/drawing/2014/main" id="{D9759E3A-B60F-9CBB-D1CE-CC84A3D32781}"/>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6E917537-92A5-6E9F-7D52-B229CEB05CFC}"/>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0745F48F-1AB5-00C4-CA23-A815ED357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D252EB07-182B-03EA-A8D0-1384AF0B4C4A}"/>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MOTION PREDICTION</a:t>
            </a:r>
          </a:p>
        </p:txBody>
      </p:sp>
      <p:sp>
        <p:nvSpPr>
          <p:cNvPr id="8" name="TextBox 7">
            <a:extLst>
              <a:ext uri="{FF2B5EF4-FFF2-40B4-BE49-F238E27FC236}">
                <a16:creationId xmlns:a16="http://schemas.microsoft.com/office/drawing/2014/main" id="{3218B83E-AA40-E8FF-95C7-4E5B1E9F3925}"/>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Linear Regression for 5-Second Displacement</a:t>
            </a:r>
          </a:p>
        </p:txBody>
      </p:sp>
      <p:sp>
        <p:nvSpPr>
          <p:cNvPr id="5" name="TextBox 4">
            <a:extLst>
              <a:ext uri="{FF2B5EF4-FFF2-40B4-BE49-F238E27FC236}">
                <a16:creationId xmlns:a16="http://schemas.microsoft.com/office/drawing/2014/main" id="{3B405F93-3204-EBA0-492A-066BC1A51EB9}"/>
              </a:ext>
            </a:extLst>
          </p:cNvPr>
          <p:cNvSpPr txBox="1"/>
          <p:nvPr/>
        </p:nvSpPr>
        <p:spPr>
          <a:xfrm>
            <a:off x="13046792" y="2452525"/>
            <a:ext cx="2866106" cy="369332"/>
          </a:xfrm>
          <a:prstGeom prst="rect">
            <a:avLst/>
          </a:prstGeom>
          <a:noFill/>
        </p:spPr>
        <p:txBody>
          <a:bodyPr wrap="none" rtlCol="0">
            <a:spAutoFit/>
          </a:bodyPr>
          <a:lstStyle/>
          <a:p>
            <a:r>
              <a:rPr lang="en-US" dirty="0">
                <a:solidFill>
                  <a:schemeClr val="bg1"/>
                </a:solidFill>
                <a:latin typeface="GT Walsheim Trial Rg" pitchFamily="2" charset="77"/>
              </a:rPr>
              <a:t>Layer 1 — Isolation Forest</a:t>
            </a:r>
          </a:p>
        </p:txBody>
      </p:sp>
      <p:sp>
        <p:nvSpPr>
          <p:cNvPr id="7" name="Rectangle 6">
            <a:extLst>
              <a:ext uri="{FF2B5EF4-FFF2-40B4-BE49-F238E27FC236}">
                <a16:creationId xmlns:a16="http://schemas.microsoft.com/office/drawing/2014/main" id="{85604F91-922D-8DD6-CD44-0375F512B846}"/>
              </a:ext>
            </a:extLst>
          </p:cNvPr>
          <p:cNvSpPr/>
          <p:nvPr/>
        </p:nvSpPr>
        <p:spPr>
          <a:xfrm>
            <a:off x="854437" y="2168851"/>
            <a:ext cx="10723843" cy="8642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89E9928-1D9E-51AD-B1B8-C5747ADD65CD}"/>
                  </a:ext>
                </a:extLst>
              </p:cNvPr>
              <p:cNvSpPr txBox="1"/>
              <p:nvPr/>
            </p:nvSpPr>
            <p:spPr>
              <a:xfrm>
                <a:off x="2280998" y="2406935"/>
                <a:ext cx="7870718" cy="391261"/>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m:rPr>
                          <m:sty m:val="p"/>
                        </m:rPr>
                        <a:rPr lang="en-US" i="0" smtClean="0">
                          <a:effectLst/>
                          <a:latin typeface="Cambria Math" panose="02040503050406030204" pitchFamily="18" charset="0"/>
                        </a:rPr>
                        <m:t>Δ</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𝑑</m:t>
                          </m:r>
                        </m:e>
                        <m:sub>
                          <m:r>
                            <a:rPr lang="en-US" i="1" smtClean="0">
                              <a:effectLst/>
                              <a:latin typeface="Cambria Math" panose="02040503050406030204" pitchFamily="18" charset="0"/>
                            </a:rPr>
                            <m:t>5</m:t>
                          </m:r>
                          <m:r>
                            <a:rPr lang="en-US" i="1" smtClean="0">
                              <a:effectLst/>
                              <a:latin typeface="Cambria Math" panose="02040503050406030204" pitchFamily="18" charset="0"/>
                            </a:rPr>
                            <m:t>𝑠</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0</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1</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Speed</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2</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Acceleration</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3</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YawRate</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4</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𝑉</m:t>
                          </m:r>
                        </m:e>
                        <m:sub>
                          <m:r>
                            <a:rPr lang="en-US" i="1" smtClean="0">
                              <a:effectLst/>
                              <a:latin typeface="Cambria Math" panose="02040503050406030204" pitchFamily="18" charset="0"/>
                            </a:rPr>
                            <m:t>𝑥</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5</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𝑉</m:t>
                          </m:r>
                        </m:e>
                        <m:sub>
                          <m:r>
                            <a:rPr lang="en-US" i="1" smtClean="0">
                              <a:effectLst/>
                              <a:latin typeface="Cambria Math" panose="02040503050406030204" pitchFamily="18" charset="0"/>
                            </a:rPr>
                            <m:t>𝑦</m:t>
                          </m:r>
                        </m:sub>
                      </m:sSub>
                    </m:oMath>
                  </m:oMathPara>
                </a14:m>
                <a:endParaRPr lang="en-US" dirty="0">
                  <a:effectLst/>
                  <a:latin typeface="GT Walsheim Trial Rg" pitchFamily="2" charset="77"/>
                </a:endParaRPr>
              </a:p>
            </p:txBody>
          </p:sp>
        </mc:Choice>
        <mc:Fallback xmlns="">
          <p:sp>
            <p:nvSpPr>
              <p:cNvPr id="3" name="TextBox 2">
                <a:extLst>
                  <a:ext uri="{FF2B5EF4-FFF2-40B4-BE49-F238E27FC236}">
                    <a16:creationId xmlns:a16="http://schemas.microsoft.com/office/drawing/2014/main" id="{C89E9928-1D9E-51AD-B1B8-C5747ADD65CD}"/>
                  </a:ext>
                </a:extLst>
              </p:cNvPr>
              <p:cNvSpPr txBox="1">
                <a:spLocks noRot="1" noChangeAspect="1" noMove="1" noResize="1" noEditPoints="1" noAdjustHandles="1" noChangeArrowheads="1" noChangeShapeType="1" noTextEdit="1"/>
              </p:cNvSpPr>
              <p:nvPr/>
            </p:nvSpPr>
            <p:spPr>
              <a:xfrm>
                <a:off x="2280998" y="2406935"/>
                <a:ext cx="7870718" cy="391261"/>
              </a:xfrm>
              <a:prstGeom prst="rect">
                <a:avLst/>
              </a:prstGeom>
              <a:blipFill>
                <a:blip r:embed="rId4"/>
                <a:stretch>
                  <a:fillRect b="-6250"/>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926D24CC-E88C-F396-E04B-2061C7CF771B}"/>
              </a:ext>
            </a:extLst>
          </p:cNvPr>
          <p:cNvSpPr/>
          <p:nvPr/>
        </p:nvSpPr>
        <p:spPr>
          <a:xfrm>
            <a:off x="854438" y="1717968"/>
            <a:ext cx="10723843" cy="45088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FA320B-9F02-D466-AE9F-3493B7C54BA7}"/>
              </a:ext>
            </a:extLst>
          </p:cNvPr>
          <p:cNvSpPr txBox="1"/>
          <p:nvPr/>
        </p:nvSpPr>
        <p:spPr>
          <a:xfrm>
            <a:off x="5667367" y="1738717"/>
            <a:ext cx="1097981" cy="369332"/>
          </a:xfrm>
          <a:prstGeom prst="rect">
            <a:avLst/>
          </a:prstGeom>
          <a:noFill/>
        </p:spPr>
        <p:txBody>
          <a:bodyPr wrap="square">
            <a:spAutoFit/>
          </a:bodyPr>
          <a:lstStyle/>
          <a:p>
            <a:pPr algn="l"/>
            <a:r>
              <a:rPr lang="en-US" dirty="0">
                <a:solidFill>
                  <a:schemeClr val="bg1"/>
                </a:solidFill>
                <a:effectLst/>
                <a:latin typeface="GT Walsheim Trial Rg" pitchFamily="2" charset="77"/>
              </a:rPr>
              <a:t>Formula</a:t>
            </a:r>
          </a:p>
        </p:txBody>
      </p:sp>
      <p:graphicFrame>
        <p:nvGraphicFramePr>
          <p:cNvPr id="13" name="Table 12">
            <a:extLst>
              <a:ext uri="{FF2B5EF4-FFF2-40B4-BE49-F238E27FC236}">
                <a16:creationId xmlns:a16="http://schemas.microsoft.com/office/drawing/2014/main" id="{8C3A6D9A-0B4F-407F-748A-3383F0024D34}"/>
              </a:ext>
            </a:extLst>
          </p:cNvPr>
          <p:cNvGraphicFramePr>
            <a:graphicFrameLocks noGrp="1"/>
          </p:cNvGraphicFramePr>
          <p:nvPr>
            <p:extLst>
              <p:ext uri="{D42A27DB-BD31-4B8C-83A1-F6EECF244321}">
                <p14:modId xmlns:p14="http://schemas.microsoft.com/office/powerpoint/2010/main" val="3170060988"/>
              </p:ext>
            </p:extLst>
          </p:nvPr>
        </p:nvGraphicFramePr>
        <p:xfrm>
          <a:off x="854437" y="3271175"/>
          <a:ext cx="6602279" cy="1761946"/>
        </p:xfrm>
        <a:graphic>
          <a:graphicData uri="http://schemas.openxmlformats.org/drawingml/2006/table">
            <a:tbl>
              <a:tblPr firstRow="1" bandRow="1">
                <a:tableStyleId>{073A0DAA-6AF3-43AB-8588-CEC1D06C72B9}</a:tableStyleId>
              </a:tblPr>
              <a:tblGrid>
                <a:gridCol w="1650226">
                  <a:extLst>
                    <a:ext uri="{9D8B030D-6E8A-4147-A177-3AD203B41FA5}">
                      <a16:colId xmlns:a16="http://schemas.microsoft.com/office/drawing/2014/main" val="1610543496"/>
                    </a:ext>
                  </a:extLst>
                </a:gridCol>
                <a:gridCol w="1810485">
                  <a:extLst>
                    <a:ext uri="{9D8B030D-6E8A-4147-A177-3AD203B41FA5}">
                      <a16:colId xmlns:a16="http://schemas.microsoft.com/office/drawing/2014/main" val="2940384537"/>
                    </a:ext>
                  </a:extLst>
                </a:gridCol>
                <a:gridCol w="3141568">
                  <a:extLst>
                    <a:ext uri="{9D8B030D-6E8A-4147-A177-3AD203B41FA5}">
                      <a16:colId xmlns:a16="http://schemas.microsoft.com/office/drawing/2014/main" val="3740313691"/>
                    </a:ext>
                  </a:extLst>
                </a:gridCol>
              </a:tblGrid>
              <a:tr h="279076">
                <a:tc>
                  <a:txBody>
                    <a:bodyPr/>
                    <a:lstStyle/>
                    <a:p>
                      <a:endParaRPr lang="en-US" sz="1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solidFill>
                  </a:tcPr>
                </a:tc>
                <a:tc>
                  <a:txBody>
                    <a:bodyPr/>
                    <a:lstStyle/>
                    <a:p>
                      <a:r>
                        <a:rPr lang="en-US" sz="1500" b="0" i="0" dirty="0">
                          <a:solidFill>
                            <a:schemeClr val="bg1"/>
                          </a:solidFill>
                          <a:latin typeface="GT Walsheim Trial Rg" pitchFamily="2" charset="77"/>
                        </a:rPr>
                        <a:t>Condition 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Condition 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446633">
                <a:tc>
                  <a:txBody>
                    <a:bodyPr/>
                    <a:lstStyle/>
                    <a:p>
                      <a:r>
                        <a:rPr lang="en-US" sz="1500" b="0" i="0" dirty="0">
                          <a:solidFill>
                            <a:schemeClr val="tx1"/>
                          </a:solidFill>
                          <a:latin typeface="GT Walsheim Trial Rg" pitchFamily="2" charset="77"/>
                        </a:rPr>
                        <a:t>Dataset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All Agents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Moving agents only (Speed &gt;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446633">
                <a:tc>
                  <a:txBody>
                    <a:bodyPr/>
                    <a:lstStyle/>
                    <a:p>
                      <a:r>
                        <a:rPr lang="en-US" sz="1500" b="0" i="0" dirty="0">
                          <a:solidFill>
                            <a:schemeClr val="tx1"/>
                          </a:solidFill>
                          <a:latin typeface="GT Walsheim Trial Rg" pitchFamily="2" charset="77"/>
                        </a:rPr>
                        <a:t>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6,614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3,196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4466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Purpose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Baseline including easy cases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Honest evaluation under dynamics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51402671"/>
                  </a:ext>
                </a:extLst>
              </a:tr>
            </a:tbl>
          </a:graphicData>
        </a:graphic>
      </p:graphicFrame>
      <p:sp>
        <p:nvSpPr>
          <p:cNvPr id="14" name="Rectangle 13">
            <a:extLst>
              <a:ext uri="{FF2B5EF4-FFF2-40B4-BE49-F238E27FC236}">
                <a16:creationId xmlns:a16="http://schemas.microsoft.com/office/drawing/2014/main" id="{7D2A0522-26B5-AB30-52E8-78C52B62BB6C}"/>
              </a:ext>
            </a:extLst>
          </p:cNvPr>
          <p:cNvSpPr/>
          <p:nvPr/>
        </p:nvSpPr>
        <p:spPr>
          <a:xfrm>
            <a:off x="7699513" y="3253653"/>
            <a:ext cx="3878767" cy="315652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20090E7-5553-0025-BEA5-4C32A61CE758}"/>
              </a:ext>
            </a:extLst>
          </p:cNvPr>
          <p:cNvSpPr txBox="1"/>
          <p:nvPr/>
        </p:nvSpPr>
        <p:spPr>
          <a:xfrm>
            <a:off x="7946924" y="4231751"/>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BB0DA282-2F1C-FE40-560D-983DC4EE6AFC}"/>
              </a:ext>
            </a:extLst>
          </p:cNvPr>
          <p:cNvSpPr/>
          <p:nvPr/>
        </p:nvSpPr>
        <p:spPr>
          <a:xfrm>
            <a:off x="854439" y="5253683"/>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30CEAD5-2798-7B65-ED0C-0B70929BD33D}"/>
              </a:ext>
            </a:extLst>
          </p:cNvPr>
          <p:cNvSpPr txBox="1"/>
          <p:nvPr/>
        </p:nvSpPr>
        <p:spPr>
          <a:xfrm>
            <a:off x="1619369" y="5412484"/>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EB9F7996-7A6B-FE36-9CEC-30F1AD4CBB04}"/>
              </a:ext>
            </a:extLst>
          </p:cNvPr>
          <p:cNvSpPr txBox="1"/>
          <p:nvPr/>
        </p:nvSpPr>
        <p:spPr>
          <a:xfrm>
            <a:off x="389899" y="4705581"/>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spTree>
    <p:extLst>
      <p:ext uri="{BB962C8B-B14F-4D97-AF65-F5344CB8AC3E}">
        <p14:creationId xmlns:p14="http://schemas.microsoft.com/office/powerpoint/2010/main" val="1500307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5D17-03D9-44FB-2525-A230A9DCFA2A}"/>
            </a:ext>
          </a:extLst>
        </p:cNvPr>
        <p:cNvGrpSpPr/>
        <p:nvPr/>
      </p:nvGrpSpPr>
      <p:grpSpPr>
        <a:xfrm>
          <a:off x="0" y="0"/>
          <a:ext cx="0" cy="0"/>
          <a:chOff x="0" y="0"/>
          <a:chExt cx="0" cy="0"/>
        </a:xfrm>
      </p:grpSpPr>
      <p:sp>
        <p:nvSpPr>
          <p:cNvPr id="12" name="Freeform 11">
            <a:extLst>
              <a:ext uri="{FF2B5EF4-FFF2-40B4-BE49-F238E27FC236}">
                <a16:creationId xmlns:a16="http://schemas.microsoft.com/office/drawing/2014/main" id="{879D5AE1-D670-17B5-C1A3-0D759721D43E}"/>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D37E2142-0FFF-FBCA-977C-BD6E52F367DE}"/>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08C5FC6B-2A30-8CF0-4995-D7BFA29BF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BDC90D8-8254-451E-8A54-63DD1F1D44D3}"/>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SECTION A - RESULTS  </a:t>
            </a:r>
          </a:p>
        </p:txBody>
      </p:sp>
      <p:sp>
        <p:nvSpPr>
          <p:cNvPr id="8" name="TextBox 7">
            <a:extLst>
              <a:ext uri="{FF2B5EF4-FFF2-40B4-BE49-F238E27FC236}">
                <a16:creationId xmlns:a16="http://schemas.microsoft.com/office/drawing/2014/main" id="{CA5BCE23-5067-2282-04B1-B7A52B3128DB}"/>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Results: Descriptive Statistics</a:t>
            </a:r>
          </a:p>
        </p:txBody>
      </p:sp>
      <p:sp>
        <p:nvSpPr>
          <p:cNvPr id="6" name="Rectangle 5">
            <a:extLst>
              <a:ext uri="{FF2B5EF4-FFF2-40B4-BE49-F238E27FC236}">
                <a16:creationId xmlns:a16="http://schemas.microsoft.com/office/drawing/2014/main" id="{C9115712-845E-BD5C-5877-2CC7215556E8}"/>
              </a:ext>
            </a:extLst>
          </p:cNvPr>
          <p:cNvSpPr/>
          <p:nvPr/>
        </p:nvSpPr>
        <p:spPr>
          <a:xfrm>
            <a:off x="854438" y="1839301"/>
            <a:ext cx="10723843" cy="45088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30DBAAC-CC45-B6C4-5865-26D213AD62FB}"/>
              </a:ext>
            </a:extLst>
          </p:cNvPr>
          <p:cNvSpPr txBox="1"/>
          <p:nvPr/>
        </p:nvSpPr>
        <p:spPr>
          <a:xfrm>
            <a:off x="4270171" y="1880076"/>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Mean Speed by Agent Type (m/s)</a:t>
            </a:r>
          </a:p>
        </p:txBody>
      </p:sp>
      <p:sp>
        <p:nvSpPr>
          <p:cNvPr id="19" name="TextBox 18">
            <a:extLst>
              <a:ext uri="{FF2B5EF4-FFF2-40B4-BE49-F238E27FC236}">
                <a16:creationId xmlns:a16="http://schemas.microsoft.com/office/drawing/2014/main" id="{D967FE5B-F13A-94B5-C02F-038A0C8990B0}"/>
              </a:ext>
            </a:extLst>
          </p:cNvPr>
          <p:cNvSpPr txBox="1"/>
          <p:nvPr/>
        </p:nvSpPr>
        <p:spPr>
          <a:xfrm>
            <a:off x="7520578" y="9301668"/>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0909F16F-0A5C-F265-F0A0-690C41791F6A}"/>
              </a:ext>
            </a:extLst>
          </p:cNvPr>
          <p:cNvSpPr/>
          <p:nvPr/>
        </p:nvSpPr>
        <p:spPr>
          <a:xfrm>
            <a:off x="-223735" y="10155892"/>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723AF3-74A0-D29C-3621-6F5F9EFF648E}"/>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31CF2942-2A27-BC3B-2E88-D72CF9981F3D}"/>
              </a:ext>
            </a:extLst>
          </p:cNvPr>
          <p:cNvSpPr txBox="1"/>
          <p:nvPr/>
        </p:nvSpPr>
        <p:spPr>
          <a:xfrm>
            <a:off x="-688275" y="9607790"/>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graphicFrame>
        <p:nvGraphicFramePr>
          <p:cNvPr id="9" name="Table 8">
            <a:extLst>
              <a:ext uri="{FF2B5EF4-FFF2-40B4-BE49-F238E27FC236}">
                <a16:creationId xmlns:a16="http://schemas.microsoft.com/office/drawing/2014/main" id="{CF32A97D-8C0A-55E5-E1FC-D4E82FD5E137}"/>
              </a:ext>
            </a:extLst>
          </p:cNvPr>
          <p:cNvGraphicFramePr>
            <a:graphicFrameLocks noGrp="1"/>
          </p:cNvGraphicFramePr>
          <p:nvPr>
            <p:extLst>
              <p:ext uri="{D42A27DB-BD31-4B8C-83A1-F6EECF244321}">
                <p14:modId xmlns:p14="http://schemas.microsoft.com/office/powerpoint/2010/main" val="1540186146"/>
              </p:ext>
            </p:extLst>
          </p:nvPr>
        </p:nvGraphicFramePr>
        <p:xfrm>
          <a:off x="854438" y="2721367"/>
          <a:ext cx="10723843" cy="2064642"/>
        </p:xfrm>
        <a:graphic>
          <a:graphicData uri="http://schemas.openxmlformats.org/drawingml/2006/table">
            <a:tbl>
              <a:tblPr firstRow="1" bandRow="1">
                <a:tableStyleId>{073A0DAA-6AF3-43AB-8588-CEC1D06C72B9}</a:tableStyleId>
              </a:tblPr>
              <a:tblGrid>
                <a:gridCol w="2413651">
                  <a:extLst>
                    <a:ext uri="{9D8B030D-6E8A-4147-A177-3AD203B41FA5}">
                      <a16:colId xmlns:a16="http://schemas.microsoft.com/office/drawing/2014/main" val="1610543496"/>
                    </a:ext>
                  </a:extLst>
                </a:gridCol>
                <a:gridCol w="3747930">
                  <a:extLst>
                    <a:ext uri="{9D8B030D-6E8A-4147-A177-3AD203B41FA5}">
                      <a16:colId xmlns:a16="http://schemas.microsoft.com/office/drawing/2014/main" val="2940384537"/>
                    </a:ext>
                  </a:extLst>
                </a:gridCol>
                <a:gridCol w="4562262">
                  <a:extLst>
                    <a:ext uri="{9D8B030D-6E8A-4147-A177-3AD203B41FA5}">
                      <a16:colId xmlns:a16="http://schemas.microsoft.com/office/drawing/2014/main" val="3740313691"/>
                    </a:ext>
                  </a:extLst>
                </a:gridCol>
              </a:tblGrid>
              <a:tr h="296694">
                <a:tc>
                  <a:txBody>
                    <a:bodyPr/>
                    <a:lstStyle/>
                    <a:p>
                      <a:r>
                        <a:rPr lang="en-US" sz="1500" b="0" i="0" dirty="0">
                          <a:solidFill>
                            <a:schemeClr val="bg1"/>
                          </a:solidFill>
                          <a:latin typeface="GT Walsheim Trial Rg" pitchFamily="2" charset="77"/>
                        </a:rPr>
                        <a:t>Agent 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All Agent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Moving Only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581534">
                <a:tc>
                  <a:txBody>
                    <a:bodyPr/>
                    <a:lstStyle/>
                    <a:p>
                      <a:r>
                        <a:rPr lang="en-US" sz="1500" b="0" i="0" dirty="0">
                          <a:solidFill>
                            <a:schemeClr val="tx1"/>
                          </a:solidFill>
                          <a:latin typeface="GT Walsheim Trial Rg" pitchFamily="2" charset="77"/>
                        </a:rPr>
                        <a:t>Vehicle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2.47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6.74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581534">
                <a:tc>
                  <a:txBody>
                    <a:bodyPr/>
                    <a:lstStyle/>
                    <a:p>
                      <a:r>
                        <a:rPr lang="en-US" sz="1500" b="0" i="0" dirty="0">
                          <a:solidFill>
                            <a:schemeClr val="tx1"/>
                          </a:solidFill>
                          <a:latin typeface="GT Walsheim Trial Rg" pitchFamily="2" charset="77"/>
                        </a:rPr>
                        <a:t>Pedestrian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4.20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3.92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581534">
                <a:tc>
                  <a:txBody>
                    <a:bodyPr/>
                    <a:lstStyle/>
                    <a:p>
                      <a:r>
                        <a:rPr lang="en-US" sz="1500" b="0" i="0" dirty="0">
                          <a:solidFill>
                            <a:schemeClr val="tx1"/>
                          </a:solidFill>
                          <a:latin typeface="GT Walsheim Trial Rg" pitchFamily="2" charset="77"/>
                        </a:rPr>
                        <a:t>Cyclist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1.01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1.01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bl>
          </a:graphicData>
        </a:graphic>
      </p:graphicFrame>
      <p:sp>
        <p:nvSpPr>
          <p:cNvPr id="11" name="TextBox 10">
            <a:extLst>
              <a:ext uri="{FF2B5EF4-FFF2-40B4-BE49-F238E27FC236}">
                <a16:creationId xmlns:a16="http://schemas.microsoft.com/office/drawing/2014/main" id="{81A8C484-CD19-7BCB-8ED6-8DA75F360705}"/>
              </a:ext>
            </a:extLst>
          </p:cNvPr>
          <p:cNvSpPr txBox="1"/>
          <p:nvPr/>
        </p:nvSpPr>
        <p:spPr>
          <a:xfrm>
            <a:off x="791803" y="5177461"/>
            <a:ext cx="10786478" cy="646331"/>
          </a:xfrm>
          <a:prstGeom prst="rect">
            <a:avLst/>
          </a:prstGeom>
          <a:noFill/>
        </p:spPr>
        <p:txBody>
          <a:bodyPr wrap="square">
            <a:spAutoFit/>
          </a:bodyPr>
          <a:lstStyle/>
          <a:p>
            <a:pPr algn="l"/>
            <a:r>
              <a:rPr lang="en-US" b="1" dirty="0">
                <a:effectLst/>
                <a:latin typeface="GT Walsheim Trial Rg" pitchFamily="2" charset="77"/>
              </a:rPr>
              <a:t>Without filtering: vehicles appear slower than cyclists due to stopped cars at intersections. Filtering restores expected ordering.</a:t>
            </a:r>
            <a:endParaRPr lang="en-US" dirty="0">
              <a:effectLst/>
              <a:latin typeface="GT Walsheim Trial Rg" pitchFamily="2" charset="77"/>
            </a:endParaRPr>
          </a:p>
        </p:txBody>
      </p:sp>
    </p:spTree>
    <p:extLst>
      <p:ext uri="{BB962C8B-B14F-4D97-AF65-F5344CB8AC3E}">
        <p14:creationId xmlns:p14="http://schemas.microsoft.com/office/powerpoint/2010/main" val="351143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2C1864-B821-A354-EF4D-BEA1BAB91A28}"/>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C8E9BA9D-DCF3-4861-65EB-D29E6BD5BF6E}"/>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E120A76A-6063-D435-D8DA-689329698EAB}"/>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CE773485-6780-02DC-B58E-3EECCE6B6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2EA372C-6D3A-EED6-6C44-E63BC22B6F82}"/>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SECTION B - RESULTS  </a:t>
            </a:r>
          </a:p>
        </p:txBody>
      </p:sp>
      <p:sp>
        <p:nvSpPr>
          <p:cNvPr id="8" name="TextBox 7">
            <a:extLst>
              <a:ext uri="{FF2B5EF4-FFF2-40B4-BE49-F238E27FC236}">
                <a16:creationId xmlns:a16="http://schemas.microsoft.com/office/drawing/2014/main" id="{F9CA362B-3511-B893-5B5B-8C6464343376}"/>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Results: Anomaly Detection Results</a:t>
            </a:r>
          </a:p>
        </p:txBody>
      </p:sp>
      <p:sp>
        <p:nvSpPr>
          <p:cNvPr id="6" name="Rectangle 5">
            <a:extLst>
              <a:ext uri="{FF2B5EF4-FFF2-40B4-BE49-F238E27FC236}">
                <a16:creationId xmlns:a16="http://schemas.microsoft.com/office/drawing/2014/main" id="{20AA69BA-C691-5B0A-9C77-BCF673AA2090}"/>
              </a:ext>
            </a:extLst>
          </p:cNvPr>
          <p:cNvSpPr/>
          <p:nvPr/>
        </p:nvSpPr>
        <p:spPr>
          <a:xfrm>
            <a:off x="854438" y="1839301"/>
            <a:ext cx="10723843" cy="450883"/>
          </a:xfrm>
          <a:prstGeom prst="rect">
            <a:avLst/>
          </a:prstGeom>
          <a:solidFill>
            <a:srgbClr val="949A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FB96CA1-CB36-826F-5576-3E7A3D1F46E7}"/>
              </a:ext>
            </a:extLst>
          </p:cNvPr>
          <p:cNvSpPr txBox="1"/>
          <p:nvPr/>
        </p:nvSpPr>
        <p:spPr>
          <a:xfrm>
            <a:off x="4001985" y="1892389"/>
            <a:ext cx="4188029" cy="369332"/>
          </a:xfrm>
          <a:prstGeom prst="rect">
            <a:avLst/>
          </a:prstGeom>
          <a:noFill/>
        </p:spPr>
        <p:txBody>
          <a:bodyPr wrap="square">
            <a:spAutoFit/>
          </a:bodyPr>
          <a:lstStyle/>
          <a:p>
            <a:pPr algn="l"/>
            <a:r>
              <a:rPr lang="en-US" dirty="0">
                <a:solidFill>
                  <a:schemeClr val="bg1"/>
                </a:solidFill>
                <a:effectLst/>
                <a:latin typeface="GT Walsheim Trial Rg" pitchFamily="2" charset="77"/>
              </a:rPr>
              <a:t>Random Forest Classifier Performance</a:t>
            </a:r>
          </a:p>
        </p:txBody>
      </p:sp>
      <p:sp>
        <p:nvSpPr>
          <p:cNvPr id="19" name="TextBox 18">
            <a:extLst>
              <a:ext uri="{FF2B5EF4-FFF2-40B4-BE49-F238E27FC236}">
                <a16:creationId xmlns:a16="http://schemas.microsoft.com/office/drawing/2014/main" id="{7763328F-5B74-FF89-6105-41348B1621B6}"/>
              </a:ext>
            </a:extLst>
          </p:cNvPr>
          <p:cNvSpPr txBox="1"/>
          <p:nvPr/>
        </p:nvSpPr>
        <p:spPr>
          <a:xfrm>
            <a:off x="7520578" y="9301668"/>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B8A315BA-FB29-FE05-79F7-04FDFFF015FC}"/>
              </a:ext>
            </a:extLst>
          </p:cNvPr>
          <p:cNvSpPr/>
          <p:nvPr/>
        </p:nvSpPr>
        <p:spPr>
          <a:xfrm>
            <a:off x="-223735" y="10155892"/>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12B3246-6737-9678-1B7D-7F8D35A1BFDE}"/>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153CB52F-9BFB-85AD-4F24-2D7EA4309EC4}"/>
              </a:ext>
            </a:extLst>
          </p:cNvPr>
          <p:cNvSpPr txBox="1"/>
          <p:nvPr/>
        </p:nvSpPr>
        <p:spPr>
          <a:xfrm>
            <a:off x="-688275" y="9607790"/>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graphicFrame>
        <p:nvGraphicFramePr>
          <p:cNvPr id="9" name="Table 8">
            <a:extLst>
              <a:ext uri="{FF2B5EF4-FFF2-40B4-BE49-F238E27FC236}">
                <a16:creationId xmlns:a16="http://schemas.microsoft.com/office/drawing/2014/main" id="{2F351178-9490-D064-1CA6-081BE3C8614C}"/>
              </a:ext>
            </a:extLst>
          </p:cNvPr>
          <p:cNvGraphicFramePr>
            <a:graphicFrameLocks noGrp="1"/>
          </p:cNvGraphicFramePr>
          <p:nvPr>
            <p:extLst>
              <p:ext uri="{D42A27DB-BD31-4B8C-83A1-F6EECF244321}">
                <p14:modId xmlns:p14="http://schemas.microsoft.com/office/powerpoint/2010/main" val="782688522"/>
              </p:ext>
            </p:extLst>
          </p:nvPr>
        </p:nvGraphicFramePr>
        <p:xfrm>
          <a:off x="854438" y="2513195"/>
          <a:ext cx="10723843" cy="2885920"/>
        </p:xfrm>
        <a:graphic>
          <a:graphicData uri="http://schemas.openxmlformats.org/drawingml/2006/table">
            <a:tbl>
              <a:tblPr firstRow="1" bandRow="1">
                <a:tableStyleId>{073A0DAA-6AF3-43AB-8588-CEC1D06C72B9}</a:tableStyleId>
              </a:tblPr>
              <a:tblGrid>
                <a:gridCol w="2413651">
                  <a:extLst>
                    <a:ext uri="{9D8B030D-6E8A-4147-A177-3AD203B41FA5}">
                      <a16:colId xmlns:a16="http://schemas.microsoft.com/office/drawing/2014/main" val="1610543496"/>
                    </a:ext>
                  </a:extLst>
                </a:gridCol>
                <a:gridCol w="3747930">
                  <a:extLst>
                    <a:ext uri="{9D8B030D-6E8A-4147-A177-3AD203B41FA5}">
                      <a16:colId xmlns:a16="http://schemas.microsoft.com/office/drawing/2014/main" val="2940384537"/>
                    </a:ext>
                  </a:extLst>
                </a:gridCol>
                <a:gridCol w="4562262">
                  <a:extLst>
                    <a:ext uri="{9D8B030D-6E8A-4147-A177-3AD203B41FA5}">
                      <a16:colId xmlns:a16="http://schemas.microsoft.com/office/drawing/2014/main" val="3740313691"/>
                    </a:ext>
                  </a:extLst>
                </a:gridCol>
              </a:tblGrid>
              <a:tr h="282420">
                <a:tc>
                  <a:txBody>
                    <a:bodyPr/>
                    <a:lstStyle/>
                    <a:p>
                      <a:r>
                        <a:rPr lang="en-US" sz="1500" b="0" i="0" dirty="0">
                          <a:solidFill>
                            <a:schemeClr val="bg1"/>
                          </a:solidFill>
                          <a:latin typeface="GT Walsheim Trial Rg" pitchFamily="2" charset="77"/>
                        </a:rPr>
                        <a:t>Metric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49AA0"/>
                    </a:solidFill>
                  </a:tcPr>
                </a:tc>
                <a:tc>
                  <a:txBody>
                    <a:bodyPr/>
                    <a:lstStyle/>
                    <a:p>
                      <a:r>
                        <a:rPr lang="en-US" sz="1500" b="0" i="0" dirty="0">
                          <a:solidFill>
                            <a:schemeClr val="bg1"/>
                          </a:solidFill>
                          <a:latin typeface="GT Walsheim Trial Rg" pitchFamily="2" charset="77"/>
                        </a:rPr>
                        <a:t>CV (Train)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49AA0"/>
                    </a:solidFill>
                  </a:tcPr>
                </a:tc>
                <a:tc>
                  <a:txBody>
                    <a:bodyPr/>
                    <a:lstStyle/>
                    <a:p>
                      <a:r>
                        <a:rPr lang="en-US" sz="1500" b="0" i="0" dirty="0">
                          <a:solidFill>
                            <a:schemeClr val="bg1"/>
                          </a:solidFill>
                          <a:latin typeface="GT Walsheim Trial Rg" pitchFamily="2" charset="77"/>
                        </a:rPr>
                        <a:t>Test (Hold-out)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49AA0"/>
                    </a:solidFill>
                  </a:tcPr>
                </a:tc>
                <a:extLst>
                  <a:ext uri="{0D108BD9-81ED-4DB2-BD59-A6C34878D82A}">
                    <a16:rowId xmlns:a16="http://schemas.microsoft.com/office/drawing/2014/main" val="4220759275"/>
                  </a:ext>
                </a:extLst>
              </a:tr>
              <a:tr h="513176">
                <a:tc>
                  <a:txBody>
                    <a:bodyPr/>
                    <a:lstStyle/>
                    <a:p>
                      <a:r>
                        <a:rPr lang="en-US" sz="1500" b="0" i="0" dirty="0">
                          <a:solidFill>
                            <a:schemeClr val="tx1"/>
                          </a:solidFill>
                          <a:latin typeface="GT Walsheim Trial Rg" pitchFamily="2" charset="77"/>
                        </a:rPr>
                        <a:t>AUC-ROC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0.887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500" b="0" i="0" dirty="0">
                        <a:solidFill>
                          <a:schemeClr val="tx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lumMod val="50000"/>
                          <a:lumOff val="50000"/>
                        </a:schemeClr>
                      </a:solidFill>
                      <a:prstDash val="solid"/>
                      <a:round/>
                      <a:headEnd type="none" w="med" len="med"/>
                      <a:tailEnd type="none" w="med" len="med"/>
                    </a:lnTlToBr>
                    <a:lnBlToTr w="12700" cap="flat" cmpd="sng" algn="ctr">
                      <a:solidFill>
                        <a:schemeClr val="tx1">
                          <a:lumMod val="50000"/>
                          <a:lumOff val="50000"/>
                        </a:schemeClr>
                      </a:solidFill>
                      <a:prstDash val="solid"/>
                      <a:round/>
                      <a:headEnd type="none" w="med" len="med"/>
                      <a:tailEnd type="none" w="med" len="med"/>
                    </a:lnBlToTr>
                    <a:solidFill>
                      <a:schemeClr val="bg1">
                        <a:lumMod val="95000"/>
                      </a:schemeClr>
                    </a:solidFill>
                  </a:tcPr>
                </a:tc>
                <a:extLst>
                  <a:ext uri="{0D108BD9-81ED-4DB2-BD59-A6C34878D82A}">
                    <a16:rowId xmlns:a16="http://schemas.microsoft.com/office/drawing/2014/main" val="4152326013"/>
                  </a:ext>
                </a:extLst>
              </a:tr>
              <a:tr h="513176">
                <a:tc>
                  <a:txBody>
                    <a:bodyPr/>
                    <a:lstStyle/>
                    <a:p>
                      <a:r>
                        <a:rPr lang="en-US" sz="1500" b="0" i="0" dirty="0">
                          <a:solidFill>
                            <a:schemeClr val="tx1"/>
                          </a:solidFill>
                          <a:latin typeface="GT Walsheim Trial Rg" pitchFamily="2" charset="77"/>
                        </a:rPr>
                        <a:t>Sensitivity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0.836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0.796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513176">
                <a:tc>
                  <a:txBody>
                    <a:bodyPr/>
                    <a:lstStyle/>
                    <a:p>
                      <a:r>
                        <a:rPr lang="en-US" sz="1500" b="0" i="0" dirty="0">
                          <a:solidFill>
                            <a:schemeClr val="tx1"/>
                          </a:solidFill>
                          <a:latin typeface="GT Walsheim Trial Rg" pitchFamily="2" charset="77"/>
                        </a:rPr>
                        <a:t>Specificity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0.839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0.667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r h="513176">
                <a:tc>
                  <a:txBody>
                    <a:bodyPr/>
                    <a:lstStyle/>
                    <a:p>
                      <a:r>
                        <a:rPr lang="en-US" sz="1500" b="0" i="0" dirty="0">
                          <a:solidFill>
                            <a:schemeClr val="tx1"/>
                          </a:solidFill>
                          <a:latin typeface="GT Walsheim Trial Rg" pitchFamily="2" charset="77"/>
                        </a:rPr>
                        <a:t>Accuracy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US" sz="1500" b="0" i="0" dirty="0">
                        <a:solidFill>
                          <a:schemeClr val="tx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lumMod val="50000"/>
                          <a:lumOff val="50000"/>
                        </a:schemeClr>
                      </a:solidFill>
                      <a:prstDash val="solid"/>
                      <a:round/>
                      <a:headEnd type="none" w="med" len="med"/>
                      <a:tailEnd type="none" w="med" len="med"/>
                    </a:lnTlToBr>
                    <a:lnBlToTr w="12700" cap="flat" cmpd="sng" algn="ctr">
                      <a:solidFill>
                        <a:schemeClr val="tx1">
                          <a:lumMod val="50000"/>
                          <a:lumOff val="50000"/>
                        </a:schemeClr>
                      </a:solidFill>
                      <a:prstDash val="solid"/>
                      <a:round/>
                      <a:headEnd type="none" w="med" len="med"/>
                      <a:tailEnd type="none" w="med" len="med"/>
                    </a:lnBlToTr>
                    <a:solidFill>
                      <a:schemeClr val="bg1">
                        <a:lumMod val="85000"/>
                      </a:schemeClr>
                    </a:solidFill>
                  </a:tcPr>
                </a:tc>
                <a:tc>
                  <a:txBody>
                    <a:bodyPr/>
                    <a:lstStyle/>
                    <a:p>
                      <a:r>
                        <a:rPr lang="en-US" sz="1500" b="0" i="0" dirty="0">
                          <a:solidFill>
                            <a:schemeClr val="tx1"/>
                          </a:solidFill>
                          <a:latin typeface="GT Walsheim Trial Rg" pitchFamily="2" charset="77"/>
                        </a:rPr>
                        <a:t>79.5%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83985548"/>
                  </a:ext>
                </a:extLst>
              </a:tr>
              <a:tr h="513176">
                <a:tc>
                  <a:txBody>
                    <a:bodyPr/>
                    <a:lstStyle/>
                    <a:p>
                      <a:r>
                        <a:rPr lang="en-US" sz="1500" b="0" i="0" dirty="0">
                          <a:solidFill>
                            <a:schemeClr val="tx1"/>
                          </a:solidFill>
                          <a:latin typeface="GT Walsheim Trial Rg" pitchFamily="2" charset="77"/>
                        </a:rPr>
                        <a:t>Balanced Accuracy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500" b="0" i="0" dirty="0">
                        <a:solidFill>
                          <a:schemeClr val="tx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lumMod val="50000"/>
                          <a:lumOff val="50000"/>
                        </a:schemeClr>
                      </a:solidFill>
                      <a:prstDash val="solid"/>
                      <a:round/>
                      <a:headEnd type="none" w="med" len="med"/>
                      <a:tailEnd type="none" w="med" len="med"/>
                    </a:lnTlToBr>
                    <a:lnBlToTr w="12700" cap="flat" cmpd="sng" algn="ctr">
                      <a:solidFill>
                        <a:schemeClr val="tx1">
                          <a:lumMod val="50000"/>
                          <a:lumOff val="50000"/>
                        </a:schemeClr>
                      </a:solidFill>
                      <a:prstDash val="solid"/>
                      <a:round/>
                      <a:headEnd type="none" w="med" len="med"/>
                      <a:tailEnd type="none" w="med" len="med"/>
                    </a:lnBlToTr>
                    <a:solidFill>
                      <a:schemeClr val="bg1">
                        <a:lumMod val="95000"/>
                      </a:schemeClr>
                    </a:solidFill>
                  </a:tcPr>
                </a:tc>
                <a:tc>
                  <a:txBody>
                    <a:bodyPr/>
                    <a:lstStyle/>
                    <a:p>
                      <a:r>
                        <a:rPr lang="en-US" sz="1500" b="0" i="0" dirty="0">
                          <a:solidFill>
                            <a:schemeClr val="tx1"/>
                          </a:solidFill>
                          <a:latin typeface="GT Walsheim Trial Rg" pitchFamily="2" charset="77"/>
                        </a:rPr>
                        <a:t>73.1%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1306824"/>
                  </a:ext>
                </a:extLst>
              </a:tr>
            </a:tbl>
          </a:graphicData>
        </a:graphic>
      </p:graphicFrame>
      <p:sp>
        <p:nvSpPr>
          <p:cNvPr id="11" name="TextBox 10">
            <a:extLst>
              <a:ext uri="{FF2B5EF4-FFF2-40B4-BE49-F238E27FC236}">
                <a16:creationId xmlns:a16="http://schemas.microsoft.com/office/drawing/2014/main" id="{A8370A88-D7AF-5FE5-ED80-AEF8EF0AA74E}"/>
              </a:ext>
            </a:extLst>
          </p:cNvPr>
          <p:cNvSpPr txBox="1"/>
          <p:nvPr/>
        </p:nvSpPr>
        <p:spPr>
          <a:xfrm>
            <a:off x="854438" y="5637952"/>
            <a:ext cx="10786478" cy="369332"/>
          </a:xfrm>
          <a:prstGeom prst="rect">
            <a:avLst/>
          </a:prstGeom>
          <a:noFill/>
        </p:spPr>
        <p:txBody>
          <a:bodyPr wrap="square">
            <a:spAutoFit/>
          </a:bodyPr>
          <a:lstStyle/>
          <a:p>
            <a:pPr algn="l"/>
            <a:r>
              <a:rPr lang="en-US" b="1" dirty="0">
                <a:effectLst/>
                <a:latin typeface="GT Walsheim Trial Rg" pitchFamily="2" charset="77"/>
              </a:rPr>
              <a:t>Fisher's Exact Test: p = 0.0005 — anomalies are non-uniformly distributed across agent types.</a:t>
            </a:r>
            <a:endParaRPr lang="en-US" dirty="0">
              <a:effectLst/>
              <a:latin typeface="GT Walsheim Trial Rg" pitchFamily="2" charset="77"/>
            </a:endParaRPr>
          </a:p>
        </p:txBody>
      </p:sp>
      <p:pic>
        <p:nvPicPr>
          <p:cNvPr id="2" name="Picture 4" descr="Waymo branded color scheme">
            <a:extLst>
              <a:ext uri="{FF2B5EF4-FFF2-40B4-BE49-F238E27FC236}">
                <a16:creationId xmlns:a16="http://schemas.microsoft.com/office/drawing/2014/main" id="{2EEF9C1F-B66B-6B4A-9B7B-F8AC1776C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9835" y="-1189446"/>
            <a:ext cx="5334000" cy="200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322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F0CC6-4FF6-0E4E-CF61-DBA7A29F10E0}"/>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B627A361-7570-7601-C26C-091F1FFDB3EB}"/>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E34AB5F9-1251-1ADB-EB39-767E848BDE32}"/>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C50B9A37-2D86-6D3F-4E2F-9CF7F59F9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E991148E-C7B3-AF37-6FBE-DB2712014BBC}"/>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SECTION C - RESULTS  </a:t>
            </a:r>
          </a:p>
        </p:txBody>
      </p:sp>
      <p:sp>
        <p:nvSpPr>
          <p:cNvPr id="8" name="TextBox 7">
            <a:extLst>
              <a:ext uri="{FF2B5EF4-FFF2-40B4-BE49-F238E27FC236}">
                <a16:creationId xmlns:a16="http://schemas.microsoft.com/office/drawing/2014/main" id="{04DB3658-EC7A-F6E3-8994-CDBC3FB25E31}"/>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Results: Motion Prediction Results</a:t>
            </a:r>
          </a:p>
        </p:txBody>
      </p:sp>
      <p:sp>
        <p:nvSpPr>
          <p:cNvPr id="6" name="Rectangle 5">
            <a:extLst>
              <a:ext uri="{FF2B5EF4-FFF2-40B4-BE49-F238E27FC236}">
                <a16:creationId xmlns:a16="http://schemas.microsoft.com/office/drawing/2014/main" id="{9987A699-1DBC-7AF5-4AE6-520309D6C5D0}"/>
              </a:ext>
            </a:extLst>
          </p:cNvPr>
          <p:cNvSpPr/>
          <p:nvPr/>
        </p:nvSpPr>
        <p:spPr>
          <a:xfrm>
            <a:off x="854437" y="2653828"/>
            <a:ext cx="10723843" cy="450883"/>
          </a:xfrm>
          <a:prstGeom prst="rect">
            <a:avLst/>
          </a:prstGeom>
          <a:solidFill>
            <a:srgbClr val="00E9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0ADED70-C2D4-D9B7-45D7-22A69B85F0AB}"/>
              </a:ext>
            </a:extLst>
          </p:cNvPr>
          <p:cNvSpPr txBox="1"/>
          <p:nvPr/>
        </p:nvSpPr>
        <p:spPr>
          <a:xfrm>
            <a:off x="3669370" y="2719553"/>
            <a:ext cx="4853257" cy="369332"/>
          </a:xfrm>
          <a:prstGeom prst="rect">
            <a:avLst/>
          </a:prstGeom>
          <a:noFill/>
        </p:spPr>
        <p:txBody>
          <a:bodyPr wrap="square">
            <a:spAutoFit/>
          </a:bodyPr>
          <a:lstStyle/>
          <a:p>
            <a:pPr algn="l"/>
            <a:r>
              <a:rPr lang="en-US" dirty="0">
                <a:effectLst/>
                <a:latin typeface="GT Walsheim Trial Rg" pitchFamily="2" charset="77"/>
              </a:rPr>
              <a:t>Linear Regression — 5-Second Displacement</a:t>
            </a:r>
          </a:p>
        </p:txBody>
      </p:sp>
      <p:sp>
        <p:nvSpPr>
          <p:cNvPr id="19" name="TextBox 18">
            <a:extLst>
              <a:ext uri="{FF2B5EF4-FFF2-40B4-BE49-F238E27FC236}">
                <a16:creationId xmlns:a16="http://schemas.microsoft.com/office/drawing/2014/main" id="{4ADCE13D-E535-FD3B-0A95-09E6729FE9B8}"/>
              </a:ext>
            </a:extLst>
          </p:cNvPr>
          <p:cNvSpPr txBox="1"/>
          <p:nvPr/>
        </p:nvSpPr>
        <p:spPr>
          <a:xfrm>
            <a:off x="7520578" y="9301668"/>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0E35D3E9-166B-C73D-983C-9037ED5FBDAE}"/>
              </a:ext>
            </a:extLst>
          </p:cNvPr>
          <p:cNvSpPr/>
          <p:nvPr/>
        </p:nvSpPr>
        <p:spPr>
          <a:xfrm>
            <a:off x="-223735" y="10155892"/>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E5442DB-9CB5-8433-9C85-CAA8A70DE15A}"/>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ADD74C3E-1364-321F-88E2-266F00FB162C}"/>
              </a:ext>
            </a:extLst>
          </p:cNvPr>
          <p:cNvSpPr txBox="1"/>
          <p:nvPr/>
        </p:nvSpPr>
        <p:spPr>
          <a:xfrm>
            <a:off x="-688275" y="9607790"/>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graphicFrame>
        <p:nvGraphicFramePr>
          <p:cNvPr id="9" name="Table 8">
            <a:extLst>
              <a:ext uri="{FF2B5EF4-FFF2-40B4-BE49-F238E27FC236}">
                <a16:creationId xmlns:a16="http://schemas.microsoft.com/office/drawing/2014/main" id="{A62909D0-5DBE-A4D8-895C-489D7175BA94}"/>
              </a:ext>
            </a:extLst>
          </p:cNvPr>
          <p:cNvGraphicFramePr>
            <a:graphicFrameLocks noGrp="1"/>
          </p:cNvGraphicFramePr>
          <p:nvPr>
            <p:extLst>
              <p:ext uri="{D42A27DB-BD31-4B8C-83A1-F6EECF244321}">
                <p14:modId xmlns:p14="http://schemas.microsoft.com/office/powerpoint/2010/main" val="2779700862"/>
              </p:ext>
            </p:extLst>
          </p:nvPr>
        </p:nvGraphicFramePr>
        <p:xfrm>
          <a:off x="854438" y="3575329"/>
          <a:ext cx="10723843" cy="1346392"/>
        </p:xfrm>
        <a:graphic>
          <a:graphicData uri="http://schemas.openxmlformats.org/drawingml/2006/table">
            <a:tbl>
              <a:tblPr firstRow="1" bandRow="1">
                <a:tableStyleId>{073A0DAA-6AF3-43AB-8588-CEC1D06C72B9}</a:tableStyleId>
              </a:tblPr>
              <a:tblGrid>
                <a:gridCol w="1672194">
                  <a:extLst>
                    <a:ext uri="{9D8B030D-6E8A-4147-A177-3AD203B41FA5}">
                      <a16:colId xmlns:a16="http://schemas.microsoft.com/office/drawing/2014/main" val="1610543496"/>
                    </a:ext>
                  </a:extLst>
                </a:gridCol>
                <a:gridCol w="1251284">
                  <a:extLst>
                    <a:ext uri="{9D8B030D-6E8A-4147-A177-3AD203B41FA5}">
                      <a16:colId xmlns:a16="http://schemas.microsoft.com/office/drawing/2014/main" val="2940384537"/>
                    </a:ext>
                  </a:extLst>
                </a:gridCol>
                <a:gridCol w="1766635">
                  <a:extLst>
                    <a:ext uri="{9D8B030D-6E8A-4147-A177-3AD203B41FA5}">
                      <a16:colId xmlns:a16="http://schemas.microsoft.com/office/drawing/2014/main" val="3740313691"/>
                    </a:ext>
                  </a:extLst>
                </a:gridCol>
                <a:gridCol w="3016865">
                  <a:extLst>
                    <a:ext uri="{9D8B030D-6E8A-4147-A177-3AD203B41FA5}">
                      <a16:colId xmlns:a16="http://schemas.microsoft.com/office/drawing/2014/main" val="1965573024"/>
                    </a:ext>
                  </a:extLst>
                </a:gridCol>
                <a:gridCol w="3016865">
                  <a:extLst>
                    <a:ext uri="{9D8B030D-6E8A-4147-A177-3AD203B41FA5}">
                      <a16:colId xmlns:a16="http://schemas.microsoft.com/office/drawing/2014/main" val="3154632494"/>
                    </a:ext>
                  </a:extLst>
                </a:gridCol>
              </a:tblGrid>
              <a:tr h="282420">
                <a:tc>
                  <a:txBody>
                    <a:bodyPr/>
                    <a:lstStyle/>
                    <a:p>
                      <a:r>
                        <a:rPr lang="en-US" sz="1500" b="0" i="0" dirty="0">
                          <a:solidFill>
                            <a:schemeClr val="tx1"/>
                          </a:solidFill>
                          <a:latin typeface="GT Walsheim Trial Rg" pitchFamily="2" charset="77"/>
                        </a:rPr>
                        <a:t>Dataset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Test RMSE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Test (Hold-out)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CV RMSE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CV R²</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513176">
                <a:tc>
                  <a:txBody>
                    <a:bodyPr/>
                    <a:lstStyle/>
                    <a:p>
                      <a:r>
                        <a:rPr lang="en-US" sz="1500" b="0" i="0" dirty="0">
                          <a:solidFill>
                            <a:schemeClr val="tx1"/>
                          </a:solidFill>
                          <a:latin typeface="GT Walsheim Trial Rg" pitchFamily="2" charset="77"/>
                        </a:rPr>
                        <a:t>With stationary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7.44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0.880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tc>
                  <a:txBody>
                    <a:bodyPr/>
                    <a:lstStyle/>
                    <a:p>
                      <a:r>
                        <a:rPr lang="en-US" sz="1500" b="0" i="0" dirty="0">
                          <a:solidFill>
                            <a:schemeClr val="tx1"/>
                          </a:solidFill>
                          <a:latin typeface="GT Walsheim Trial Rg" pitchFamily="2" charset="77"/>
                        </a:rPr>
                        <a:t>7.65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tc>
                  <a:txBody>
                    <a:bodyPr/>
                    <a:lstStyle/>
                    <a:p>
                      <a:r>
                        <a:rPr lang="en-US" sz="1500" b="0" i="0" dirty="0">
                          <a:solidFill>
                            <a:schemeClr val="tx1"/>
                          </a:solidFill>
                          <a:latin typeface="GT Walsheim Trial Rg" pitchFamily="2" charset="77"/>
                        </a:rPr>
                        <a:t>0.886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extLst>
                  <a:ext uri="{0D108BD9-81ED-4DB2-BD59-A6C34878D82A}">
                    <a16:rowId xmlns:a16="http://schemas.microsoft.com/office/drawing/2014/main" val="4152326013"/>
                  </a:ext>
                </a:extLst>
              </a:tr>
              <a:tr h="513176">
                <a:tc>
                  <a:txBody>
                    <a:bodyPr/>
                    <a:lstStyle/>
                    <a:p>
                      <a:r>
                        <a:rPr lang="en-US" sz="1500" b="0" i="0" dirty="0">
                          <a:solidFill>
                            <a:schemeClr val="tx1"/>
                          </a:solidFill>
                          <a:latin typeface="GT Walsheim Trial Rg" pitchFamily="2" charset="77"/>
                        </a:rPr>
                        <a:t>Sensitivity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13.15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0.728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10.05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0.860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bl>
          </a:graphicData>
        </a:graphic>
      </p:graphicFrame>
      <p:pic>
        <p:nvPicPr>
          <p:cNvPr id="2" name="Picture 4" descr="Waymo branded color scheme">
            <a:extLst>
              <a:ext uri="{FF2B5EF4-FFF2-40B4-BE49-F238E27FC236}">
                <a16:creationId xmlns:a16="http://schemas.microsoft.com/office/drawing/2014/main" id="{9CE7A80A-CF17-8BE3-83A6-FDFE76F88B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9835" y="-1189446"/>
            <a:ext cx="5334000" cy="200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023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C40BB2-3C42-E34A-8AFF-F25F9AFEC8FD}"/>
            </a:ext>
          </a:extLst>
        </p:cNvPr>
        <p:cNvGrpSpPr/>
        <p:nvPr/>
      </p:nvGrpSpPr>
      <p:grpSpPr>
        <a:xfrm>
          <a:off x="0" y="0"/>
          <a:ext cx="0" cy="0"/>
          <a:chOff x="0" y="0"/>
          <a:chExt cx="0" cy="0"/>
        </a:xfrm>
      </p:grpSpPr>
      <p:sp>
        <p:nvSpPr>
          <p:cNvPr id="13" name="Freeform 12">
            <a:extLst>
              <a:ext uri="{FF2B5EF4-FFF2-40B4-BE49-F238E27FC236}">
                <a16:creationId xmlns:a16="http://schemas.microsoft.com/office/drawing/2014/main" id="{ECE07610-6E42-A93E-126B-E09C59679D9B}"/>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2">
            <a:extLst>
              <a:ext uri="{FF2B5EF4-FFF2-40B4-BE49-F238E27FC236}">
                <a16:creationId xmlns:a16="http://schemas.microsoft.com/office/drawing/2014/main" id="{EC1E3491-133E-5852-AED7-1D51A8BE07AD}"/>
              </a:ext>
            </a:extLst>
          </p:cNvPr>
          <p:cNvSpPr/>
          <p:nvPr/>
        </p:nvSpPr>
        <p:spPr>
          <a:xfrm rot="8442973">
            <a:off x="-5972043" y="-348207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4AB52E74-403F-30CE-50F4-FC32B71D0CD3}"/>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A67B81A-3031-125C-C9A0-1E349454EDF5}"/>
              </a:ext>
            </a:extLst>
          </p:cNvPr>
          <p:cNvSpPr>
            <a:spLocks noGrp="1"/>
          </p:cNvSpPr>
          <p:nvPr>
            <p:ph type="ctrTitle"/>
          </p:nvPr>
        </p:nvSpPr>
        <p:spPr>
          <a:xfrm>
            <a:off x="716478" y="447821"/>
            <a:ext cx="3073202" cy="369333"/>
          </a:xfrm>
        </p:spPr>
        <p:txBody>
          <a:bodyPr>
            <a:normAutofit/>
          </a:bodyPr>
          <a:lstStyle/>
          <a:p>
            <a:pPr algn="l"/>
            <a:r>
              <a:rPr lang="en-US" sz="1500" dirty="0">
                <a:solidFill>
                  <a:schemeClr val="bg1">
                    <a:lumMod val="50000"/>
                  </a:schemeClr>
                </a:solidFill>
                <a:latin typeface="GT Walsheim Trial Rg" pitchFamily="2" charset="77"/>
              </a:rPr>
              <a:t>DISCUSSION &amp; LIMITATIONS</a:t>
            </a:r>
          </a:p>
        </p:txBody>
      </p:sp>
      <p:sp>
        <p:nvSpPr>
          <p:cNvPr id="8" name="TextBox 7">
            <a:extLst>
              <a:ext uri="{FF2B5EF4-FFF2-40B4-BE49-F238E27FC236}">
                <a16:creationId xmlns:a16="http://schemas.microsoft.com/office/drawing/2014/main" id="{9C0766A1-F5E6-86C4-C24B-32380859A801}"/>
              </a:ext>
            </a:extLst>
          </p:cNvPr>
          <p:cNvSpPr txBox="1"/>
          <p:nvPr/>
        </p:nvSpPr>
        <p:spPr>
          <a:xfrm>
            <a:off x="716476" y="952090"/>
            <a:ext cx="9236415" cy="630942"/>
          </a:xfrm>
          <a:prstGeom prst="rect">
            <a:avLst/>
          </a:prstGeom>
          <a:noFill/>
        </p:spPr>
        <p:txBody>
          <a:bodyPr wrap="square">
            <a:spAutoFit/>
          </a:bodyPr>
          <a:lstStyle/>
          <a:p>
            <a:r>
              <a:rPr lang="en-US" sz="3500" dirty="0">
                <a:solidFill>
                  <a:schemeClr val="bg1"/>
                </a:solidFill>
                <a:latin typeface="GT Walsheim Trial Rg" pitchFamily="2" charset="77"/>
              </a:rPr>
              <a:t>What the Results Tell Us</a:t>
            </a:r>
          </a:p>
        </p:txBody>
      </p:sp>
      <p:sp>
        <p:nvSpPr>
          <p:cNvPr id="20" name="Rectangle 19">
            <a:extLst>
              <a:ext uri="{FF2B5EF4-FFF2-40B4-BE49-F238E27FC236}">
                <a16:creationId xmlns:a16="http://schemas.microsoft.com/office/drawing/2014/main" id="{09E7019D-8AD8-8C02-3318-76B6884D43C1}"/>
              </a:ext>
            </a:extLst>
          </p:cNvPr>
          <p:cNvSpPr/>
          <p:nvPr/>
        </p:nvSpPr>
        <p:spPr>
          <a:xfrm>
            <a:off x="879133" y="4776426"/>
            <a:ext cx="10806444" cy="1769724"/>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5D153C6E-1E0C-F37E-1C64-8D2D03D85816}"/>
              </a:ext>
            </a:extLst>
          </p:cNvPr>
          <p:cNvSpPr txBox="1"/>
          <p:nvPr/>
        </p:nvSpPr>
        <p:spPr>
          <a:xfrm>
            <a:off x="3427989" y="5071653"/>
            <a:ext cx="8257588" cy="1246495"/>
          </a:xfrm>
          <a:prstGeom prst="rect">
            <a:avLst/>
          </a:prstGeom>
          <a:noFill/>
        </p:spPr>
        <p:txBody>
          <a:bodyPr wrap="square">
            <a:spAutoFit/>
          </a:bodyPr>
          <a:lstStyle/>
          <a:p>
            <a:pPr algn="l"/>
            <a:r>
              <a:rPr lang="en-US" sz="1500" b="1" dirty="0">
                <a:solidFill>
                  <a:schemeClr val="bg1"/>
                </a:solidFill>
                <a:effectLst/>
                <a:latin typeface="GT Walsheim Trial Lt" pitchFamily="2" charset="77"/>
              </a:rPr>
              <a:t>Pseudo-labels: </a:t>
            </a:r>
            <a:r>
              <a:rPr lang="en-US" sz="1500" dirty="0">
                <a:solidFill>
                  <a:schemeClr val="bg1"/>
                </a:solidFill>
                <a:effectLst/>
                <a:latin typeface="GT Walsheim Trial Lt" pitchFamily="2" charset="77"/>
              </a:rPr>
              <a:t>46 anomaly labels come from IF scores, not verified ground truth </a:t>
            </a:r>
          </a:p>
          <a:p>
            <a:pPr algn="l"/>
            <a:r>
              <a:rPr lang="en-US" sz="1500" dirty="0">
                <a:solidFill>
                  <a:schemeClr val="bg1"/>
                </a:solidFill>
                <a:effectLst/>
                <a:latin typeface="GT Walsheim Trial Lt" pitchFamily="2" charset="77"/>
              </a:rPr>
              <a:t>— test specificity of 0.667 reflects this noise</a:t>
            </a:r>
          </a:p>
          <a:p>
            <a:pPr algn="l"/>
            <a:r>
              <a:rPr lang="en-US" sz="1500" b="1" dirty="0">
                <a:solidFill>
                  <a:schemeClr val="bg1"/>
                </a:solidFill>
                <a:effectLst/>
                <a:latin typeface="GT Walsheim Trial Lt" pitchFamily="2" charset="77"/>
              </a:rPr>
              <a:t>Single frame: </a:t>
            </a:r>
            <a:r>
              <a:rPr lang="en-US" sz="1500" dirty="0">
                <a:solidFill>
                  <a:schemeClr val="bg1"/>
                </a:solidFill>
                <a:effectLst/>
                <a:latin typeface="GT Walsheim Trial Lt" pitchFamily="2" charset="77"/>
              </a:rPr>
              <a:t>We use one snapshot per agent, ignoring the full 20-second trajectory</a:t>
            </a:r>
          </a:p>
          <a:p>
            <a:pPr algn="l"/>
            <a:r>
              <a:rPr lang="en-US" sz="1500" b="1" dirty="0">
                <a:solidFill>
                  <a:schemeClr val="bg1"/>
                </a:solidFill>
                <a:effectLst/>
                <a:latin typeface="GT Walsheim Trial Lt" pitchFamily="2" charset="77"/>
              </a:rPr>
              <a:t>Linear model: </a:t>
            </a:r>
            <a:r>
              <a:rPr lang="en-US" sz="1500" dirty="0">
                <a:solidFill>
                  <a:schemeClr val="bg1"/>
                </a:solidFill>
                <a:effectLst/>
                <a:latin typeface="GT Walsheim Trial Lt" pitchFamily="2" charset="77"/>
              </a:rPr>
              <a:t>Pedestrian and cyclist motion may be nonlinear</a:t>
            </a:r>
          </a:p>
          <a:p>
            <a:pPr algn="l"/>
            <a:r>
              <a:rPr lang="en-US" sz="1500" dirty="0">
                <a:solidFill>
                  <a:schemeClr val="bg1"/>
                </a:solidFill>
                <a:effectLst/>
                <a:latin typeface="GT Walsheim Trial Lt" pitchFamily="2" charset="77"/>
              </a:rPr>
              <a:t>No temporal context: Isolation Forest operates on instantaneous kinematics only</a:t>
            </a:r>
          </a:p>
        </p:txBody>
      </p:sp>
      <p:graphicFrame>
        <p:nvGraphicFramePr>
          <p:cNvPr id="12" name="Table 11">
            <a:extLst>
              <a:ext uri="{FF2B5EF4-FFF2-40B4-BE49-F238E27FC236}">
                <a16:creationId xmlns:a16="http://schemas.microsoft.com/office/drawing/2014/main" id="{28C9A665-9386-285B-761B-808044E11380}"/>
              </a:ext>
            </a:extLst>
          </p:cNvPr>
          <p:cNvGraphicFramePr>
            <a:graphicFrameLocks noGrp="1"/>
          </p:cNvGraphicFramePr>
          <p:nvPr>
            <p:extLst>
              <p:ext uri="{D42A27DB-BD31-4B8C-83A1-F6EECF244321}">
                <p14:modId xmlns:p14="http://schemas.microsoft.com/office/powerpoint/2010/main" val="14700078"/>
              </p:ext>
            </p:extLst>
          </p:nvPr>
        </p:nvGraphicFramePr>
        <p:xfrm>
          <a:off x="879133" y="1717968"/>
          <a:ext cx="10806444" cy="3058456"/>
        </p:xfrm>
        <a:graphic>
          <a:graphicData uri="http://schemas.openxmlformats.org/drawingml/2006/table">
            <a:tbl>
              <a:tblPr firstRow="1" bandRow="1">
                <a:tableStyleId>{073A0DAA-6AF3-43AB-8588-CEC1D06C72B9}</a:tableStyleId>
              </a:tblPr>
              <a:tblGrid>
                <a:gridCol w="5550583">
                  <a:extLst>
                    <a:ext uri="{9D8B030D-6E8A-4147-A177-3AD203B41FA5}">
                      <a16:colId xmlns:a16="http://schemas.microsoft.com/office/drawing/2014/main" val="1610543496"/>
                    </a:ext>
                  </a:extLst>
                </a:gridCol>
                <a:gridCol w="5255861">
                  <a:extLst>
                    <a:ext uri="{9D8B030D-6E8A-4147-A177-3AD203B41FA5}">
                      <a16:colId xmlns:a16="http://schemas.microsoft.com/office/drawing/2014/main" val="2940384537"/>
                    </a:ext>
                  </a:extLst>
                </a:gridCol>
              </a:tblGrid>
              <a:tr h="795103">
                <a:tc>
                  <a:txBody>
                    <a:bodyPr/>
                    <a:lstStyle/>
                    <a:p>
                      <a:r>
                        <a:rPr lang="en-US" sz="2000" b="1" i="0" dirty="0">
                          <a:solidFill>
                            <a:schemeClr val="bg1"/>
                          </a:solidFill>
                          <a:latin typeface="GT Walsheim Trial Lt" pitchFamily="2" charset="77"/>
                        </a:rPr>
                        <a:t>Takeaway 1: </a:t>
                      </a:r>
                      <a:r>
                        <a:rPr lang="en-US" sz="2000" b="0" i="0" dirty="0">
                          <a:solidFill>
                            <a:schemeClr val="bg1"/>
                          </a:solidFill>
                          <a:latin typeface="GT Walsheim Trial Lt" pitchFamily="2" charset="77"/>
                        </a:rPr>
                        <a:t>Unsupervised detection works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000" b="1" i="0" dirty="0">
                          <a:solidFill>
                            <a:schemeClr val="bg1"/>
                          </a:solidFill>
                          <a:latin typeface="GT Walsheim Trial Lt" pitchFamily="2" charset="77"/>
                        </a:rPr>
                        <a:t>Takeaway 2: </a:t>
                      </a:r>
                      <a:r>
                        <a:rPr lang="en-US" sz="2000" b="0" i="0" dirty="0">
                          <a:solidFill>
                            <a:schemeClr val="bg1"/>
                          </a:solidFill>
                          <a:latin typeface="GT Walsheim Trial Lt" pitchFamily="2" charset="77"/>
                        </a:rPr>
                        <a:t>Dataset composition dominates metrics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2263353">
                <a:tc>
                  <a:txBody>
                    <a:bodyPr/>
                    <a:lstStyle/>
                    <a:p>
                      <a:r>
                        <a:rPr lang="en-US" sz="2000" b="1" i="0" dirty="0">
                          <a:solidFill>
                            <a:schemeClr val="tx1"/>
                          </a:solidFill>
                          <a:latin typeface="GT Walsheim Trial Lt" pitchFamily="2" charset="77"/>
                        </a:rPr>
                        <a:t>IF</a:t>
                      </a:r>
                      <a:r>
                        <a:rPr lang="en-US" sz="2000" b="0" i="0" dirty="0">
                          <a:solidFill>
                            <a:schemeClr val="tx1"/>
                          </a:solidFill>
                          <a:latin typeface="GT Walsheim Trial Lt" pitchFamily="2" charset="77"/>
                        </a:rPr>
                        <a:t> scores carry real discriminative signal</a:t>
                      </a:r>
                    </a:p>
                    <a:p>
                      <a:r>
                        <a:rPr lang="en-US" sz="2000" b="0" i="0" dirty="0">
                          <a:solidFill>
                            <a:schemeClr val="tx1"/>
                          </a:solidFill>
                          <a:latin typeface="GT Walsheim Trial Lt" pitchFamily="2" charset="77"/>
                        </a:rPr>
                        <a:t>p = 0.0005 confirms structure, not noise</a:t>
                      </a:r>
                    </a:p>
                    <a:p>
                      <a:r>
                        <a:rPr lang="en-US" sz="2000" b="0" i="0" dirty="0">
                          <a:solidFill>
                            <a:schemeClr val="tx1"/>
                          </a:solidFill>
                          <a:latin typeface="GT Walsheim Trial Lt" pitchFamily="2" charset="77"/>
                        </a:rPr>
                        <a:t>Anomalies concentrate in pedestrians / cyclists — consistent with irregular urban kinematics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2000" b="1" i="0" dirty="0">
                          <a:solidFill>
                            <a:schemeClr val="tx1"/>
                          </a:solidFill>
                          <a:latin typeface="GT Walsheim Trial Lt" pitchFamily="2" charset="77"/>
                        </a:rPr>
                        <a:t>Removing stationary agents: </a:t>
                      </a:r>
                      <a:r>
                        <a:rPr lang="el-GR" sz="2000" b="0" i="0" dirty="0">
                          <a:solidFill>
                            <a:schemeClr val="tx1"/>
                          </a:solidFill>
                          <a:latin typeface="GT Walsheim Trial Lt" pitchFamily="2" charset="77"/>
                        </a:rPr>
                        <a:t>Δ</a:t>
                      </a:r>
                      <a:r>
                        <a:rPr lang="en-US" sz="2000" b="0" i="0" dirty="0">
                          <a:solidFill>
                            <a:schemeClr val="tx1"/>
                          </a:solidFill>
                          <a:latin typeface="GT Walsheim Trial Lt" pitchFamily="2" charset="77"/>
                        </a:rPr>
                        <a:t>R² = −0.15</a:t>
                      </a:r>
                    </a:p>
                    <a:p>
                      <a:r>
                        <a:rPr lang="en-US" sz="2000" b="0" i="0" dirty="0">
                          <a:solidFill>
                            <a:schemeClr val="tx1"/>
                          </a:solidFill>
                          <a:latin typeface="GT Walsheim Trial Lt" pitchFamily="2" charset="77"/>
                        </a:rPr>
                        <a:t>Not a model failure — a dataset artifact</a:t>
                      </a:r>
                    </a:p>
                    <a:p>
                      <a:r>
                        <a:rPr lang="en-US" sz="2000" b="0" i="0" dirty="0">
                          <a:solidFill>
                            <a:schemeClr val="tx1"/>
                          </a:solidFill>
                          <a:latin typeface="GT Walsheim Trial Lt" pitchFamily="2" charset="77"/>
                        </a:rPr>
                        <a:t>Benchmarks on mixed populations are inflated</a:t>
                      </a:r>
                    </a:p>
                    <a:p>
                      <a:r>
                        <a:rPr lang="en-US" sz="2000" b="0" i="0" dirty="0">
                          <a:solidFill>
                            <a:schemeClr val="tx1"/>
                          </a:solidFill>
                          <a:latin typeface="GT Walsheim Trial Lt" pitchFamily="2" charset="77"/>
                        </a:rPr>
                        <a:t>Moving-only evaluation is the honest number for dynamic AV deployment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bl>
          </a:graphicData>
        </a:graphic>
      </p:graphicFrame>
      <p:sp>
        <p:nvSpPr>
          <p:cNvPr id="15" name="TextBox 14">
            <a:extLst>
              <a:ext uri="{FF2B5EF4-FFF2-40B4-BE49-F238E27FC236}">
                <a16:creationId xmlns:a16="http://schemas.microsoft.com/office/drawing/2014/main" id="{B7F27829-A56B-75C3-A5EB-72FC234A659F}"/>
              </a:ext>
            </a:extLst>
          </p:cNvPr>
          <p:cNvSpPr txBox="1"/>
          <p:nvPr/>
        </p:nvSpPr>
        <p:spPr>
          <a:xfrm>
            <a:off x="1371631" y="5054157"/>
            <a:ext cx="1998334" cy="477054"/>
          </a:xfrm>
          <a:prstGeom prst="rect">
            <a:avLst/>
          </a:prstGeom>
          <a:noFill/>
        </p:spPr>
        <p:txBody>
          <a:bodyPr wrap="square">
            <a:spAutoFit/>
          </a:bodyPr>
          <a:lstStyle/>
          <a:p>
            <a:pPr algn="l"/>
            <a:r>
              <a:rPr lang="en-US" sz="2500" b="1" dirty="0">
                <a:solidFill>
                  <a:schemeClr val="bg1"/>
                </a:solidFill>
                <a:effectLst/>
                <a:latin typeface="GT Walsheim Trial Lt" pitchFamily="2" charset="77"/>
              </a:rPr>
              <a:t>Limitations:</a:t>
            </a:r>
          </a:p>
        </p:txBody>
      </p:sp>
      <p:pic>
        <p:nvPicPr>
          <p:cNvPr id="24" name="Picture 23">
            <a:extLst>
              <a:ext uri="{FF2B5EF4-FFF2-40B4-BE49-F238E27FC236}">
                <a16:creationId xmlns:a16="http://schemas.microsoft.com/office/drawing/2014/main" id="{0FE0CD59-6F6E-ED93-CEB3-19849074D2D4}"/>
              </a:ext>
            </a:extLst>
          </p:cNvPr>
          <p:cNvPicPr>
            <a:picLocks noChangeAspect="1"/>
          </p:cNvPicPr>
          <p:nvPr/>
        </p:nvPicPr>
        <p:blipFill>
          <a:blip r:embed="rId3"/>
          <a:srcRect l="37886" t="87411" r="27835" b="1491"/>
          <a:stretch>
            <a:fillRect/>
          </a:stretch>
        </p:blipFill>
        <p:spPr>
          <a:xfrm>
            <a:off x="879134" y="4776425"/>
            <a:ext cx="10806444" cy="1769724"/>
          </a:xfrm>
          <a:prstGeom prst="rect">
            <a:avLst/>
          </a:prstGeom>
        </p:spPr>
      </p:pic>
      <p:pic>
        <p:nvPicPr>
          <p:cNvPr id="25" name="Picture 6" descr="Our Trademarks">
            <a:extLst>
              <a:ext uri="{FF2B5EF4-FFF2-40B4-BE49-F238E27FC236}">
                <a16:creationId xmlns:a16="http://schemas.microsoft.com/office/drawing/2014/main" id="{E5ECF3E2-F5F6-68CC-966D-3D9466FFFD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929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A8832C7-E16C-82AE-0DC3-4FE754E27762}"/>
            </a:ext>
          </a:extLst>
        </p:cNvPr>
        <p:cNvGrpSpPr/>
        <p:nvPr/>
      </p:nvGrpSpPr>
      <p:grpSpPr>
        <a:xfrm>
          <a:off x="0" y="0"/>
          <a:ext cx="0" cy="0"/>
          <a:chOff x="0" y="0"/>
          <a:chExt cx="0" cy="0"/>
        </a:xfrm>
      </p:grpSpPr>
      <p:sp>
        <p:nvSpPr>
          <p:cNvPr id="27" name="Freeform 26">
            <a:extLst>
              <a:ext uri="{FF2B5EF4-FFF2-40B4-BE49-F238E27FC236}">
                <a16:creationId xmlns:a16="http://schemas.microsoft.com/office/drawing/2014/main" id="{C35DA274-6EF3-81A7-8C7C-B5640A75B7A4}"/>
              </a:ext>
            </a:extLst>
          </p:cNvPr>
          <p:cNvSpPr/>
          <p:nvPr/>
        </p:nvSpPr>
        <p:spPr>
          <a:xfrm rot="18642272">
            <a:off x="-4065349" y="228312"/>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2">
            <a:extLst>
              <a:ext uri="{FF2B5EF4-FFF2-40B4-BE49-F238E27FC236}">
                <a16:creationId xmlns:a16="http://schemas.microsoft.com/office/drawing/2014/main" id="{3165C40B-D0FE-8C9F-28C2-9101A9B9032B}"/>
              </a:ext>
            </a:extLst>
          </p:cNvPr>
          <p:cNvSpPr/>
          <p:nvPr/>
        </p:nvSpPr>
        <p:spPr>
          <a:xfrm rot="8442973">
            <a:off x="273089" y="-285804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E34C32B5-B971-CE3A-F94C-B749057E6BC4}"/>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FE47083-9B74-4380-91D4-E547BACDD4AD}"/>
              </a:ext>
            </a:extLst>
          </p:cNvPr>
          <p:cNvSpPr>
            <a:spLocks noGrp="1"/>
          </p:cNvSpPr>
          <p:nvPr>
            <p:ph type="ctrTitle"/>
          </p:nvPr>
        </p:nvSpPr>
        <p:spPr>
          <a:xfrm>
            <a:off x="716478" y="447821"/>
            <a:ext cx="3073202" cy="369333"/>
          </a:xfrm>
        </p:spPr>
        <p:txBody>
          <a:bodyPr>
            <a:normAutofit/>
          </a:bodyPr>
          <a:lstStyle/>
          <a:p>
            <a:pPr algn="l"/>
            <a:r>
              <a:rPr lang="en-US" sz="1500" dirty="0">
                <a:solidFill>
                  <a:schemeClr val="bg1">
                    <a:lumMod val="50000"/>
                  </a:schemeClr>
                </a:solidFill>
                <a:latin typeface="GT Walsheim Trial Rg" pitchFamily="2" charset="77"/>
              </a:rPr>
              <a:t>CONCLUSION &amp; FUTURE WORK</a:t>
            </a:r>
          </a:p>
        </p:txBody>
      </p:sp>
      <p:sp>
        <p:nvSpPr>
          <p:cNvPr id="8" name="TextBox 7">
            <a:extLst>
              <a:ext uri="{FF2B5EF4-FFF2-40B4-BE49-F238E27FC236}">
                <a16:creationId xmlns:a16="http://schemas.microsoft.com/office/drawing/2014/main" id="{6DB4EAA1-4ED1-31C7-22A3-49CEFB3AE248}"/>
              </a:ext>
            </a:extLst>
          </p:cNvPr>
          <p:cNvSpPr txBox="1"/>
          <p:nvPr/>
        </p:nvSpPr>
        <p:spPr>
          <a:xfrm>
            <a:off x="716476" y="952090"/>
            <a:ext cx="9236415" cy="630942"/>
          </a:xfrm>
          <a:prstGeom prst="rect">
            <a:avLst/>
          </a:prstGeom>
          <a:noFill/>
        </p:spPr>
        <p:txBody>
          <a:bodyPr wrap="square">
            <a:spAutoFit/>
          </a:bodyPr>
          <a:lstStyle/>
          <a:p>
            <a:r>
              <a:rPr lang="en-US" sz="3500" dirty="0">
                <a:solidFill>
                  <a:schemeClr val="bg1"/>
                </a:solidFill>
                <a:latin typeface="GT Walsheim Trial Rg" pitchFamily="2" charset="77"/>
              </a:rPr>
              <a:t>Summary &amp; Next Steps</a:t>
            </a:r>
          </a:p>
        </p:txBody>
      </p:sp>
      <p:sp>
        <p:nvSpPr>
          <p:cNvPr id="20" name="Rectangle 19">
            <a:extLst>
              <a:ext uri="{FF2B5EF4-FFF2-40B4-BE49-F238E27FC236}">
                <a16:creationId xmlns:a16="http://schemas.microsoft.com/office/drawing/2014/main" id="{DA99083C-59BD-782B-B7F4-D931B59326CB}"/>
              </a:ext>
            </a:extLst>
          </p:cNvPr>
          <p:cNvSpPr/>
          <p:nvPr/>
        </p:nvSpPr>
        <p:spPr>
          <a:xfrm>
            <a:off x="7338349" y="1380417"/>
            <a:ext cx="4347228" cy="5011600"/>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43E1C4DD-8373-7CDB-8065-43E32594ABFD}"/>
              </a:ext>
            </a:extLst>
          </p:cNvPr>
          <p:cNvSpPr txBox="1"/>
          <p:nvPr/>
        </p:nvSpPr>
        <p:spPr>
          <a:xfrm>
            <a:off x="7556783" y="2458215"/>
            <a:ext cx="4036044" cy="1938992"/>
          </a:xfrm>
          <a:prstGeom prst="rect">
            <a:avLst/>
          </a:prstGeom>
          <a:noFill/>
        </p:spPr>
        <p:txBody>
          <a:bodyPr wrap="square">
            <a:spAutoFit/>
          </a:bodyPr>
          <a:lstStyle/>
          <a:p>
            <a:pPr marL="342900" indent="-342900" algn="l">
              <a:buFont typeface="+mj-lt"/>
              <a:buAutoNum type="arabicPeriod"/>
            </a:pPr>
            <a:r>
              <a:rPr lang="en-US" sz="1500" b="1" dirty="0">
                <a:solidFill>
                  <a:schemeClr val="bg1"/>
                </a:solidFill>
                <a:effectLst/>
                <a:latin typeface="GT Walsheim Trial Lt" pitchFamily="2" charset="77"/>
              </a:rPr>
              <a:t>Temporal features over the full 20-second trajectory</a:t>
            </a:r>
          </a:p>
          <a:p>
            <a:pPr marL="342900" indent="-342900" algn="l">
              <a:buFont typeface="+mj-lt"/>
              <a:buAutoNum type="arabicPeriod"/>
            </a:pPr>
            <a:r>
              <a:rPr lang="en-US" sz="1500" b="1" dirty="0">
                <a:solidFill>
                  <a:schemeClr val="bg1"/>
                </a:solidFill>
                <a:effectLst/>
                <a:latin typeface="GT Walsheim Trial Lt" pitchFamily="2" charset="77"/>
              </a:rPr>
              <a:t>Validate anomalies against Waymo's </a:t>
            </a:r>
            <a:r>
              <a:rPr lang="en-US" sz="1500" b="1" dirty="0" err="1">
                <a:solidFill>
                  <a:schemeClr val="bg1"/>
                </a:solidFill>
                <a:effectLst/>
                <a:latin typeface="GT Walsheim Trial Lt" pitchFamily="2" charset="77"/>
              </a:rPr>
              <a:t>IsInteractive</a:t>
            </a:r>
            <a:r>
              <a:rPr lang="en-US" sz="1500" b="1" dirty="0">
                <a:solidFill>
                  <a:schemeClr val="bg1"/>
                </a:solidFill>
                <a:effectLst/>
                <a:latin typeface="GT Walsheim Trial Lt" pitchFamily="2" charset="77"/>
              </a:rPr>
              <a:t> ground-truth flags</a:t>
            </a:r>
          </a:p>
          <a:p>
            <a:pPr marL="342900" indent="-342900" algn="l">
              <a:buFont typeface="+mj-lt"/>
              <a:buAutoNum type="arabicPeriod"/>
            </a:pPr>
            <a:r>
              <a:rPr lang="en-US" sz="1500" b="1" dirty="0" err="1">
                <a:solidFill>
                  <a:schemeClr val="bg1"/>
                </a:solidFill>
                <a:effectLst/>
                <a:latin typeface="GT Walsheim Trial Lt" pitchFamily="2" charset="77"/>
              </a:rPr>
              <a:t>Mahalanobis</a:t>
            </a:r>
            <a:r>
              <a:rPr lang="en-US" sz="1500" b="1" dirty="0">
                <a:solidFill>
                  <a:schemeClr val="bg1"/>
                </a:solidFill>
                <a:effectLst/>
                <a:latin typeface="GT Walsheim Trial Lt" pitchFamily="2" charset="77"/>
              </a:rPr>
              <a:t> distance scoring as IF alternative</a:t>
            </a:r>
          </a:p>
          <a:p>
            <a:pPr marL="342900" indent="-342900" algn="l">
              <a:buFont typeface="+mj-lt"/>
              <a:buAutoNum type="arabicPeriod"/>
            </a:pPr>
            <a:r>
              <a:rPr lang="en-US" sz="1500" b="1" dirty="0">
                <a:solidFill>
                  <a:schemeClr val="bg1"/>
                </a:solidFill>
                <a:effectLst/>
                <a:latin typeface="GT Walsheim Trial Lt" pitchFamily="2" charset="77"/>
              </a:rPr>
              <a:t>Neural extensions benchmarked against these baselines</a:t>
            </a:r>
            <a:endParaRPr lang="en-US" sz="1500" dirty="0">
              <a:solidFill>
                <a:schemeClr val="bg1"/>
              </a:solidFill>
              <a:effectLst/>
              <a:latin typeface="GT Walsheim Trial Lt" pitchFamily="2" charset="77"/>
            </a:endParaRPr>
          </a:p>
        </p:txBody>
      </p:sp>
      <p:sp>
        <p:nvSpPr>
          <p:cNvPr id="15" name="TextBox 14">
            <a:extLst>
              <a:ext uri="{FF2B5EF4-FFF2-40B4-BE49-F238E27FC236}">
                <a16:creationId xmlns:a16="http://schemas.microsoft.com/office/drawing/2014/main" id="{E2F510FE-BF00-632E-A028-2202135CE25D}"/>
              </a:ext>
            </a:extLst>
          </p:cNvPr>
          <p:cNvSpPr txBox="1"/>
          <p:nvPr/>
        </p:nvSpPr>
        <p:spPr>
          <a:xfrm>
            <a:off x="7513629" y="1598875"/>
            <a:ext cx="1998334" cy="477054"/>
          </a:xfrm>
          <a:prstGeom prst="rect">
            <a:avLst/>
          </a:prstGeom>
          <a:noFill/>
        </p:spPr>
        <p:txBody>
          <a:bodyPr wrap="square">
            <a:spAutoFit/>
          </a:bodyPr>
          <a:lstStyle/>
          <a:p>
            <a:pPr algn="l"/>
            <a:r>
              <a:rPr lang="en-US" sz="2500" b="1" dirty="0">
                <a:solidFill>
                  <a:schemeClr val="bg1"/>
                </a:solidFill>
                <a:effectLst/>
                <a:latin typeface="GT Walsheim Trial Lt" pitchFamily="2" charset="77"/>
              </a:rPr>
              <a:t>Next Steps:</a:t>
            </a:r>
          </a:p>
        </p:txBody>
      </p:sp>
      <p:pic>
        <p:nvPicPr>
          <p:cNvPr id="25" name="Picture 6" descr="Our Trademarks">
            <a:extLst>
              <a:ext uri="{FF2B5EF4-FFF2-40B4-BE49-F238E27FC236}">
                <a16:creationId xmlns:a16="http://schemas.microsoft.com/office/drawing/2014/main" id="{8AC0A937-0788-4131-59F3-A8C7A9FF1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1EEE6FE-49E0-4259-CA52-4B43AD6E17AD}"/>
              </a:ext>
            </a:extLst>
          </p:cNvPr>
          <p:cNvPicPr>
            <a:picLocks noChangeAspect="1"/>
          </p:cNvPicPr>
          <p:nvPr/>
        </p:nvPicPr>
        <p:blipFill>
          <a:blip r:embed="rId4"/>
          <a:srcRect l="64978" t="59219" r="21427" b="9323"/>
          <a:stretch>
            <a:fillRect/>
          </a:stretch>
        </p:blipFill>
        <p:spPr>
          <a:xfrm>
            <a:off x="7338349" y="1303261"/>
            <a:ext cx="4347228" cy="5088756"/>
          </a:xfrm>
          <a:prstGeom prst="rect">
            <a:avLst/>
          </a:prstGeom>
        </p:spPr>
      </p:pic>
      <p:sp>
        <p:nvSpPr>
          <p:cNvPr id="11" name="Rectangle 10">
            <a:extLst>
              <a:ext uri="{FF2B5EF4-FFF2-40B4-BE49-F238E27FC236}">
                <a16:creationId xmlns:a16="http://schemas.microsoft.com/office/drawing/2014/main" id="{C15E6E49-4B9E-9AEA-6F7B-7F6924C96A5A}"/>
              </a:ext>
            </a:extLst>
          </p:cNvPr>
          <p:cNvSpPr/>
          <p:nvPr/>
        </p:nvSpPr>
        <p:spPr>
          <a:xfrm>
            <a:off x="854438" y="1839301"/>
            <a:ext cx="6023791" cy="410107"/>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BAA412A-25B2-AF5C-1E13-9D096E35036A}"/>
              </a:ext>
            </a:extLst>
          </p:cNvPr>
          <p:cNvSpPr txBox="1"/>
          <p:nvPr/>
        </p:nvSpPr>
        <p:spPr>
          <a:xfrm>
            <a:off x="2303327" y="1880076"/>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Stage 1 — Anomaly Detection</a:t>
            </a:r>
          </a:p>
        </p:txBody>
      </p:sp>
      <p:sp>
        <p:nvSpPr>
          <p:cNvPr id="16" name="Rectangle 15">
            <a:extLst>
              <a:ext uri="{FF2B5EF4-FFF2-40B4-BE49-F238E27FC236}">
                <a16:creationId xmlns:a16="http://schemas.microsoft.com/office/drawing/2014/main" id="{911CCC51-F9D7-C3EE-2AD3-74AD2FD84C9F}"/>
              </a:ext>
            </a:extLst>
          </p:cNvPr>
          <p:cNvSpPr/>
          <p:nvPr/>
        </p:nvSpPr>
        <p:spPr>
          <a:xfrm>
            <a:off x="854439" y="2249408"/>
            <a:ext cx="6023790" cy="1726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2E0B4A4-DA8B-111F-3050-29689F929009}"/>
              </a:ext>
            </a:extLst>
          </p:cNvPr>
          <p:cNvSpPr txBox="1"/>
          <p:nvPr/>
        </p:nvSpPr>
        <p:spPr>
          <a:xfrm>
            <a:off x="1111344" y="2344571"/>
            <a:ext cx="5470485" cy="923330"/>
          </a:xfrm>
          <a:prstGeom prst="rect">
            <a:avLst/>
          </a:prstGeom>
          <a:noFill/>
        </p:spPr>
        <p:txBody>
          <a:bodyPr wrap="square">
            <a:spAutoFit/>
          </a:bodyPr>
          <a:lstStyle/>
          <a:p>
            <a:pPr algn="l"/>
            <a:r>
              <a:rPr lang="en-US" dirty="0">
                <a:effectLst/>
                <a:latin typeface="GT Walsheim Trial Rg" pitchFamily="2" charset="77"/>
              </a:rPr>
              <a:t>Isolation Forest on Speed / Acceleration / Yaw Rate</a:t>
            </a:r>
          </a:p>
          <a:p>
            <a:pPr algn="l"/>
            <a:r>
              <a:rPr lang="en-US" dirty="0">
                <a:effectLst/>
                <a:latin typeface="GT Walsheim Trial Rg" pitchFamily="2" charset="77"/>
              </a:rPr>
              <a:t>Fisher's Exact Test: p &lt; 0.001</a:t>
            </a:r>
          </a:p>
          <a:p>
            <a:pPr algn="l"/>
            <a:r>
              <a:rPr lang="en-US" dirty="0">
                <a:effectLst/>
                <a:latin typeface="GT Walsheim Trial Rg" pitchFamily="2" charset="77"/>
              </a:rPr>
              <a:t>Random Forest characterization: AUC = 0.887</a:t>
            </a:r>
          </a:p>
        </p:txBody>
      </p:sp>
      <p:sp>
        <p:nvSpPr>
          <p:cNvPr id="18" name="Rectangle 17">
            <a:extLst>
              <a:ext uri="{FF2B5EF4-FFF2-40B4-BE49-F238E27FC236}">
                <a16:creationId xmlns:a16="http://schemas.microsoft.com/office/drawing/2014/main" id="{F8E24743-4957-655A-9637-09CF630FA311}"/>
              </a:ext>
            </a:extLst>
          </p:cNvPr>
          <p:cNvSpPr/>
          <p:nvPr/>
        </p:nvSpPr>
        <p:spPr>
          <a:xfrm>
            <a:off x="854437" y="3917063"/>
            <a:ext cx="6023789" cy="410107"/>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4B6C494-6849-4DC3-3214-377A9BC1D687}"/>
              </a:ext>
            </a:extLst>
          </p:cNvPr>
          <p:cNvSpPr txBox="1"/>
          <p:nvPr/>
        </p:nvSpPr>
        <p:spPr>
          <a:xfrm>
            <a:off x="2303327" y="3956571"/>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Stage 2 — Motion Prediction</a:t>
            </a:r>
          </a:p>
        </p:txBody>
      </p:sp>
      <p:sp>
        <p:nvSpPr>
          <p:cNvPr id="23" name="Rectangle 22">
            <a:extLst>
              <a:ext uri="{FF2B5EF4-FFF2-40B4-BE49-F238E27FC236}">
                <a16:creationId xmlns:a16="http://schemas.microsoft.com/office/drawing/2014/main" id="{12440E3B-E290-C53E-C81C-5FEEAB5E88CE}"/>
              </a:ext>
            </a:extLst>
          </p:cNvPr>
          <p:cNvSpPr/>
          <p:nvPr/>
        </p:nvSpPr>
        <p:spPr>
          <a:xfrm>
            <a:off x="854438" y="4325903"/>
            <a:ext cx="6023787" cy="20661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46FAF6F-BA54-EE19-D537-61EC67F11E48}"/>
              </a:ext>
            </a:extLst>
          </p:cNvPr>
          <p:cNvSpPr txBox="1"/>
          <p:nvPr/>
        </p:nvSpPr>
        <p:spPr>
          <a:xfrm>
            <a:off x="1111344" y="4534710"/>
            <a:ext cx="4984656" cy="923330"/>
          </a:xfrm>
          <a:prstGeom prst="rect">
            <a:avLst/>
          </a:prstGeom>
          <a:noFill/>
        </p:spPr>
        <p:txBody>
          <a:bodyPr wrap="square">
            <a:spAutoFit/>
          </a:bodyPr>
          <a:lstStyle/>
          <a:p>
            <a:pPr algn="l"/>
            <a:r>
              <a:rPr lang="en-US" dirty="0">
                <a:effectLst/>
                <a:latin typeface="GT Walsheim Trial Rg" pitchFamily="2" charset="77"/>
              </a:rPr>
              <a:t>Linear regression on 5 kinematic features</a:t>
            </a:r>
          </a:p>
          <a:p>
            <a:pPr algn="l"/>
            <a:r>
              <a:rPr lang="en-US" dirty="0">
                <a:effectLst/>
                <a:latin typeface="GT Walsheim Trial Rg" pitchFamily="2" charset="77"/>
              </a:rPr>
              <a:t>R² = 0.88 with stationary agents included</a:t>
            </a:r>
          </a:p>
          <a:p>
            <a:pPr algn="l"/>
            <a:r>
              <a:rPr lang="en-US" dirty="0">
                <a:effectLst/>
                <a:latin typeface="GT Walsheim Trial Rg" pitchFamily="2" charset="77"/>
              </a:rPr>
              <a:t>Strong classical baseline</a:t>
            </a:r>
          </a:p>
        </p:txBody>
      </p:sp>
    </p:spTree>
    <p:extLst>
      <p:ext uri="{BB962C8B-B14F-4D97-AF65-F5344CB8AC3E}">
        <p14:creationId xmlns:p14="http://schemas.microsoft.com/office/powerpoint/2010/main" val="13396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E574-BA2C-17A7-1E2C-F4B425D6644E}"/>
            </a:ext>
          </a:extLst>
        </p:cNvPr>
        <p:cNvGrpSpPr/>
        <p:nvPr/>
      </p:nvGrpSpPr>
      <p:grpSpPr>
        <a:xfrm>
          <a:off x="0" y="0"/>
          <a:ext cx="0" cy="0"/>
          <a:chOff x="0" y="0"/>
          <a:chExt cx="0" cy="0"/>
        </a:xfrm>
      </p:grpSpPr>
      <p:sp>
        <p:nvSpPr>
          <p:cNvPr id="19" name="Freeform 18">
            <a:extLst>
              <a:ext uri="{FF2B5EF4-FFF2-40B4-BE49-F238E27FC236}">
                <a16:creationId xmlns:a16="http://schemas.microsoft.com/office/drawing/2014/main" id="{7AAD4915-0FC5-A636-D1C9-48442BD8C637}"/>
              </a:ext>
            </a:extLst>
          </p:cNvPr>
          <p:cNvSpPr/>
          <p:nvPr/>
        </p:nvSpPr>
        <p:spPr>
          <a:xfrm rot="11378996">
            <a:off x="-7077442" y="-6722990"/>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rgbClr val="0078FF">
                <a:alpha val="1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2E5AFA8-897D-89F3-829B-E8ED50E342FF}"/>
              </a:ext>
            </a:extLst>
          </p:cNvPr>
          <p:cNvSpPr>
            <a:spLocks noGrp="1"/>
          </p:cNvSpPr>
          <p:nvPr>
            <p:ph type="ctrTitle"/>
          </p:nvPr>
        </p:nvSpPr>
        <p:spPr>
          <a:xfrm>
            <a:off x="5799146" y="2564809"/>
            <a:ext cx="593707" cy="369333"/>
          </a:xfrm>
        </p:spPr>
        <p:txBody>
          <a:bodyPr>
            <a:normAutofit/>
          </a:bodyPr>
          <a:lstStyle/>
          <a:p>
            <a:pPr algn="l"/>
            <a:r>
              <a:rPr lang="en-US" sz="1500" dirty="0">
                <a:solidFill>
                  <a:schemeClr val="bg1">
                    <a:lumMod val="50000"/>
                  </a:schemeClr>
                </a:solidFill>
                <a:latin typeface="GT Walsheim Trial Rg" pitchFamily="2" charset="77"/>
              </a:rPr>
              <a:t>Q&amp;A</a:t>
            </a:r>
          </a:p>
        </p:txBody>
      </p:sp>
      <p:sp>
        <p:nvSpPr>
          <p:cNvPr id="8" name="TextBox 7">
            <a:extLst>
              <a:ext uri="{FF2B5EF4-FFF2-40B4-BE49-F238E27FC236}">
                <a16:creationId xmlns:a16="http://schemas.microsoft.com/office/drawing/2014/main" id="{62B8995F-90AD-BA12-17F4-1B3AA71981D0}"/>
              </a:ext>
            </a:extLst>
          </p:cNvPr>
          <p:cNvSpPr txBox="1"/>
          <p:nvPr/>
        </p:nvSpPr>
        <p:spPr>
          <a:xfrm>
            <a:off x="3534690" y="3113529"/>
            <a:ext cx="5122620" cy="630942"/>
          </a:xfrm>
          <a:prstGeom prst="rect">
            <a:avLst/>
          </a:prstGeom>
          <a:noFill/>
        </p:spPr>
        <p:txBody>
          <a:bodyPr wrap="square">
            <a:spAutoFit/>
          </a:bodyPr>
          <a:lstStyle/>
          <a:p>
            <a:r>
              <a:rPr lang="en-US" sz="3500" dirty="0">
                <a:latin typeface="GT Walsheim Trial Rg" pitchFamily="2" charset="77"/>
              </a:rPr>
              <a:t>Thank You — Questions?</a:t>
            </a:r>
          </a:p>
        </p:txBody>
      </p:sp>
      <p:sp>
        <p:nvSpPr>
          <p:cNvPr id="2" name="Title 1">
            <a:extLst>
              <a:ext uri="{FF2B5EF4-FFF2-40B4-BE49-F238E27FC236}">
                <a16:creationId xmlns:a16="http://schemas.microsoft.com/office/drawing/2014/main" id="{FF170379-EBCF-A8B2-1844-BDEA31337594}"/>
              </a:ext>
            </a:extLst>
          </p:cNvPr>
          <p:cNvSpPr txBox="1">
            <a:spLocks/>
          </p:cNvSpPr>
          <p:nvPr/>
        </p:nvSpPr>
        <p:spPr>
          <a:xfrm>
            <a:off x="667840" y="5634668"/>
            <a:ext cx="7716982" cy="81235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latin typeface="GT Walsheim Trial Lt" pitchFamily="2" charset="77"/>
              </a:rPr>
              <a:t>Pavel Stepanov — pas273@miami.edu </a:t>
            </a:r>
          </a:p>
          <a:p>
            <a:pPr algn="l"/>
            <a:r>
              <a:rPr lang="en-US" sz="1500" dirty="0">
                <a:latin typeface="GT Walsheim Trial Lt" pitchFamily="2" charset="77"/>
              </a:rPr>
              <a:t>Ramses </a:t>
            </a:r>
            <a:r>
              <a:rPr lang="en-US" sz="1500" dirty="0" err="1">
                <a:latin typeface="GT Walsheim Trial Lt" pitchFamily="2" charset="77"/>
              </a:rPr>
              <a:t>Loaces</a:t>
            </a:r>
            <a:r>
              <a:rPr lang="en-US" sz="1500" dirty="0">
                <a:latin typeface="GT Walsheim Trial Lt" pitchFamily="2" charset="77"/>
              </a:rPr>
              <a:t> — rxl1238@miami.edu </a:t>
            </a:r>
          </a:p>
          <a:p>
            <a:pPr algn="l"/>
            <a:r>
              <a:rPr lang="en-US" sz="1500" dirty="0">
                <a:latin typeface="GT Walsheim Trial Lt" pitchFamily="2" charset="77"/>
              </a:rPr>
              <a:t>Justin Cabrera — justin.cabrera2718@gmail.com</a:t>
            </a:r>
          </a:p>
        </p:txBody>
      </p:sp>
      <p:sp>
        <p:nvSpPr>
          <p:cNvPr id="10" name="Freeform 9">
            <a:extLst>
              <a:ext uri="{FF2B5EF4-FFF2-40B4-BE49-F238E27FC236}">
                <a16:creationId xmlns:a16="http://schemas.microsoft.com/office/drawing/2014/main" id="{2BEF8BFE-1A39-B5C6-6B2C-112A143B57EC}"/>
              </a:ext>
            </a:extLst>
          </p:cNvPr>
          <p:cNvSpPr/>
          <p:nvPr/>
        </p:nvSpPr>
        <p:spPr>
          <a:xfrm rot="7324454">
            <a:off x="-2480422" y="2041082"/>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F677AE4-B749-DB39-6C03-5EF036A2B67E}"/>
              </a:ext>
            </a:extLst>
          </p:cNvPr>
          <p:cNvPicPr>
            <a:picLocks noChangeAspect="1"/>
          </p:cNvPicPr>
          <p:nvPr/>
        </p:nvPicPr>
        <p:blipFill>
          <a:blip r:embed="rId3"/>
          <a:stretch>
            <a:fillRect/>
          </a:stretch>
        </p:blipFill>
        <p:spPr>
          <a:xfrm>
            <a:off x="7944171" y="2838717"/>
            <a:ext cx="5047322" cy="5591901"/>
          </a:xfrm>
          <a:prstGeom prst="rect">
            <a:avLst/>
          </a:prstGeom>
        </p:spPr>
      </p:pic>
      <p:sp>
        <p:nvSpPr>
          <p:cNvPr id="13" name="Freeform 12">
            <a:extLst>
              <a:ext uri="{FF2B5EF4-FFF2-40B4-BE49-F238E27FC236}">
                <a16:creationId xmlns:a16="http://schemas.microsoft.com/office/drawing/2014/main" id="{D7F84D88-8751-67E1-FB67-C0ADF00814AF}"/>
              </a:ext>
            </a:extLst>
          </p:cNvPr>
          <p:cNvSpPr/>
          <p:nvPr/>
        </p:nvSpPr>
        <p:spPr>
          <a:xfrm rot="1800000">
            <a:off x="-10680182" y="2041080"/>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rgbClr val="00E9A0">
                <a:alpha val="24377"/>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 descr="Waymo Logo">
            <a:extLst>
              <a:ext uri="{FF2B5EF4-FFF2-40B4-BE49-F238E27FC236}">
                <a16:creationId xmlns:a16="http://schemas.microsoft.com/office/drawing/2014/main" id="{07B7D2D7-7668-D305-3F88-F3DD6F63D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40"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666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539</TotalTime>
  <Words>3939</Words>
  <Application>Microsoft Macintosh PowerPoint</Application>
  <PresentationFormat>Widescreen</PresentationFormat>
  <Paragraphs>341</Paragraphs>
  <Slides>15</Slides>
  <Notes>15</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Aptos Display</vt:lpstr>
      <vt:lpstr>Arial</vt:lpstr>
      <vt:lpstr>Cambria Math</vt:lpstr>
      <vt:lpstr>GT Walsheim Trial Bd</vt:lpstr>
      <vt:lpstr>GT Walsheim Trial Lt</vt:lpstr>
      <vt:lpstr>GT Walsheim Trial Md</vt:lpstr>
      <vt:lpstr>GT Walsheim Trial Rg</vt:lpstr>
      <vt:lpstr>GT Walsheim Trial Th</vt:lpstr>
      <vt:lpstr>Office Theme</vt:lpstr>
      <vt:lpstr>Unsupervised Statistical Learning for Kinematic Anomaly Detection in Autonomous Driving Scenarios</vt:lpstr>
      <vt:lpstr>PROBLEM</vt:lpstr>
      <vt:lpstr>MOTIVATION</vt:lpstr>
      <vt:lpstr>RELATED WORK</vt:lpstr>
      <vt:lpstr>DATASET &amp; PIPLINE</vt:lpstr>
      <vt:lpstr>DATASET &amp; PIPLINE [AGENT TYPE]</vt:lpstr>
      <vt:lpstr>PowerPoint Presentation</vt:lpstr>
      <vt:lpstr>PowerPoint Presentation</vt:lpstr>
      <vt:lpstr>MOTION PREDICTION</vt:lpstr>
      <vt:lpstr>SECTION A - RESULTS  </vt:lpstr>
      <vt:lpstr>SECTION B - RESULTS  </vt:lpstr>
      <vt:lpstr>SECTION C - RESULTS  </vt:lpstr>
      <vt:lpstr>DISCUSSION &amp; LIMITATIONS</vt:lpstr>
      <vt:lpstr>CONCLUSION &amp; FUTURE WORK</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Stepanov, Pavel Aleksandrovich</dc:creator>
  <cp:lastModifiedBy>Stepanov, Pavel Aleksandrovich</cp:lastModifiedBy>
  <cp:revision>4</cp:revision>
  <dcterms:created xsi:type="dcterms:W3CDTF">2026-04-11T16:24:40Z</dcterms:created>
  <dcterms:modified xsi:type="dcterms:W3CDTF">2026-04-12T02:45:45Z</dcterms:modified>
</cp:coreProperties>
</file>