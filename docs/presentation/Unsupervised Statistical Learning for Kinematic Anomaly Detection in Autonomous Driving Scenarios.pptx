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9A0"/>
    <a:srgbClr val="0078FF"/>
    <a:srgbClr val="989DA2"/>
    <a:srgbClr val="2323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87619"/>
  </p:normalViewPr>
  <p:slideViewPr>
    <p:cSldViewPr snapToGrid="0">
      <p:cViewPr>
        <p:scale>
          <a:sx n="106" d="100"/>
          <a:sy n="106" d="100"/>
        </p:scale>
        <p:origin x="10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8E3E3-B2E7-C649-9FF9-E9813C9F5CC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43537-14D9-9349-AA70-B1088F1298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5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759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33BA6-799C-731E-A259-2AB9FEB7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192FD-D26D-BA07-FC46-C4C0D3526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326B3-1493-C9B5-85AE-AF2D9FB430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E157B-A1DC-1D23-F336-5D207EB55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952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2D3C5-3FEB-3A4F-47FB-AE6278508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52FA19-FDDE-6941-34C7-7A5313F9F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1B0FE-524B-62AB-F469-BCFF9F39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B9A26-5242-35EF-0A62-D2FFEE710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760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9AC3-393A-5A2D-1973-BF3DCE1F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20D3D-0E43-090B-FAE3-D108BC034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87135-0BCC-C812-6A52-B3B04D585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7D6A2-A29A-65B1-E032-EB76B41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31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667FE-FC07-046B-D411-11854A12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52853-3AB6-9C9D-16AF-B6706B83B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2628F-3F1B-9BED-6991-834FD35D8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B9044-01F3-7D9D-2FBA-CE7EF15B9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22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B09E-98BE-7237-C650-7BE9BCD05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F2457-9A8C-0808-8110-DB4132630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DEB88-4FE5-53CA-AB95-9B7ED10A9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A79C0-058D-335E-A5A5-5C343EE9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B0DDF-125C-3970-79A8-C6A669FEF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192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7BF45-2E6F-C2DF-9128-C27CA30E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02D9E-CD98-F7A6-ED64-30885FA32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52E18-41DF-19F4-9252-3780B4CD3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F6EE9-E0FB-2808-D45C-212044622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C7A7F-E089-0782-6DDE-FFFD3B09A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10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B125-D530-E4B1-0688-D66E7A7CC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2A777-E0DE-9ED8-68EF-FEEC4C3B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070D-761E-832D-EEC5-0BF9D8A62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7405-6ED6-51D1-965D-2623B7843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1B47E-2EB4-A5F3-2FD9-E5F1B645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1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37CE-C52D-7189-3138-40D632BE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01763-E8C8-388F-4659-524F1AD00C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F69A1-1785-A1B6-E1E8-3453B79CA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63FDC1-3F23-C17E-11BE-E9BC30D8C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D6F4B-71EB-181A-7B6B-B5CEA4580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4C3908-390B-4BF6-8359-B17D87C5A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1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E613C-22A0-79D8-D553-2D54A52FE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F0AC1-51AC-DD5E-B50B-2C65436E2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947A8A-35CB-C35A-7E6B-7E66939D7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CE17D2-2437-C7FD-1803-2498AA8AD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66E2D-A112-D4C3-A781-FFF6EEFD8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B1140-BFAB-C1A5-B099-18743E79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276090-2264-A5FE-AE77-5F59DEDEF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2F99E3-604C-1D76-8033-9CEDAB3BC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42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12E60-F590-795F-1168-3B1FB410A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F5456-4850-C9B9-DC5F-6B1936CF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3DEBF-A9B1-D59D-2A8B-FF034A1E5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623AA-98CA-CAE0-41C7-81E575C23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611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F820E3-CC12-EED2-9421-5E4C020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9FFDB-F7F3-5DA2-302B-050722A0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D29D5-C29E-0C53-0A99-139D69E7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45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501C6-2D22-BFC1-57FE-0C88D45ED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5AD63-5ABA-67BC-0A86-38F80ADB0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A2D2E-A338-6B53-4810-6EF71305C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51706-F9DF-05DF-96A6-263E46A14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654930-40E2-750F-9E75-F718AD318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9A3365-A431-49C1-4069-58DF83110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8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B8059-372B-9B3F-4105-38D6B0567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CC57F3-50E5-B02C-C8A7-703D506FC1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B873D6-10BC-BB43-4B44-5424E47456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57F46-F4FC-35FD-926A-E552B6BC4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0CD297-2588-B98F-E475-88EA6EA03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9DA1A-FA31-6E69-E8AB-709FB655F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04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4D8EC-7786-324E-9937-DF54BCE46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A0893F-76C4-706A-A8FA-B733F767CF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9E589-AE50-573A-B591-5440221C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75C38-029D-9581-E38E-E663571A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CE0E3-2609-5529-BC93-A984EFC4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463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73427B-72AF-196D-50D7-0279CB5463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33588F-FAFD-C13D-67D3-C0D097DC07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A7BB7-F185-76E0-E133-4EE996B3C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100E5-49E4-F35C-FFA5-BCBC1E79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F1006-33FB-D1AC-BB7C-A6678FA4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044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D7ECD3-DC2D-D39F-FF8B-0464977E1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B8CD4-CC87-00BA-13A6-A3BF527C2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05476-213C-8634-0139-0AE90A0E15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AAEFFD-86F4-32F4-309E-3FA2A72608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2DB6D-1EC7-6978-82B1-A3821A831E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298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E4AA-D2CA-CB0C-01DE-666FE3459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852" y="1599521"/>
            <a:ext cx="8154390" cy="2548246"/>
          </a:xfrm>
        </p:spPr>
        <p:txBody>
          <a:bodyPr>
            <a:noAutofit/>
          </a:bodyPr>
          <a:lstStyle/>
          <a:p>
            <a:pPr algn="l"/>
            <a:r>
              <a:rPr lang="en-US" sz="4500" b="1" dirty="0">
                <a:latin typeface="GT Walsheim Trial Rg" pitchFamily="2" charset="77"/>
              </a:rPr>
              <a:t>Unsupervised Statistical Learning </a:t>
            </a:r>
            <a:r>
              <a:rPr lang="en-US" sz="4500" dirty="0">
                <a:latin typeface="GT Walsheim Trial Rg" pitchFamily="2" charset="77"/>
              </a:rPr>
              <a:t>for Kinematic Anomaly Detection in Autonomous Driving Scenarios</a:t>
            </a:r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E05DD438-99CC-9720-EA36-5A943352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50959AB-46DA-18FB-9E53-4F9714F55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004" y="2873644"/>
            <a:ext cx="4826000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AEB3031-73B3-1280-82F5-25B36391EA35}"/>
              </a:ext>
            </a:extLst>
          </p:cNvPr>
          <p:cNvSpPr txBox="1">
            <a:spLocks/>
          </p:cNvSpPr>
          <p:nvPr/>
        </p:nvSpPr>
        <p:spPr>
          <a:xfrm>
            <a:off x="785750" y="4837123"/>
            <a:ext cx="7716982" cy="140704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dirty="0">
                <a:latin typeface="GT Walsheim Trial Lt" pitchFamily="2" charset="77"/>
              </a:rPr>
              <a:t>Pavel Stepanov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Ramses </a:t>
            </a:r>
            <a:r>
              <a:rPr lang="en-US" sz="1500" dirty="0" err="1">
                <a:latin typeface="GT Walsheim Trial Lt" pitchFamily="2" charset="77"/>
              </a:rPr>
              <a:t>Loaces</a:t>
            </a:r>
            <a:endParaRPr lang="en-US" sz="1500" dirty="0">
              <a:latin typeface="GT Walsheim Trial Lt" pitchFamily="2" charset="77"/>
            </a:endParaRPr>
          </a:p>
          <a:p>
            <a:pPr algn="l"/>
            <a:r>
              <a:rPr lang="en-US" sz="1500" dirty="0">
                <a:latin typeface="GT Walsheim Trial Lt" pitchFamily="2" charset="77"/>
              </a:rPr>
              <a:t>Justin Cabrera</a:t>
            </a:r>
          </a:p>
          <a:p>
            <a:pPr algn="l"/>
            <a:endParaRPr lang="en-US" sz="1500" dirty="0">
              <a:latin typeface="GT Walsheim Trial Lt" pitchFamily="2" charset="77"/>
            </a:endParaRPr>
          </a:p>
          <a:p>
            <a:pPr algn="l"/>
            <a:r>
              <a:rPr lang="en-US" sz="1500" b="1" dirty="0">
                <a:latin typeface="GT Walsheim Trial Lt" pitchFamily="2" charset="77"/>
              </a:rPr>
              <a:t>Department of Computer Science University of Miami 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CSC 642 · Spring 2026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2DA9D78-DF8C-0660-96D9-51D808F0ED00}"/>
              </a:ext>
            </a:extLst>
          </p:cNvPr>
          <p:cNvSpPr txBox="1">
            <a:spLocks/>
          </p:cNvSpPr>
          <p:nvPr/>
        </p:nvSpPr>
        <p:spPr>
          <a:xfrm>
            <a:off x="716478" y="447821"/>
            <a:ext cx="2406732" cy="36933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INTRO</a:t>
            </a:r>
          </a:p>
        </p:txBody>
      </p:sp>
    </p:spTree>
    <p:extLst>
      <p:ext uri="{BB962C8B-B14F-4D97-AF65-F5344CB8AC3E}">
        <p14:creationId xmlns:p14="http://schemas.microsoft.com/office/powerpoint/2010/main" val="3542837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EB97-5D45-A841-4EFF-CDAAC0B9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6B73BB8B-7F6B-CD32-507F-968351976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5E77092-C168-5E0F-86BD-4C92F2357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PROBLEM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4C636A6-82AD-B33D-61A0-3A8D8F6B1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436" y="4880918"/>
            <a:ext cx="3721564" cy="1977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9A3918D-B312-8466-1504-C777366DF7C8}"/>
              </a:ext>
            </a:extLst>
          </p:cNvPr>
          <p:cNvSpPr txBox="1"/>
          <p:nvPr/>
        </p:nvSpPr>
        <p:spPr>
          <a:xfrm>
            <a:off x="716478" y="952090"/>
            <a:ext cx="609797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The Long-Tail Problem in Autonomous Driving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8A964F-48F4-B4E1-E1B0-BD8449744408}"/>
              </a:ext>
            </a:extLst>
          </p:cNvPr>
          <p:cNvSpPr txBox="1"/>
          <p:nvPr/>
        </p:nvSpPr>
        <p:spPr>
          <a:xfrm>
            <a:off x="868878" y="2567473"/>
            <a:ext cx="619638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GT Walsheim Trial Th" pitchFamily="2" charset="77"/>
              </a:rPr>
              <a:t>Most driving is routine and predictable.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Safety-critical events are rare but risky: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* Sudden braking or acceleration</a:t>
            </a:r>
          </a:p>
          <a:p>
            <a:r>
              <a:rPr lang="en-US" sz="2000" dirty="0">
                <a:latin typeface="GT Walsheim Trial Th" pitchFamily="2" charset="77"/>
              </a:rPr>
              <a:t>* Jaywalking pedestrians</a:t>
            </a:r>
          </a:p>
          <a:p>
            <a:r>
              <a:rPr lang="en-US" sz="2000" dirty="0">
                <a:latin typeface="GT Walsheim Trial Th" pitchFamily="2" charset="77"/>
              </a:rPr>
              <a:t>* Near-misses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Anomaly data is scarce, and “danger” depends on context.</a:t>
            </a:r>
          </a:p>
        </p:txBody>
      </p:sp>
    </p:spTree>
    <p:extLst>
      <p:ext uri="{BB962C8B-B14F-4D97-AF65-F5344CB8AC3E}">
        <p14:creationId xmlns:p14="http://schemas.microsoft.com/office/powerpoint/2010/main" val="2587833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35626-9967-90C4-BA6C-EEE07BEC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B538EF2-B772-6D93-57AA-3A176BBD0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568666"/>
              </p:ext>
            </p:extLst>
          </p:nvPr>
        </p:nvGraphicFramePr>
        <p:xfrm>
          <a:off x="786384" y="3382466"/>
          <a:ext cx="10806444" cy="234853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550583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5255861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</a:tblGrid>
              <a:tr h="650040">
                <a:tc>
                  <a:txBody>
                    <a:bodyPr/>
                    <a:lstStyle/>
                    <a:p>
                      <a:r>
                        <a:rPr lang="en-US" sz="2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Goal 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Goal 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1698494">
                <a:tc>
                  <a:txBody>
                    <a:bodyPr/>
                    <a:lstStyle/>
                    <a:p>
                      <a:r>
                        <a:rPr lang="en-US" sz="2500" b="0" dirty="0">
                          <a:solidFill>
                            <a:schemeClr val="bg1"/>
                          </a:solidFill>
                        </a:rPr>
                        <a:t>Detect anomalous agents from kinematics alone — no labels</a:t>
                      </a:r>
                      <a:endParaRPr lang="en-US" sz="2500" b="0" i="0" dirty="0">
                        <a:solidFill>
                          <a:schemeClr val="bg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dirty="0">
                          <a:solidFill>
                            <a:schemeClr val="bg1"/>
                          </a:solidFill>
                        </a:rPr>
                        <a:t>Predict 5-second future displacement from current kinematic state</a:t>
                      </a:r>
                      <a:endParaRPr lang="en-US" sz="2500" b="0" i="0" dirty="0">
                        <a:solidFill>
                          <a:schemeClr val="bg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</a:tbl>
          </a:graphicData>
        </a:graphic>
      </p:graphicFrame>
      <p:pic>
        <p:nvPicPr>
          <p:cNvPr id="4102" name="Picture 6" descr="Our Trademarks">
            <a:extLst>
              <a:ext uri="{FF2B5EF4-FFF2-40B4-BE49-F238E27FC236}">
                <a16:creationId xmlns:a16="http://schemas.microsoft.com/office/drawing/2014/main" id="{4C86D87E-65A4-3B6A-7810-E59734111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A8E7D96-496D-CBB3-6118-7D000C06B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  <a:latin typeface="GT Walsheim Trial Rg" pitchFamily="2" charset="77"/>
              </a:rPr>
              <a:t>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6777D-25C7-5B43-733F-E04B67AF23CB}"/>
              </a:ext>
            </a:extLst>
          </p:cNvPr>
          <p:cNvSpPr txBox="1"/>
          <p:nvPr/>
        </p:nvSpPr>
        <p:spPr>
          <a:xfrm>
            <a:off x="716477" y="2268582"/>
            <a:ext cx="64194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GT Walsheim Trial Lt" pitchFamily="2" charset="77"/>
              </a:rPr>
              <a:t>Unsupervised learning lets the data define normal — and flags what falls outside.</a:t>
            </a:r>
          </a:p>
        </p:txBody>
      </p:sp>
      <p:pic>
        <p:nvPicPr>
          <p:cNvPr id="4100" name="Picture 4" descr="Waymo branded color scheme">
            <a:extLst>
              <a:ext uri="{FF2B5EF4-FFF2-40B4-BE49-F238E27FC236}">
                <a16:creationId xmlns:a16="http://schemas.microsoft.com/office/drawing/2014/main" id="{7FAF0D29-B8CB-2891-F142-D19360BD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9835" y="-1189446"/>
            <a:ext cx="5334000" cy="200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954336C-71C6-F898-E339-0C59351E3331}"/>
              </a:ext>
            </a:extLst>
          </p:cNvPr>
          <p:cNvGrpSpPr/>
          <p:nvPr/>
        </p:nvGrpSpPr>
        <p:grpSpPr>
          <a:xfrm>
            <a:off x="786383" y="5410173"/>
            <a:ext cx="10806445" cy="848342"/>
            <a:chOff x="-6677360" y="5718464"/>
            <a:chExt cx="10876352" cy="84834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51C987-572B-CC5E-A99A-C9F2E5407627}"/>
                </a:ext>
              </a:extLst>
            </p:cNvPr>
            <p:cNvSpPr/>
            <p:nvPr/>
          </p:nvSpPr>
          <p:spPr>
            <a:xfrm>
              <a:off x="-583868" y="6039291"/>
              <a:ext cx="4782860" cy="448593"/>
            </a:xfrm>
            <a:prstGeom prst="rect">
              <a:avLst/>
            </a:prstGeom>
            <a:solidFill>
              <a:srgbClr val="02E8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8BBA2C4-5ED3-5B90-FB16-91F9F60914F2}"/>
                </a:ext>
              </a:extLst>
            </p:cNvPr>
            <p:cNvSpPr/>
            <p:nvPr/>
          </p:nvSpPr>
          <p:spPr>
            <a:xfrm>
              <a:off x="-6677360" y="6039291"/>
              <a:ext cx="5546317" cy="448593"/>
            </a:xfrm>
            <a:prstGeom prst="rect">
              <a:avLst/>
            </a:prstGeom>
            <a:solidFill>
              <a:srgbClr val="0078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B2C8A67-6173-BDFC-CC77-AC0873EC9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678214" y="5718464"/>
              <a:ext cx="1391461" cy="848342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30F2CB9-37A7-B97A-9790-30EA278CDFC2}"/>
              </a:ext>
            </a:extLst>
          </p:cNvPr>
          <p:cNvSpPr txBox="1"/>
          <p:nvPr/>
        </p:nvSpPr>
        <p:spPr>
          <a:xfrm>
            <a:off x="12034157" y="36249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4598DF-A7B7-722C-E6DE-E958717DAE2C}"/>
              </a:ext>
            </a:extLst>
          </p:cNvPr>
          <p:cNvSpPr txBox="1"/>
          <p:nvPr/>
        </p:nvSpPr>
        <p:spPr>
          <a:xfrm>
            <a:off x="716478" y="952090"/>
            <a:ext cx="609797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The Long-Tail Problem in Autonomous Driving</a:t>
            </a:r>
          </a:p>
        </p:txBody>
      </p:sp>
    </p:spTree>
    <p:extLst>
      <p:ext uri="{BB962C8B-B14F-4D97-AF65-F5344CB8AC3E}">
        <p14:creationId xmlns:p14="http://schemas.microsoft.com/office/powerpoint/2010/main" val="37105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9216D-B759-7121-1A50-BB44BAEF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BF12FDF6-6561-91B6-CD70-422746B6B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762FE4-49BE-E4AA-E327-33235A932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RELATED 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EB75F2-8ED4-9142-7F47-88F132F05E9C}"/>
              </a:ext>
            </a:extLst>
          </p:cNvPr>
          <p:cNvSpPr txBox="1"/>
          <p:nvPr/>
        </p:nvSpPr>
        <p:spPr>
          <a:xfrm>
            <a:off x="716478" y="952090"/>
            <a:ext cx="609797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Where This Work Fits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34FDD3D-19EC-317A-14E1-D28EE4554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99073"/>
              </p:ext>
            </p:extLst>
          </p:nvPr>
        </p:nvGraphicFramePr>
        <p:xfrm>
          <a:off x="771836" y="1717968"/>
          <a:ext cx="10806445" cy="34565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06321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2649582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3225271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  <a:gridCol w="3225271">
                  <a:extLst>
                    <a:ext uri="{9D8B030D-6E8A-4147-A177-3AD203B41FA5}">
                      <a16:colId xmlns:a16="http://schemas.microsoft.com/office/drawing/2014/main" val="928774917"/>
                    </a:ext>
                  </a:extLst>
                </a:gridCol>
              </a:tblGrid>
              <a:tr h="307273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Method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Type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Strength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Limitation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Kalman Filter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Classical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Interpretable, fast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Linear dynamics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LSTM / GRU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Deep learning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Captures sequences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Needs large labeled data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Transformer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Deep </a:t>
                      </a:r>
                      <a:r>
                        <a:rPr lang="en-US" sz="1500" b="0" i="0" dirty="0" err="1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learnin</a:t>
                      </a:r>
                      <a:endParaRPr lang="en-US" sz="1500" b="0" i="0" dirty="0">
                        <a:solidFill>
                          <a:schemeClr val="tx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State-of-the-art accuracy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Black box, expensive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One-Class SVM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Unsupervised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No labels needed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Kernel tuning sensitive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12021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Unsupervised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Scalable, minimal assumptions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No temporal context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3333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A360C83-E23A-CC4E-2E57-6A4AB55E65DB}"/>
              </a:ext>
            </a:extLst>
          </p:cNvPr>
          <p:cNvSpPr txBox="1"/>
          <p:nvPr/>
        </p:nvSpPr>
        <p:spPr>
          <a:xfrm>
            <a:off x="716478" y="5536139"/>
            <a:ext cx="762395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latin typeface="GT Walsheim Trial Lt" pitchFamily="2" charset="77"/>
              </a:rPr>
              <a:t>Prior work on WOMD focuses on deep learning prediction.</a:t>
            </a:r>
          </a:p>
          <a:p>
            <a:r>
              <a:rPr lang="en-US" sz="1500" b="1" dirty="0">
                <a:latin typeface="GT Walsheim Trial Bd" pitchFamily="2" charset="77"/>
              </a:rPr>
              <a:t>Classical statistical baselines over the full agent population remain unexplored.</a:t>
            </a:r>
          </a:p>
          <a:p>
            <a:r>
              <a:rPr lang="en-US" sz="1500" dirty="0">
                <a:latin typeface="GT Walsheim Trial Lt" pitchFamily="2" charset="77"/>
              </a:rPr>
              <a:t>This work fills that gap.</a:t>
            </a:r>
          </a:p>
        </p:txBody>
      </p:sp>
    </p:spTree>
    <p:extLst>
      <p:ext uri="{BB962C8B-B14F-4D97-AF65-F5344CB8AC3E}">
        <p14:creationId xmlns:p14="http://schemas.microsoft.com/office/powerpoint/2010/main" val="34899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BC192-5576-CACC-462A-68BD190F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96032551-661A-E53C-73FD-725745F6498A}"/>
              </a:ext>
            </a:extLst>
          </p:cNvPr>
          <p:cNvSpPr/>
          <p:nvPr/>
        </p:nvSpPr>
        <p:spPr>
          <a:xfrm>
            <a:off x="-1969234" y="4099435"/>
            <a:ext cx="14827326" cy="1340166"/>
          </a:xfrm>
          <a:custGeom>
            <a:avLst/>
            <a:gdLst>
              <a:gd name="csX0" fmla="*/ 0 w 11430000"/>
              <a:gd name="csY0" fmla="*/ 691323 h 1340166"/>
              <a:gd name="csX1" fmla="*/ 1422400 w 11430000"/>
              <a:gd name="csY1" fmla="*/ 18223 h 1340166"/>
              <a:gd name="csX2" fmla="*/ 7150100 w 11430000"/>
              <a:gd name="csY2" fmla="*/ 1339023 h 1340166"/>
              <a:gd name="csX3" fmla="*/ 11430000 w 11430000"/>
              <a:gd name="csY3" fmla="*/ 246823 h 1340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430000" h="1340166">
                <a:moveTo>
                  <a:pt x="0" y="691323"/>
                </a:moveTo>
                <a:cubicBezTo>
                  <a:pt x="115358" y="300798"/>
                  <a:pt x="230717" y="-89727"/>
                  <a:pt x="1422400" y="18223"/>
                </a:cubicBezTo>
                <a:cubicBezTo>
                  <a:pt x="2614083" y="126173"/>
                  <a:pt x="5482167" y="1300923"/>
                  <a:pt x="7150100" y="1339023"/>
                </a:cubicBezTo>
                <a:cubicBezTo>
                  <a:pt x="8818033" y="1377123"/>
                  <a:pt x="10687050" y="452140"/>
                  <a:pt x="11430000" y="246823"/>
                </a:cubicBezTo>
              </a:path>
            </a:pathLst>
          </a:custGeom>
          <a:noFill/>
          <a:ln w="762000" cap="flat">
            <a:gradFill flip="none" rotWithShape="1">
              <a:gsLst>
                <a:gs pos="71000">
                  <a:srgbClr val="0078FF"/>
                </a:gs>
                <a:gs pos="33000">
                  <a:srgbClr val="0078FF"/>
                </a:gs>
                <a:gs pos="48000">
                  <a:srgbClr val="0078FF"/>
                </a:gs>
                <a:gs pos="79000">
                  <a:srgbClr val="0078FF"/>
                </a:gs>
                <a:gs pos="84000">
                  <a:srgbClr val="00E9A0"/>
                </a:gs>
                <a:gs pos="100000">
                  <a:srgbClr val="00E9A0"/>
                </a:gs>
              </a:gsLst>
              <a:lin ang="360000" scaled="0"/>
              <a:tileRect/>
            </a:gra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9653A5E0-1711-CB0B-42FE-0F898B4D8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C8744DF-0E14-4729-83A3-2555BE74D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DATASET &amp; PIPLINE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C1B2E-72FB-B260-E399-AE91F7FA7FE7}"/>
              </a:ext>
            </a:extLst>
          </p:cNvPr>
          <p:cNvSpPr txBox="1"/>
          <p:nvPr/>
        </p:nvSpPr>
        <p:spPr>
          <a:xfrm>
            <a:off x="716477" y="952090"/>
            <a:ext cx="734686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Waymo Open Motion Dataset v1.3.1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5135FE-E590-239C-0982-FF07DAD6A753}"/>
              </a:ext>
            </a:extLst>
          </p:cNvPr>
          <p:cNvSpPr txBox="1"/>
          <p:nvPr/>
        </p:nvSpPr>
        <p:spPr>
          <a:xfrm>
            <a:off x="716477" y="1857753"/>
            <a:ext cx="108618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GT Walsheim Trial Lt" pitchFamily="2" charset="77"/>
              </a:rPr>
              <a:t>18,311 raw agent observations </a:t>
            </a:r>
            <a:r>
              <a:rPr lang="en-US" sz="2000" b="0" i="0" dirty="0">
                <a:effectLst/>
                <a:latin typeface="GT Walsheim Trial Rg" pitchFamily="2" charset="77"/>
              </a:rPr>
              <a:t>— </a:t>
            </a:r>
            <a:r>
              <a:rPr lang="en-US" sz="2000" b="1" dirty="0">
                <a:latin typeface="GT Walsheim Trial Lt" pitchFamily="2" charset="77"/>
              </a:rPr>
              <a:t>20 Hz object tracking </a:t>
            </a:r>
            <a:r>
              <a:rPr lang="en-US" sz="2000" b="0" i="0" dirty="0">
                <a:effectLst/>
                <a:latin typeface="GT Walsheim Trial Rg" pitchFamily="2" charset="77"/>
              </a:rPr>
              <a:t>— </a:t>
            </a:r>
            <a:r>
              <a:rPr lang="en-US" sz="2000" b="1" dirty="0">
                <a:latin typeface="GT Walsheim Trial Lt" pitchFamily="2" charset="77"/>
              </a:rPr>
              <a:t>20-second scenario segments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B1D7EC-1CA7-6572-C738-03EBF46A6752}"/>
              </a:ext>
            </a:extLst>
          </p:cNvPr>
          <p:cNvSpPr/>
          <p:nvPr/>
        </p:nvSpPr>
        <p:spPr>
          <a:xfrm>
            <a:off x="1213224" y="3258173"/>
            <a:ext cx="1323087" cy="303414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0D26C6-5B83-D274-92B8-C8D5027C3FBD}"/>
              </a:ext>
            </a:extLst>
          </p:cNvPr>
          <p:cNvSpPr/>
          <p:nvPr/>
        </p:nvSpPr>
        <p:spPr>
          <a:xfrm rot="5400000">
            <a:off x="2719023" y="3252445"/>
            <a:ext cx="3022685" cy="303414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8DF5B-3BA6-FEA2-151C-766C411F8C25}"/>
              </a:ext>
            </a:extLst>
          </p:cNvPr>
          <p:cNvSpPr txBox="1"/>
          <p:nvPr/>
        </p:nvSpPr>
        <p:spPr>
          <a:xfrm rot="16200000">
            <a:off x="668592" y="4450903"/>
            <a:ext cx="24123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Waymo GCS Bucket (TFRecords)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7D8074-A78C-D935-403F-05021A7FD410}"/>
              </a:ext>
            </a:extLst>
          </p:cNvPr>
          <p:cNvSpPr txBox="1"/>
          <p:nvPr/>
        </p:nvSpPr>
        <p:spPr>
          <a:xfrm>
            <a:off x="2868739" y="3469695"/>
            <a:ext cx="24123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bg1"/>
                </a:solidFill>
                <a:effectLst/>
                <a:latin typeface="GT Walsheim Trial Md" pitchFamily="2" charset="77"/>
              </a:rPr>
              <a:t>Python Notebook (Google </a:t>
            </a:r>
            <a:r>
              <a:rPr lang="en-US" dirty="0" err="1">
                <a:solidFill>
                  <a:schemeClr val="bg1"/>
                </a:solidFill>
                <a:effectLst/>
                <a:latin typeface="GT Walsheim Trial Md" pitchFamily="2" charset="77"/>
              </a:rPr>
              <a:t>Colab</a:t>
            </a:r>
            <a:r>
              <a:rPr lang="en-US" dirty="0">
                <a:solidFill>
                  <a:schemeClr val="bg1"/>
                </a:solidFill>
                <a:effectLst/>
                <a:latin typeface="GT Walsheim Trial Md" pitchFamily="2" charset="77"/>
              </a:rPr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E13089-0731-8EA9-E13B-909D5D04BC4B}"/>
              </a:ext>
            </a:extLst>
          </p:cNvPr>
          <p:cNvSpPr txBox="1"/>
          <p:nvPr/>
        </p:nvSpPr>
        <p:spPr>
          <a:xfrm>
            <a:off x="2868739" y="4312404"/>
            <a:ext cx="27232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GCS authentication</a:t>
            </a:r>
          </a:p>
          <a:p>
            <a:pPr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Parse Scenario protos</a:t>
            </a:r>
          </a:p>
          <a:p>
            <a:pPr>
              <a:buNone/>
            </a:pPr>
            <a:r>
              <a:rPr lang="en-US" b="1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Extract kinematics </a:t>
            </a: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at </a:t>
            </a:r>
          </a:p>
          <a:p>
            <a:pPr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t = 0, t = -0.1s, t = +5s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FF29CB-B9A0-D774-8556-025972A6411F}"/>
              </a:ext>
            </a:extLst>
          </p:cNvPr>
          <p:cNvSpPr/>
          <p:nvPr/>
        </p:nvSpPr>
        <p:spPr>
          <a:xfrm rot="5400000">
            <a:off x="4757223" y="4440514"/>
            <a:ext cx="3019002" cy="6846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A8CB1E-CA6D-B69B-4A23-51F6F650AA12}"/>
              </a:ext>
            </a:extLst>
          </p:cNvPr>
          <p:cNvSpPr txBox="1"/>
          <p:nvPr/>
        </p:nvSpPr>
        <p:spPr>
          <a:xfrm rot="16200000">
            <a:off x="4796069" y="4643939"/>
            <a:ext cx="290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 err="1">
                <a:effectLst/>
                <a:latin typeface="GT Walsheim Trial Rg" pitchFamily="2" charset="77"/>
              </a:rPr>
              <a:t>waymo_final_dataset.csv</a:t>
            </a:r>
            <a:endParaRPr lang="en-US" b="0" i="0" dirty="0">
              <a:effectLst/>
              <a:latin typeface="GT Walsheim Trial Rg" pitchFamily="2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71A77D-2D16-2B5A-2A9E-FB91657476D0}"/>
              </a:ext>
            </a:extLst>
          </p:cNvPr>
          <p:cNvSpPr/>
          <p:nvPr/>
        </p:nvSpPr>
        <p:spPr>
          <a:xfrm rot="5400000">
            <a:off x="6755144" y="3265745"/>
            <a:ext cx="3019002" cy="303414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750D8F-67A1-98B2-A822-4BDFCE53DAA2}"/>
              </a:ext>
            </a:extLst>
          </p:cNvPr>
          <p:cNvSpPr txBox="1"/>
          <p:nvPr/>
        </p:nvSpPr>
        <p:spPr>
          <a:xfrm>
            <a:off x="6897703" y="3469695"/>
            <a:ext cx="272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R — Statistical Modeling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B762C7-DF74-D983-5BBB-B91A460C2CC7}"/>
              </a:ext>
            </a:extLst>
          </p:cNvPr>
          <p:cNvSpPr txBox="1"/>
          <p:nvPr/>
        </p:nvSpPr>
        <p:spPr>
          <a:xfrm>
            <a:off x="6897703" y="4312404"/>
            <a:ext cx="27232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Preprocessing → Anomaly Detection → Motion Prediction</a:t>
            </a:r>
            <a:endParaRPr lang="en-US" b="0" i="0" dirty="0">
              <a:solidFill>
                <a:schemeClr val="bg1"/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5C3F3C-74CB-A77D-4520-791C9D34E8BD}"/>
              </a:ext>
            </a:extLst>
          </p:cNvPr>
          <p:cNvSpPr/>
          <p:nvPr/>
        </p:nvSpPr>
        <p:spPr>
          <a:xfrm rot="5400000">
            <a:off x="8905250" y="4299917"/>
            <a:ext cx="3019002" cy="965804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8A5016-C08E-98B3-26B4-A2802863211D}"/>
              </a:ext>
            </a:extLst>
          </p:cNvPr>
          <p:cNvSpPr txBox="1"/>
          <p:nvPr/>
        </p:nvSpPr>
        <p:spPr>
          <a:xfrm rot="16200000">
            <a:off x="8962497" y="4655400"/>
            <a:ext cx="290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Results (Tables / Plots)</a:t>
            </a:r>
          </a:p>
        </p:txBody>
      </p:sp>
    </p:spTree>
    <p:extLst>
      <p:ext uri="{BB962C8B-B14F-4D97-AF65-F5344CB8AC3E}">
        <p14:creationId xmlns:p14="http://schemas.microsoft.com/office/powerpoint/2010/main" val="1027313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8335D-070D-E2CD-7974-1D934C6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1818D86-B172-7F3C-A000-ECBB85ED72A7}"/>
              </a:ext>
            </a:extLst>
          </p:cNvPr>
          <p:cNvSpPr/>
          <p:nvPr/>
        </p:nvSpPr>
        <p:spPr>
          <a:xfrm rot="1264676">
            <a:off x="-5443421" y="3645935"/>
            <a:ext cx="18325767" cy="1340166"/>
          </a:xfrm>
          <a:custGeom>
            <a:avLst/>
            <a:gdLst>
              <a:gd name="csX0" fmla="*/ 0 w 11430000"/>
              <a:gd name="csY0" fmla="*/ 691323 h 1340166"/>
              <a:gd name="csX1" fmla="*/ 1422400 w 11430000"/>
              <a:gd name="csY1" fmla="*/ 18223 h 1340166"/>
              <a:gd name="csX2" fmla="*/ 7150100 w 11430000"/>
              <a:gd name="csY2" fmla="*/ 1339023 h 1340166"/>
              <a:gd name="csX3" fmla="*/ 11430000 w 11430000"/>
              <a:gd name="csY3" fmla="*/ 246823 h 1340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430000" h="1340166">
                <a:moveTo>
                  <a:pt x="0" y="691323"/>
                </a:moveTo>
                <a:cubicBezTo>
                  <a:pt x="115358" y="300798"/>
                  <a:pt x="230717" y="-89727"/>
                  <a:pt x="1422400" y="18223"/>
                </a:cubicBezTo>
                <a:cubicBezTo>
                  <a:pt x="2614083" y="126173"/>
                  <a:pt x="5482167" y="1300923"/>
                  <a:pt x="7150100" y="1339023"/>
                </a:cubicBezTo>
                <a:cubicBezTo>
                  <a:pt x="8818033" y="1377123"/>
                  <a:pt x="10687050" y="452140"/>
                  <a:pt x="11430000" y="246823"/>
                </a:cubicBezTo>
              </a:path>
            </a:pathLst>
          </a:custGeom>
          <a:noFill/>
          <a:ln w="762000" cap="flat">
            <a:gradFill flip="none" rotWithShape="1">
              <a:gsLst>
                <a:gs pos="69000">
                  <a:srgbClr val="0078FF"/>
                </a:gs>
                <a:gs pos="0">
                  <a:srgbClr val="0078FF"/>
                </a:gs>
                <a:gs pos="29000">
                  <a:srgbClr val="0078FF"/>
                </a:gs>
                <a:gs pos="46000">
                  <a:srgbClr val="0078FF"/>
                </a:gs>
                <a:gs pos="78000">
                  <a:srgbClr val="00E9A0"/>
                </a:gs>
                <a:gs pos="100000">
                  <a:srgbClr val="00E9A0"/>
                </a:gs>
              </a:gsLst>
              <a:lin ang="360000" scaled="0"/>
              <a:tileRect/>
            </a:gra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0AB1E2B3-77CD-0C1F-2D99-83675D527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3C362FE-26C6-9E59-253C-0E8E33DFB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DATASET &amp; PIPLINE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0B286F-ACC4-E15E-FE10-F81A14DF3948}"/>
              </a:ext>
            </a:extLst>
          </p:cNvPr>
          <p:cNvSpPr txBox="1"/>
          <p:nvPr/>
        </p:nvSpPr>
        <p:spPr>
          <a:xfrm>
            <a:off x="716477" y="952090"/>
            <a:ext cx="734686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Waymo Open Motion Dataset v1.3.1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E5ED46D-9A9D-45B4-50C0-E4B617433E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35208"/>
              </p:ext>
            </p:extLst>
          </p:nvPr>
        </p:nvGraphicFramePr>
        <p:xfrm>
          <a:off x="759261" y="2144977"/>
          <a:ext cx="7581174" cy="282921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06321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2649582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3225271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</a:tblGrid>
              <a:tr h="307273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Agent Type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Count (raw)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After preprocessing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Vehicle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majority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Pedestrian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~25%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Cyclist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~5%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SDC (AV itself)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removed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excluded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1202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3141582-FD1E-F62F-4490-D627EFD530A0}"/>
              </a:ext>
            </a:extLst>
          </p:cNvPr>
          <p:cNvSpPr txBox="1"/>
          <p:nvPr/>
        </p:nvSpPr>
        <p:spPr>
          <a:xfrm>
            <a:off x="8654530" y="2146194"/>
            <a:ext cx="2923751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latin typeface="GT Walsheim Trial Md" pitchFamily="2" charset="77"/>
              </a:rPr>
              <a:t>Features extracted: </a:t>
            </a:r>
          </a:p>
          <a:p>
            <a:r>
              <a:rPr lang="en-US" sz="1500" dirty="0">
                <a:latin typeface="GT Walsheim Trial Lt" pitchFamily="2" charset="77"/>
              </a:rPr>
              <a:t>Speed</a:t>
            </a:r>
          </a:p>
          <a:p>
            <a:r>
              <a:rPr lang="en-US" sz="1500" dirty="0">
                <a:latin typeface="GT Walsheim Trial Lt" pitchFamily="2" charset="77"/>
              </a:rPr>
              <a:t>Acceleration</a:t>
            </a:r>
          </a:p>
          <a:p>
            <a:r>
              <a:rPr lang="en-US" sz="1500" dirty="0">
                <a:latin typeface="GT Walsheim Trial Lt" pitchFamily="2" charset="77"/>
              </a:rPr>
              <a:t>Yaw Rate</a:t>
            </a:r>
          </a:p>
          <a:p>
            <a:r>
              <a:rPr lang="en-US" sz="1500" dirty="0" err="1">
                <a:latin typeface="GT Walsheim Trial Lt" pitchFamily="2" charset="77"/>
              </a:rPr>
              <a:t>Vel_X</a:t>
            </a:r>
            <a:endParaRPr lang="en-US" sz="1500" dirty="0">
              <a:latin typeface="GT Walsheim Trial Lt" pitchFamily="2" charset="77"/>
            </a:endParaRPr>
          </a:p>
          <a:p>
            <a:r>
              <a:rPr lang="en-US" sz="1500" dirty="0" err="1">
                <a:latin typeface="GT Walsheim Trial Lt" pitchFamily="2" charset="77"/>
              </a:rPr>
              <a:t>Vel_Y</a:t>
            </a:r>
            <a:endParaRPr lang="en-US" sz="1500" dirty="0">
              <a:latin typeface="GT Walsheim Trial Lt" pitchFamily="2" charset="77"/>
            </a:endParaRPr>
          </a:p>
          <a:p>
            <a:r>
              <a:rPr lang="en-US" sz="1500" dirty="0">
                <a:latin typeface="GT Walsheim Trial Lt" pitchFamily="2" charset="77"/>
              </a:rPr>
              <a:t>Length</a:t>
            </a:r>
          </a:p>
          <a:p>
            <a:r>
              <a:rPr lang="en-US" sz="1500" dirty="0">
                <a:latin typeface="GT Walsheim Trial Lt" pitchFamily="2" charset="77"/>
              </a:rPr>
              <a:t>Width</a:t>
            </a:r>
          </a:p>
          <a:p>
            <a:r>
              <a:rPr lang="en-US" sz="1500" dirty="0">
                <a:latin typeface="GT Walsheim Trial Lt" pitchFamily="2" charset="77"/>
              </a:rPr>
              <a:t>FutureDist_5s</a:t>
            </a:r>
          </a:p>
        </p:txBody>
      </p:sp>
    </p:spTree>
    <p:extLst>
      <p:ext uri="{BB962C8B-B14F-4D97-AF65-F5344CB8AC3E}">
        <p14:creationId xmlns:p14="http://schemas.microsoft.com/office/powerpoint/2010/main" val="2414567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F451-3682-FF2C-D616-3F71F91C5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098CF723-BBB0-69D1-210D-A92B374A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72B4AF-3303-D5F9-B0F5-2775BA6C1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 fontScale="90000"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METHODS: ANOMALY DETECTION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9957A-7A79-0237-F7BA-3507FB224EBF}"/>
              </a:ext>
            </a:extLst>
          </p:cNvPr>
          <p:cNvSpPr txBox="1"/>
          <p:nvPr/>
        </p:nvSpPr>
        <p:spPr>
          <a:xfrm>
            <a:off x="716477" y="952090"/>
            <a:ext cx="734686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Three-Layer Anomaly Detection Pipeline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68A61C-4608-E59F-E53A-ACC82BDE3BFB}"/>
              </a:ext>
            </a:extLst>
          </p:cNvPr>
          <p:cNvSpPr/>
          <p:nvPr/>
        </p:nvSpPr>
        <p:spPr>
          <a:xfrm>
            <a:off x="854439" y="2233534"/>
            <a:ext cx="10483122" cy="450883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3F07-4ACA-1B01-241E-AF7E7DC70674}"/>
              </a:ext>
            </a:extLst>
          </p:cNvPr>
          <p:cNvSpPr txBox="1"/>
          <p:nvPr/>
        </p:nvSpPr>
        <p:spPr>
          <a:xfrm>
            <a:off x="1066806" y="2274309"/>
            <a:ext cx="286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Layer 1 — Isolation Forest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0FDC66-D3E4-E203-0DF1-C8F46FC5F057}"/>
              </a:ext>
            </a:extLst>
          </p:cNvPr>
          <p:cNvSpPr/>
          <p:nvPr/>
        </p:nvSpPr>
        <p:spPr>
          <a:xfrm>
            <a:off x="854439" y="2676298"/>
            <a:ext cx="5241562" cy="2166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F07873-F556-363B-D82F-5070AC0E40F8}"/>
              </a:ext>
            </a:extLst>
          </p:cNvPr>
          <p:cNvSpPr txBox="1"/>
          <p:nvPr/>
        </p:nvSpPr>
        <p:spPr>
          <a:xfrm>
            <a:off x="1066806" y="302095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Input features: </a:t>
            </a:r>
            <a:r>
              <a:rPr lang="en-US" dirty="0">
                <a:effectLst/>
                <a:latin typeface="GT Walsheim Trial Rg" pitchFamily="2" charset="77"/>
              </a:rPr>
              <a:t>Speed, Acceleration, </a:t>
            </a:r>
            <a:r>
              <a:rPr lang="en-US" dirty="0" err="1">
                <a:effectLst/>
                <a:latin typeface="GT Walsheim Trial Rg" pitchFamily="2" charset="77"/>
              </a:rPr>
              <a:t>YawRate</a:t>
            </a:r>
            <a:endParaRPr lang="en-US" dirty="0">
              <a:effectLst/>
              <a:latin typeface="GT Walsheim Trial Rg" pitchFamily="2" charset="77"/>
            </a:endParaRP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100 trees, unsupervised, no labels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Assigns anomaly score ∈ [0, 1] to each agent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Threshold: </a:t>
            </a:r>
            <a:r>
              <a:rPr lang="en-US" dirty="0">
                <a:effectLst/>
                <a:latin typeface="GT Walsheim Trial Rg" pitchFamily="2" charset="77"/>
              </a:rPr>
              <a:t>99th percentile → top 1% flagged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Result: </a:t>
            </a:r>
            <a:r>
              <a:rPr lang="en-US" dirty="0">
                <a:effectLst/>
                <a:latin typeface="GT Walsheim Trial Rg" pitchFamily="2" charset="77"/>
              </a:rPr>
              <a:t>46 anomalous agents out of 4,538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ED1794-7A9B-1693-FDA5-2205F28AED0A}"/>
              </a:ext>
            </a:extLst>
          </p:cNvPr>
          <p:cNvSpPr/>
          <p:nvPr/>
        </p:nvSpPr>
        <p:spPr>
          <a:xfrm>
            <a:off x="854439" y="4850626"/>
            <a:ext cx="10483123" cy="450883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B3A18B-1E6C-CA70-05A1-CB6DEEF0205D}"/>
              </a:ext>
            </a:extLst>
          </p:cNvPr>
          <p:cNvSpPr txBox="1"/>
          <p:nvPr/>
        </p:nvSpPr>
        <p:spPr>
          <a:xfrm>
            <a:off x="1066806" y="4891401"/>
            <a:ext cx="5569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Layer 2 — Statistical Validation (Fisher's Exact Test)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E500D8-7D23-EFBE-E974-8C8A094C2972}"/>
              </a:ext>
            </a:extLst>
          </p:cNvPr>
          <p:cNvSpPr/>
          <p:nvPr/>
        </p:nvSpPr>
        <p:spPr>
          <a:xfrm>
            <a:off x="6096000" y="2676298"/>
            <a:ext cx="5241562" cy="2166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89519C-D504-BA4F-29D1-F8A65AB56BCC}"/>
              </a:ext>
            </a:extLst>
          </p:cNvPr>
          <p:cNvSpPr txBox="1"/>
          <p:nvPr/>
        </p:nvSpPr>
        <p:spPr>
          <a:xfrm>
            <a:off x="6308367" y="302095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Input features: </a:t>
            </a:r>
            <a:r>
              <a:rPr lang="en-US" dirty="0">
                <a:effectLst/>
                <a:latin typeface="GT Walsheim Trial Rg" pitchFamily="2" charset="77"/>
              </a:rPr>
              <a:t>Speed, Acceleration, </a:t>
            </a:r>
            <a:r>
              <a:rPr lang="en-US" dirty="0" err="1">
                <a:effectLst/>
                <a:latin typeface="GT Walsheim Trial Rg" pitchFamily="2" charset="77"/>
              </a:rPr>
              <a:t>YawRate</a:t>
            </a:r>
            <a:endParaRPr lang="en-US" dirty="0">
              <a:effectLst/>
              <a:latin typeface="GT Walsheim Trial Rg" pitchFamily="2" charset="77"/>
            </a:endParaRP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100 trees, unsupervised, no labels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Assigns anomaly score ∈ [0, 1] to each agent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Threshold: </a:t>
            </a:r>
            <a:r>
              <a:rPr lang="en-US" dirty="0">
                <a:effectLst/>
                <a:latin typeface="GT Walsheim Trial Rg" pitchFamily="2" charset="77"/>
              </a:rPr>
              <a:t>99th percentile → top 1% flagged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Result: </a:t>
            </a:r>
            <a:r>
              <a:rPr lang="en-US" dirty="0">
                <a:effectLst/>
                <a:latin typeface="GT Walsheim Trial Rg" pitchFamily="2" charset="77"/>
              </a:rPr>
              <a:t>46 anomalous agents out of 4,538</a:t>
            </a:r>
          </a:p>
        </p:txBody>
      </p:sp>
    </p:spTree>
    <p:extLst>
      <p:ext uri="{BB962C8B-B14F-4D97-AF65-F5344CB8AC3E}">
        <p14:creationId xmlns:p14="http://schemas.microsoft.com/office/powerpoint/2010/main" val="2606525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714</Words>
  <Application>Microsoft Macintosh PowerPoint</Application>
  <PresentationFormat>Widescreen</PresentationFormat>
  <Paragraphs>163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GT Walsheim Trial Bd</vt:lpstr>
      <vt:lpstr>GT Walsheim Trial Lt</vt:lpstr>
      <vt:lpstr>GT Walsheim Trial Md</vt:lpstr>
      <vt:lpstr>GT Walsheim Trial Rg</vt:lpstr>
      <vt:lpstr>GT Walsheim Trial Th</vt:lpstr>
      <vt:lpstr>Office Theme</vt:lpstr>
      <vt:lpstr>Unsupervised Statistical Learning for Kinematic Anomaly Detection in Autonomous Driving Scenarios</vt:lpstr>
      <vt:lpstr>PROBLEM</vt:lpstr>
      <vt:lpstr>MOTIVATION</vt:lpstr>
      <vt:lpstr>RELATED WORK</vt:lpstr>
      <vt:lpstr>DATASET &amp; PIPLINE</vt:lpstr>
      <vt:lpstr>DATASET &amp; PIPLINE</vt:lpstr>
      <vt:lpstr>METHODS: ANOMALY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Stepanov, Pavel Aleksandrovich</dc:creator>
  <cp:lastModifiedBy>Stepanov, Pavel Aleksandrovich</cp:lastModifiedBy>
  <cp:revision>1</cp:revision>
  <dcterms:created xsi:type="dcterms:W3CDTF">2026-04-11T16:24:40Z</dcterms:created>
  <dcterms:modified xsi:type="dcterms:W3CDTF">2026-04-11T19:35:35Z</dcterms:modified>
</cp:coreProperties>
</file>