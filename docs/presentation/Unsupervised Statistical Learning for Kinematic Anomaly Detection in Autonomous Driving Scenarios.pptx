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8FF"/>
    <a:srgbClr val="00E9A0"/>
    <a:srgbClr val="23233B"/>
    <a:srgbClr val="949AA0"/>
    <a:srgbClr val="989D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1D200D-BFFE-DF45-BD3E-DC36CCF88744}" v="11" dt="2026-04-12T02:06:53.0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94"/>
    <p:restoredTop sz="45875"/>
  </p:normalViewPr>
  <p:slideViewPr>
    <p:cSldViewPr snapToGrid="0">
      <p:cViewPr>
        <p:scale>
          <a:sx n="400" d="100"/>
          <a:sy n="400" d="100"/>
        </p:scale>
        <p:origin x="-10600" y="-7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anov, Pavel Aleksandrovich" userId="b85f6bca-230c-483e-a25b-e13e873626fd" providerId="ADAL" clId="{AB235781-41D1-50B9-86EA-51A98A5F500A}"/>
    <pc:docChg chg="undo custSel modSld">
      <pc:chgData name="Stepanov, Pavel Aleksandrovich" userId="b85f6bca-230c-483e-a25b-e13e873626fd" providerId="ADAL" clId="{AB235781-41D1-50B9-86EA-51A98A5F500A}" dt="2026-04-12T02:08:41.912" v="84" actId="1076"/>
      <pc:docMkLst>
        <pc:docMk/>
      </pc:docMkLst>
      <pc:sldChg chg="modNotesTx">
        <pc:chgData name="Stepanov, Pavel Aleksandrovich" userId="b85f6bca-230c-483e-a25b-e13e873626fd" providerId="ADAL" clId="{AB235781-41D1-50B9-86EA-51A98A5F500A}" dt="2026-04-12T01:59:05.502" v="20" actId="113"/>
        <pc:sldMkLst>
          <pc:docMk/>
          <pc:sldMk cId="3542837740" sldId="256"/>
        </pc:sldMkLst>
      </pc:sldChg>
      <pc:sldChg chg="modNotesTx">
        <pc:chgData name="Stepanov, Pavel Aleksandrovich" userId="b85f6bca-230c-483e-a25b-e13e873626fd" providerId="ADAL" clId="{AB235781-41D1-50B9-86EA-51A98A5F500A}" dt="2026-04-12T02:03:13.322" v="59" actId="20577"/>
        <pc:sldMkLst>
          <pc:docMk/>
          <pc:sldMk cId="2587833539" sldId="258"/>
        </pc:sldMkLst>
      </pc:sldChg>
      <pc:sldChg chg="delSp modSp modNotesTx">
        <pc:chgData name="Stepanov, Pavel Aleksandrovich" userId="b85f6bca-230c-483e-a25b-e13e873626fd" providerId="ADAL" clId="{AB235781-41D1-50B9-86EA-51A98A5F500A}" dt="2026-04-12T02:01:11.925" v="36" actId="478"/>
        <pc:sldMkLst>
          <pc:docMk/>
          <pc:sldMk cId="37105992" sldId="259"/>
        </pc:sldMkLst>
        <pc:picChg chg="del mod">
          <ac:chgData name="Stepanov, Pavel Aleksandrovich" userId="b85f6bca-230c-483e-a25b-e13e873626fd" providerId="ADAL" clId="{AB235781-41D1-50B9-86EA-51A98A5F500A}" dt="2026-04-12T02:01:11.925" v="36" actId="478"/>
          <ac:picMkLst>
            <pc:docMk/>
            <pc:sldMk cId="37105992" sldId="259"/>
            <ac:picMk id="4100" creationId="{7FAF0D29-B8CB-2891-F142-D19360BDDA2E}"/>
          </ac:picMkLst>
        </pc:picChg>
      </pc:sldChg>
      <pc:sldChg chg="modNotesTx">
        <pc:chgData name="Stepanov, Pavel Aleksandrovich" userId="b85f6bca-230c-483e-a25b-e13e873626fd" providerId="ADAL" clId="{AB235781-41D1-50B9-86EA-51A98A5F500A}" dt="2026-04-12T02:04:00.518" v="62" actId="20577"/>
        <pc:sldMkLst>
          <pc:docMk/>
          <pc:sldMk cId="34899088" sldId="260"/>
        </pc:sldMkLst>
      </pc:sldChg>
      <pc:sldChg chg="modSp mod modNotesTx">
        <pc:chgData name="Stepanov, Pavel Aleksandrovich" userId="b85f6bca-230c-483e-a25b-e13e873626fd" providerId="ADAL" clId="{AB235781-41D1-50B9-86EA-51A98A5F500A}" dt="2026-04-12T02:08:41.912" v="84" actId="1076"/>
        <pc:sldMkLst>
          <pc:docMk/>
          <pc:sldMk cId="1027313753" sldId="262"/>
        </pc:sldMkLst>
        <pc:spChg chg="mod">
          <ac:chgData name="Stepanov, Pavel Aleksandrovich" userId="b85f6bca-230c-483e-a25b-e13e873626fd" providerId="ADAL" clId="{AB235781-41D1-50B9-86EA-51A98A5F500A}" dt="2026-04-12T02:08:37.478" v="83" actId="1076"/>
          <ac:spMkLst>
            <pc:docMk/>
            <pc:sldMk cId="1027313753" sldId="262"/>
            <ac:spMk id="16" creationId="{F7FF29CB-B9A0-D774-8556-025972A6411F}"/>
          </ac:spMkLst>
        </pc:spChg>
        <pc:spChg chg="mod">
          <ac:chgData name="Stepanov, Pavel Aleksandrovich" userId="b85f6bca-230c-483e-a25b-e13e873626fd" providerId="ADAL" clId="{AB235781-41D1-50B9-86EA-51A98A5F500A}" dt="2026-04-12T02:08:41.912" v="84" actId="1076"/>
          <ac:spMkLst>
            <pc:docMk/>
            <pc:sldMk cId="1027313753" sldId="262"/>
            <ac:spMk id="25" creationId="{D08567BA-74CD-E9BD-D382-9328F41BC61C}"/>
          </ac:spMkLst>
        </pc:spChg>
      </pc:sldChg>
      <pc:sldChg chg="modNotesTx">
        <pc:chgData name="Stepanov, Pavel Aleksandrovich" userId="b85f6bca-230c-483e-a25b-e13e873626fd" providerId="ADAL" clId="{AB235781-41D1-50B9-86EA-51A98A5F500A}" dt="2026-04-12T02:02:03.614" v="58" actId="20577"/>
        <pc:sldMkLst>
          <pc:docMk/>
          <pc:sldMk cId="2414567693" sldId="263"/>
        </pc:sldMkLst>
      </pc:sldChg>
      <pc:sldChg chg="addSp delSp mod modNotesTx">
        <pc:chgData name="Stepanov, Pavel Aleksandrovich" userId="b85f6bca-230c-483e-a25b-e13e873626fd" providerId="ADAL" clId="{AB235781-41D1-50B9-86EA-51A98A5F500A}" dt="2026-04-12T02:06:19.498" v="78" actId="478"/>
        <pc:sldMkLst>
          <pc:docMk/>
          <pc:sldMk cId="1500307707" sldId="265"/>
        </pc:sldMkLst>
        <pc:spChg chg="del">
          <ac:chgData name="Stepanov, Pavel Aleksandrovich" userId="b85f6bca-230c-483e-a25b-e13e873626fd" providerId="ADAL" clId="{AB235781-41D1-50B9-86EA-51A98A5F500A}" dt="2026-04-12T02:06:12.872" v="73" actId="478"/>
          <ac:spMkLst>
            <pc:docMk/>
            <pc:sldMk cId="1500307707" sldId="265"/>
            <ac:spMk id="2" creationId="{0B9D7CE2-EDB4-0C20-1703-57DEEF7B7374}"/>
          </ac:spMkLst>
        </pc:spChg>
        <pc:spChg chg="del">
          <ac:chgData name="Stepanov, Pavel Aleksandrovich" userId="b85f6bca-230c-483e-a25b-e13e873626fd" providerId="ADAL" clId="{AB235781-41D1-50B9-86EA-51A98A5F500A}" dt="2026-04-12T02:06:12.872" v="73" actId="478"/>
          <ac:spMkLst>
            <pc:docMk/>
            <pc:sldMk cId="1500307707" sldId="265"/>
            <ac:spMk id="17" creationId="{5AEE1D80-5EE9-B820-4D27-E24EE9D1A594}"/>
          </ac:spMkLst>
        </pc:spChg>
        <pc:spChg chg="del">
          <ac:chgData name="Stepanov, Pavel Aleksandrovich" userId="b85f6bca-230c-483e-a25b-e13e873626fd" providerId="ADAL" clId="{AB235781-41D1-50B9-86EA-51A98A5F500A}" dt="2026-04-12T02:06:14.401" v="74" actId="478"/>
          <ac:spMkLst>
            <pc:docMk/>
            <pc:sldMk cId="1500307707" sldId="265"/>
            <ac:spMk id="18" creationId="{8AE5BAC6-B4B9-F8D0-FF58-98313CDA2C2D}"/>
          </ac:spMkLst>
        </pc:spChg>
        <pc:spChg chg="add del">
          <ac:chgData name="Stepanov, Pavel Aleksandrovich" userId="b85f6bca-230c-483e-a25b-e13e873626fd" providerId="ADAL" clId="{AB235781-41D1-50B9-86EA-51A98A5F500A}" dt="2026-04-12T02:06:19.498" v="78" actId="478"/>
          <ac:spMkLst>
            <pc:docMk/>
            <pc:sldMk cId="1500307707" sldId="265"/>
            <ac:spMk id="24" creationId="{6E917537-92A5-6E9F-7D52-B229CEB05CFC}"/>
          </ac:spMkLst>
        </pc:spChg>
      </pc:sldChg>
      <pc:sldChg chg="modNotesTx">
        <pc:chgData name="Stepanov, Pavel Aleksandrovich" userId="b85f6bca-230c-483e-a25b-e13e873626fd" providerId="ADAL" clId="{AB235781-41D1-50B9-86EA-51A98A5F500A}" dt="2026-04-12T02:04:56.889" v="67" actId="20577"/>
        <pc:sldMkLst>
          <pc:docMk/>
          <pc:sldMk cId="3511431320" sldId="266"/>
        </pc:sldMkLst>
      </pc:sldChg>
      <pc:sldChg chg="modNotesTx">
        <pc:chgData name="Stepanov, Pavel Aleksandrovich" userId="b85f6bca-230c-483e-a25b-e13e873626fd" providerId="ADAL" clId="{AB235781-41D1-50B9-86EA-51A98A5F500A}" dt="2026-04-12T02:04:59.076" v="68" actId="20577"/>
        <pc:sldMkLst>
          <pc:docMk/>
          <pc:sldMk cId="3688322972" sldId="267"/>
        </pc:sldMkLst>
      </pc:sldChg>
      <pc:sldChg chg="modNotesTx">
        <pc:chgData name="Stepanov, Pavel Aleksandrovich" userId="b85f6bca-230c-483e-a25b-e13e873626fd" providerId="ADAL" clId="{AB235781-41D1-50B9-86EA-51A98A5F500A}" dt="2026-04-12T02:05:01.581" v="69" actId="20577"/>
        <pc:sldMkLst>
          <pc:docMk/>
          <pc:sldMk cId="3183023199" sldId="268"/>
        </pc:sldMkLst>
      </pc:sldChg>
      <pc:sldChg chg="delSp modSp mod modNotesTx">
        <pc:chgData name="Stepanov, Pavel Aleksandrovich" userId="b85f6bca-230c-483e-a25b-e13e873626fd" providerId="ADAL" clId="{AB235781-41D1-50B9-86EA-51A98A5F500A}" dt="2026-04-12T02:06:55.624" v="81" actId="478"/>
        <pc:sldMkLst>
          <pc:docMk/>
          <pc:sldMk cId="1235929803" sldId="269"/>
        </pc:sldMkLst>
        <pc:spChg chg="del mod">
          <ac:chgData name="Stepanov, Pavel Aleksandrovich" userId="b85f6bca-230c-483e-a25b-e13e873626fd" providerId="ADAL" clId="{AB235781-41D1-50B9-86EA-51A98A5F500A}" dt="2026-04-12T02:06:55.624" v="81" actId="478"/>
          <ac:spMkLst>
            <pc:docMk/>
            <pc:sldMk cId="1235929803" sldId="269"/>
            <ac:spMk id="19" creationId="{C8D94913-3C0E-79B6-9244-D3B6AC9DBDD3}"/>
          </ac:spMkLst>
        </pc:spChg>
        <pc:picChg chg="del">
          <ac:chgData name="Stepanov, Pavel Aleksandrovich" userId="b85f6bca-230c-483e-a25b-e13e873626fd" providerId="ADAL" clId="{AB235781-41D1-50B9-86EA-51A98A5F500A}" dt="2026-04-12T02:06:53.029" v="79" actId="478"/>
          <ac:picMkLst>
            <pc:docMk/>
            <pc:sldMk cId="1235929803" sldId="269"/>
            <ac:picMk id="2" creationId="{23543C09-6819-938B-CCFA-67610A7EBC7B}"/>
          </ac:picMkLst>
        </pc:picChg>
      </pc:sldChg>
      <pc:sldChg chg="modNotesTx">
        <pc:chgData name="Stepanov, Pavel Aleksandrovich" userId="b85f6bca-230c-483e-a25b-e13e873626fd" providerId="ADAL" clId="{AB235781-41D1-50B9-86EA-51A98A5F500A}" dt="2026-04-12T02:05:06.584" v="71" actId="20577"/>
        <pc:sldMkLst>
          <pc:docMk/>
          <pc:sldMk cId="133968869" sldId="270"/>
        </pc:sldMkLst>
      </pc:sldChg>
      <pc:sldChg chg="modNotesTx">
        <pc:chgData name="Stepanov, Pavel Aleksandrovich" userId="b85f6bca-230c-483e-a25b-e13e873626fd" providerId="ADAL" clId="{AB235781-41D1-50B9-86EA-51A98A5F500A}" dt="2026-04-12T02:05:09.407" v="72" actId="20577"/>
        <pc:sldMkLst>
          <pc:docMk/>
          <pc:sldMk cId="480666757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8E3E3-B2E7-C649-9FF9-E9813C9F5CC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43537-14D9-9349-AA70-B1088F1298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5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PAVEL:</a:t>
            </a:r>
          </a:p>
          <a:p>
            <a:endParaRPr lang="en-U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[morning/afternoon], everyone. My name is Pavel Stepanov, and I'm here with my teammates Ramses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Loaces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Justin Cabrera. Today we're presenting our research on unsupervised kinematic anomaly detection in autonomous driving.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 the core question that drives our work: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does an autonomous vehicle recognize that something unusual is happening on the road — without anyone ever labeling what "unusual" looks like?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That's the problem we tackle. Let's get into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3266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PAVEL: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Autonomous vehicles are getting very good at handling the everyday: steady highway cruising, predictable lane-following, routine intersections. But safety-critical incidents live in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long tail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driving distributions — sudden braking, aggressive lane changes, a pedestrian running into the street.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challenge is that these events are rare by definition, so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labeled examples are scarce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can't train a supervised classifier without labels. And the definition of "dangerous" is subjective — a 30 km/h speed is fine on a highway, alarming in a crosswalk.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exactly where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unsupervised learning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shines: we don't need labels. We let the data tell us what's normal, and then flag what falls outside that.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759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PAVEL: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had two concrete goals: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anomalous motion patterns from kinematic signals alone — no human annotation.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 where an agent will be in 5 seconds using only its current kinematic state.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 are essential for an AV that needs to proactively plan around unexpected behavior.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2935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33BA6-799C-731E-A259-2AB9FEB7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192FD-D26D-BA07-FC46-C4C0D3526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326B3-1493-C9B5-85AE-AF2D9FB430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RAMSES:</a:t>
            </a:r>
            <a:br>
              <a:rPr lang="en-US" dirty="0"/>
            </a:b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 me quickly place this work in the literature — and get into some of the technical mechanics.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Classical Kalman Filters model motion as a linear dynamical system — fast and interpretable, but they break down under nonlinear behavior. LSTMs and Transformer-based architectures handle sequences well and achieve state-of-the-art prediction accuracy, but they require large labeled datasets and produce black-box outputs.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anomaly detection side, two methods dominate: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One-Class SVM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Isolation Forest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OC-SVM maps data into a high-dimensional kernel space and finds the tightest boundary around the normal class — but it's sensitive to the choice of kernel and the nu hyperparameter, which controls the fraction of training points treated as outliers.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Isolation Forest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works differently. It partitions the feature space by randomly selecting a feature and a split value at each node. The key insight is that anomalous points — being rare and extreme — require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splits to isolate. The anomaly score is derived from the average path length across all trees, normalized by the expected path length for a random point: s(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2^(−E(h(x)) / c(n)). Scores near 1 signal anomalies; near 0.5 is indistinguishable from normal.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 work on the Waymo Open Motion Dataset has focused almost entirely on deep learning prediction pipelines.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Classical statistical baselines applied to the full agent population have been largely ignored.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That's the gap we fill.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E157B-A1DC-1D23-F336-5D207EB55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952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2D3C5-3FEB-3A4F-47FB-AE6278508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52FA19-FDDE-6941-34C7-7A5313F9F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1B0FE-524B-62AB-F469-BCFF9F39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PAVEL: 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work with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Waymo Open Motion Dataset v1.3.1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one of the largest real-world AV datasets available publicly. It provides 20 Hz object tracks over 20-second urban driving segments, with rich metadata: agent type (vehicle, pedestrian, cyclist), bounding boxes, interaction flags, and traffic signals.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pipeline has two stages. First, Python running in Google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pulls raw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TFRecord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shards from Waymo's Google Cloud Storage bucket and extracts a tabular feature set for over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18,000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across hundreds of scenarios. We extract the kinematic state at the prediction moment: speed, acceleration, yaw rate, velocity components, and the future 5-second displacement.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CSV then flows into R, where all statistical modeling happens.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B9A26-5242-35EF-0A62-D2FFEE710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760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9AC3-393A-5A2D-1973-BF3DCE1F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20D3D-0E43-090B-FAE3-D108BC034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87135-0BCC-C812-6A52-B3B04D585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PAVEL: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two analyses use different preprocessing. For anomaly detection, we apply the strictest filter: valid sensor frames only, stationary agents removed, and complete cases across all kinematic and geometric features — leaving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4,538 moving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For regression, the goal is different — we actually want to compare behavior with and without stationary agents — so we start from a more permissive filter: NA removal only, no speed cutoff. That gives us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6,614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including stationary ones, which we then split into two conditions for the comparison.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7D6A2-A29A-65B1-E032-EB76B41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31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667FE-FC07-046B-D411-11854A12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52853-3AB6-9C9D-16AF-B6706B83B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2628F-3F1B-9BED-6991-834FD35D8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GT Walsheim Trial Th" pitchFamily="2" charset="77"/>
              </a:rPr>
              <a:t>Most driving is routine: lane-following, steady speeds, predictable stops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Safety-critical events live in the long tail — rare but dangerous: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	Sudden braking / aggressive acceleration</a:t>
            </a:r>
          </a:p>
          <a:p>
            <a:r>
              <a:rPr lang="en-US" sz="1200" dirty="0">
                <a:latin typeface="GT Walsheim Trial Th" pitchFamily="2" charset="77"/>
              </a:rPr>
              <a:t>	Pedestrians jaywalking</a:t>
            </a:r>
          </a:p>
          <a:p>
            <a:r>
              <a:rPr lang="en-US" sz="1200" dirty="0">
                <a:latin typeface="GT Walsheim Trial Th" pitchFamily="2" charset="77"/>
              </a:rPr>
              <a:t>	Near-miss interactions</a:t>
            </a:r>
          </a:p>
          <a:p>
            <a:endParaRPr lang="en-US" sz="1200" dirty="0">
              <a:latin typeface="GT Walsheim Trial Th" pitchFamily="2" charset="77"/>
            </a:endParaRPr>
          </a:p>
          <a:p>
            <a:r>
              <a:rPr lang="en-US" sz="1200" dirty="0">
                <a:latin typeface="GT Walsheim Trial Th" pitchFamily="2" charset="77"/>
              </a:rPr>
              <a:t>Labeled anomaly data is scarce by definition</a:t>
            </a:r>
          </a:p>
          <a:p>
            <a:r>
              <a:rPr lang="en-US" sz="1200" dirty="0">
                <a:latin typeface="GT Walsheim Trial Th" pitchFamily="2" charset="77"/>
              </a:rPr>
              <a:t>"Dangerous" is context-dependent — no universal ground truth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B9044-01F3-7D9D-2FBA-CE7EF15B9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229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29456-C286-4321-7859-378BCA9E0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96865-A89D-917A-A07B-28DF55B8A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237BE1-4981-EB9C-876B-086A2D65D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F3F42-363B-0EC8-0F83-79FA96794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523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6F447-6712-10CC-B836-ECC08ADB1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B7EA59-FF18-6101-C3B9-A9E808FEE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2F3CF9-8F06-1FBD-581A-29A668F3B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F3720-730E-9476-95AA-C80029691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6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DAAD-CB10-64D3-DAA8-47B82DCA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02A42-AAF8-D249-52E3-776BE3545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BA5FD-4FBA-E6D4-070D-0E8EAC478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C7428-4764-44FF-34A8-89B31D28AA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3675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0974E-7575-A76B-8A9B-8D5F9228F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82245-A6C3-FFCE-6DE5-F2A8BEFA5F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3F5C7-CDE7-D571-7B51-2A786C355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4370-24B7-A7F4-9539-CBBB55DED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934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07FC6-B445-F0AB-4976-5ACB26E6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ADE358-5E58-B511-0F9E-30A67414C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39F3E-A388-74E6-431B-3E3B0C054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55AEE-73AB-1783-0D2F-7103A84141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582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6FE7B-6849-61F2-7989-1C9996269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DC3D6F-CDC3-0D7D-3B9A-57570428C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073AC-BACC-955B-B633-1C324E325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E5603-34A3-CE6F-9867-E919FEB19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0176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1FF43-9781-F26A-41BC-8EFD5E3E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0D2121-4831-F4DE-0C29-F4CE4B867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4BDD2-F0CB-D890-0723-D43703CBD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03D53-DC03-F09A-2704-89A27E1D6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43537-14D9-9349-AA70-B1088F1298F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718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B09E-98BE-7237-C650-7BE9BCD05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F2457-9A8C-0808-8110-DB4132630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DEB88-4FE5-53CA-AB95-9B7ED10A9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A79C0-058D-335E-A5A5-5C343EE9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B0DDF-125C-3970-79A8-C6A669FEF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192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7BF45-2E6F-C2DF-9128-C27CA30E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02D9E-CD98-F7A6-ED64-30885FA32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52E18-41DF-19F4-9252-3780B4CD3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F6EE9-E0FB-2808-D45C-212044622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C7A7F-E089-0782-6DDE-FFFD3B09A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10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B125-D530-E4B1-0688-D66E7A7CC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2A777-E0DE-9ED8-68EF-FEEC4C3B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070D-761E-832D-EEC5-0BF9D8A62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7405-6ED6-51D1-965D-2623B7843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1B47E-2EB4-A5F3-2FD9-E5F1B645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1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37CE-C52D-7189-3138-40D632BE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01763-E8C8-388F-4659-524F1AD00C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F69A1-1785-A1B6-E1E8-3453B79CA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63FDC1-3F23-C17E-11BE-E9BC30D8C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D6F4B-71EB-181A-7B6B-B5CEA4580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4C3908-390B-4BF6-8359-B17D87C5A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1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E613C-22A0-79D8-D553-2D54A52FE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F0AC1-51AC-DD5E-B50B-2C65436E2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947A8A-35CB-C35A-7E6B-7E66939D7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CE17D2-2437-C7FD-1803-2498AA8AD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66E2D-A112-D4C3-A781-FFF6EEFD8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B1140-BFAB-C1A5-B099-18743E79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276090-2264-A5FE-AE77-5F59DEDEF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2F99E3-604C-1D76-8033-9CEDAB3BC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42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12E60-F590-795F-1168-3B1FB410A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F5456-4850-C9B9-DC5F-6B1936CF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3DEBF-A9B1-D59D-2A8B-FF034A1E5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623AA-98CA-CAE0-41C7-81E575C23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611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F820E3-CC12-EED2-9421-5E4C020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9FFDB-F7F3-5DA2-302B-050722A0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D29D5-C29E-0C53-0A99-139D69E7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45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501C6-2D22-BFC1-57FE-0C88D45ED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5AD63-5ABA-67BC-0A86-38F80ADB0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A2D2E-A338-6B53-4810-6EF71305C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51706-F9DF-05DF-96A6-263E46A14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654930-40E2-750F-9E75-F718AD318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9A3365-A431-49C1-4069-58DF83110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8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B8059-372B-9B3F-4105-38D6B0567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CC57F3-50E5-B02C-C8A7-703D506FC1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B873D6-10BC-BB43-4B44-5424E47456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57F46-F4FC-35FD-926A-E552B6BC4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0CD297-2588-B98F-E475-88EA6EA03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9DA1A-FA31-6E69-E8AB-709FB655F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04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4D8EC-7786-324E-9937-DF54BCE46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A0893F-76C4-706A-A8FA-B733F767CF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9E589-AE50-573A-B591-5440221C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75C38-029D-9581-E38E-E663571A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CE0E3-2609-5529-BC93-A984EFC4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463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73427B-72AF-196D-50D7-0279CB5463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33588F-FAFD-C13D-67D3-C0D097DC07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A7BB7-F185-76E0-E133-4EE996B3C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100E5-49E4-F35C-FFA5-BCBC1E79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F1006-33FB-D1AC-BB7C-A6678FA4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044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D7ECD3-DC2D-D39F-FF8B-0464977E1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B8CD4-CC87-00BA-13A6-A3BF527C2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05476-213C-8634-0139-0AE90A0E15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9423D-11F4-C548-8D9D-A6AEB1163E9F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AAEFFD-86F4-32F4-309E-3FA2A72608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2DB6D-1EC7-6978-82B1-A3821A831E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F5007F-7F64-6744-BF78-D45325ECE5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298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20AAD04C-E248-922E-F9B5-608FFDF7029F}"/>
              </a:ext>
            </a:extLst>
          </p:cNvPr>
          <p:cNvSpPr/>
          <p:nvPr/>
        </p:nvSpPr>
        <p:spPr>
          <a:xfrm rot="7324454">
            <a:off x="-2480422" y="1243536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AEE4AA-D2CA-CB0C-01DE-666FE3459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852" y="1599521"/>
            <a:ext cx="8154390" cy="2548246"/>
          </a:xfrm>
        </p:spPr>
        <p:txBody>
          <a:bodyPr>
            <a:noAutofit/>
          </a:bodyPr>
          <a:lstStyle/>
          <a:p>
            <a:pPr algn="l"/>
            <a:r>
              <a:rPr lang="en-US" sz="4500" b="1" dirty="0">
                <a:latin typeface="GT Walsheim Trial Rg" pitchFamily="2" charset="77"/>
              </a:rPr>
              <a:t>Unsupervised Statistical Learning </a:t>
            </a:r>
            <a:r>
              <a:rPr lang="en-US" sz="4500" dirty="0">
                <a:latin typeface="GT Walsheim Trial Rg" pitchFamily="2" charset="77"/>
              </a:rPr>
              <a:t>for Kinematic Anomaly Detection in Autonomous Driving Scenarios</a:t>
            </a:r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E05DD438-99CC-9720-EA36-5A943352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AEB3031-73B3-1280-82F5-25B36391EA35}"/>
              </a:ext>
            </a:extLst>
          </p:cNvPr>
          <p:cNvSpPr txBox="1">
            <a:spLocks/>
          </p:cNvSpPr>
          <p:nvPr/>
        </p:nvSpPr>
        <p:spPr>
          <a:xfrm>
            <a:off x="785750" y="4837123"/>
            <a:ext cx="7716982" cy="140704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dirty="0">
                <a:latin typeface="GT Walsheim Trial Lt" pitchFamily="2" charset="77"/>
              </a:rPr>
              <a:t>Pavel Stepanov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Ramses </a:t>
            </a:r>
            <a:r>
              <a:rPr lang="en-US" sz="1500" dirty="0" err="1">
                <a:latin typeface="GT Walsheim Trial Lt" pitchFamily="2" charset="77"/>
              </a:rPr>
              <a:t>Loaces</a:t>
            </a:r>
            <a:endParaRPr lang="en-US" sz="1500" dirty="0">
              <a:latin typeface="GT Walsheim Trial Lt" pitchFamily="2" charset="77"/>
            </a:endParaRPr>
          </a:p>
          <a:p>
            <a:pPr algn="l"/>
            <a:r>
              <a:rPr lang="en-US" sz="1500" dirty="0">
                <a:latin typeface="GT Walsheim Trial Lt" pitchFamily="2" charset="77"/>
              </a:rPr>
              <a:t>Justin Cabrera</a:t>
            </a:r>
          </a:p>
          <a:p>
            <a:pPr algn="l"/>
            <a:endParaRPr lang="en-US" sz="1500" dirty="0">
              <a:latin typeface="GT Walsheim Trial Lt" pitchFamily="2" charset="77"/>
            </a:endParaRPr>
          </a:p>
          <a:p>
            <a:pPr algn="l"/>
            <a:r>
              <a:rPr lang="en-US" sz="1500" b="1" dirty="0">
                <a:latin typeface="GT Walsheim Trial Lt" pitchFamily="2" charset="77"/>
              </a:rPr>
              <a:t>Department of Computer Science University of Miami 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CSC 642 · Spring 2026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2DA9D78-DF8C-0660-96D9-51D808F0ED00}"/>
              </a:ext>
            </a:extLst>
          </p:cNvPr>
          <p:cNvSpPr txBox="1">
            <a:spLocks/>
          </p:cNvSpPr>
          <p:nvPr/>
        </p:nvSpPr>
        <p:spPr>
          <a:xfrm>
            <a:off x="716478" y="447821"/>
            <a:ext cx="2406732" cy="36933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INTRO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7B8B92-ED80-FBD4-B3FE-B0A9FED4E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717" y="2134183"/>
            <a:ext cx="5047322" cy="5591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837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EB97-5D45-A841-4EFF-CDAAC0B9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6B73BB8B-7F6B-CD32-507F-968351976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5E77092-C168-5E0F-86BD-4C92F2357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PROBLEM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4C636A6-82AD-B33D-61A0-3A8D8F6B1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436" y="4880918"/>
            <a:ext cx="3721564" cy="1977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9A3918D-B312-8466-1504-C777366DF7C8}"/>
              </a:ext>
            </a:extLst>
          </p:cNvPr>
          <p:cNvSpPr txBox="1"/>
          <p:nvPr/>
        </p:nvSpPr>
        <p:spPr>
          <a:xfrm>
            <a:off x="716478" y="952090"/>
            <a:ext cx="609797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The Long-Tail Problem in Autonomous Driving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8A964F-48F4-B4E1-E1B0-BD8449744408}"/>
              </a:ext>
            </a:extLst>
          </p:cNvPr>
          <p:cNvSpPr txBox="1"/>
          <p:nvPr/>
        </p:nvSpPr>
        <p:spPr>
          <a:xfrm>
            <a:off x="868878" y="2567473"/>
            <a:ext cx="619638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GT Walsheim Trial Th" pitchFamily="2" charset="77"/>
              </a:rPr>
              <a:t>Most driving is routine and predictable.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Safety-critical events are rare but risky: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* Sudden braking or acceleration</a:t>
            </a:r>
          </a:p>
          <a:p>
            <a:r>
              <a:rPr lang="en-US" sz="2000" dirty="0">
                <a:latin typeface="GT Walsheim Trial Th" pitchFamily="2" charset="77"/>
              </a:rPr>
              <a:t>* Jaywalking pedestrians</a:t>
            </a:r>
          </a:p>
          <a:p>
            <a:r>
              <a:rPr lang="en-US" sz="2000" dirty="0">
                <a:latin typeface="GT Walsheim Trial Th" pitchFamily="2" charset="77"/>
              </a:rPr>
              <a:t>* Near-misses</a:t>
            </a:r>
          </a:p>
          <a:p>
            <a:endParaRPr lang="en-US" sz="2000" dirty="0">
              <a:latin typeface="GT Walsheim Trial Th" pitchFamily="2" charset="77"/>
            </a:endParaRPr>
          </a:p>
          <a:p>
            <a:r>
              <a:rPr lang="en-US" sz="2000" dirty="0">
                <a:latin typeface="GT Walsheim Trial Th" pitchFamily="2" charset="77"/>
              </a:rPr>
              <a:t>Anomaly data is scarce, and “danger” depends on context.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FFF5F632-AB2B-5851-4C9F-220142F83551}"/>
              </a:ext>
            </a:extLst>
          </p:cNvPr>
          <p:cNvSpPr/>
          <p:nvPr/>
        </p:nvSpPr>
        <p:spPr>
          <a:xfrm rot="19378475">
            <a:off x="-4581419" y="96435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33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35626-9967-90C4-BA6C-EEE07BEC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2D7D061C-6FCC-F08D-4061-3B26691D1FFF}"/>
              </a:ext>
            </a:extLst>
          </p:cNvPr>
          <p:cNvSpPr/>
          <p:nvPr/>
        </p:nvSpPr>
        <p:spPr>
          <a:xfrm>
            <a:off x="-2930419" y="731435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bg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B538EF2-B772-6D93-57AA-3A176BBD0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568666"/>
              </p:ext>
            </p:extLst>
          </p:nvPr>
        </p:nvGraphicFramePr>
        <p:xfrm>
          <a:off x="786384" y="3382466"/>
          <a:ext cx="10806444" cy="234853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550583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5255861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</a:tblGrid>
              <a:tr h="650040">
                <a:tc>
                  <a:txBody>
                    <a:bodyPr/>
                    <a:lstStyle/>
                    <a:p>
                      <a:r>
                        <a:rPr lang="en-US" sz="2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Goal 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Goal 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1698494">
                <a:tc>
                  <a:txBody>
                    <a:bodyPr/>
                    <a:lstStyle/>
                    <a:p>
                      <a:r>
                        <a:rPr lang="en-US" sz="2500" b="0" dirty="0">
                          <a:solidFill>
                            <a:schemeClr val="bg1"/>
                          </a:solidFill>
                        </a:rPr>
                        <a:t>Detect anomalous agents from kinematics alone — no labels</a:t>
                      </a:r>
                      <a:endParaRPr lang="en-US" sz="2500" b="0" i="0" dirty="0">
                        <a:solidFill>
                          <a:schemeClr val="bg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dirty="0">
                          <a:solidFill>
                            <a:schemeClr val="bg1"/>
                          </a:solidFill>
                        </a:rPr>
                        <a:t>Predict 5-second future displacement from current kinematic state</a:t>
                      </a:r>
                      <a:endParaRPr lang="en-US" sz="2500" b="0" i="0" dirty="0">
                        <a:solidFill>
                          <a:schemeClr val="bg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</a:tbl>
          </a:graphicData>
        </a:graphic>
      </p:graphicFrame>
      <p:pic>
        <p:nvPicPr>
          <p:cNvPr id="4102" name="Picture 6" descr="Our Trademarks">
            <a:extLst>
              <a:ext uri="{FF2B5EF4-FFF2-40B4-BE49-F238E27FC236}">
                <a16:creationId xmlns:a16="http://schemas.microsoft.com/office/drawing/2014/main" id="{4C86D87E-65A4-3B6A-7810-E59734111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A8E7D96-496D-CBB3-6118-7D000C06B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>
                    <a:lumMod val="50000"/>
                  </a:schemeClr>
                </a:solidFill>
                <a:latin typeface="GT Walsheim Trial Rg" pitchFamily="2" charset="77"/>
              </a:rPr>
              <a:t>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6777D-25C7-5B43-733F-E04B67AF23CB}"/>
              </a:ext>
            </a:extLst>
          </p:cNvPr>
          <p:cNvSpPr txBox="1"/>
          <p:nvPr/>
        </p:nvSpPr>
        <p:spPr>
          <a:xfrm>
            <a:off x="716477" y="2268582"/>
            <a:ext cx="64194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GT Walsheim Trial Lt" pitchFamily="2" charset="77"/>
              </a:rPr>
              <a:t>Unsupervised learning lets the data define normal — and flags what falls outside.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54336C-71C6-F898-E339-0C59351E3331}"/>
              </a:ext>
            </a:extLst>
          </p:cNvPr>
          <p:cNvGrpSpPr/>
          <p:nvPr/>
        </p:nvGrpSpPr>
        <p:grpSpPr>
          <a:xfrm>
            <a:off x="786383" y="5561837"/>
            <a:ext cx="10806445" cy="848342"/>
            <a:chOff x="-6677360" y="5718464"/>
            <a:chExt cx="10876352" cy="84834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51C987-572B-CC5E-A99A-C9F2E5407627}"/>
                </a:ext>
              </a:extLst>
            </p:cNvPr>
            <p:cNvSpPr/>
            <p:nvPr/>
          </p:nvSpPr>
          <p:spPr>
            <a:xfrm>
              <a:off x="-583868" y="6039291"/>
              <a:ext cx="4782860" cy="448593"/>
            </a:xfrm>
            <a:prstGeom prst="rect">
              <a:avLst/>
            </a:prstGeom>
            <a:solidFill>
              <a:srgbClr val="02E8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8BBA2C4-5ED3-5B90-FB16-91F9F60914F2}"/>
                </a:ext>
              </a:extLst>
            </p:cNvPr>
            <p:cNvSpPr/>
            <p:nvPr/>
          </p:nvSpPr>
          <p:spPr>
            <a:xfrm>
              <a:off x="-6677360" y="6039291"/>
              <a:ext cx="5546317" cy="448593"/>
            </a:xfrm>
            <a:prstGeom prst="rect">
              <a:avLst/>
            </a:prstGeom>
            <a:solidFill>
              <a:srgbClr val="0078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B2C8A67-6173-BDFC-CC77-AC0873EC9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678214" y="5718464"/>
              <a:ext cx="1391461" cy="848342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30F2CB9-37A7-B97A-9790-30EA278CDFC2}"/>
              </a:ext>
            </a:extLst>
          </p:cNvPr>
          <p:cNvSpPr txBox="1"/>
          <p:nvPr/>
        </p:nvSpPr>
        <p:spPr>
          <a:xfrm>
            <a:off x="12034157" y="36249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4598DF-A7B7-722C-E6DE-E958717DAE2C}"/>
              </a:ext>
            </a:extLst>
          </p:cNvPr>
          <p:cNvSpPr txBox="1"/>
          <p:nvPr/>
        </p:nvSpPr>
        <p:spPr>
          <a:xfrm>
            <a:off x="716478" y="952090"/>
            <a:ext cx="609797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The Long-Tail Problem in Autonomous Driving</a:t>
            </a:r>
          </a:p>
        </p:txBody>
      </p:sp>
    </p:spTree>
    <p:extLst>
      <p:ext uri="{BB962C8B-B14F-4D97-AF65-F5344CB8AC3E}">
        <p14:creationId xmlns:p14="http://schemas.microsoft.com/office/powerpoint/2010/main" val="37105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9216D-B759-7121-1A50-BB44BAEF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568FC75A-02FA-BB25-0851-770322A46375}"/>
              </a:ext>
            </a:extLst>
          </p:cNvPr>
          <p:cNvSpPr/>
          <p:nvPr/>
        </p:nvSpPr>
        <p:spPr>
          <a:xfrm rot="7893553">
            <a:off x="-1472354" y="-459379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BF12FDF6-6561-91B6-CD70-422746B6B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762FE4-49BE-E4AA-E327-33235A932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RELATED 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EB75F2-8ED4-9142-7F47-88F132F05E9C}"/>
              </a:ext>
            </a:extLst>
          </p:cNvPr>
          <p:cNvSpPr txBox="1"/>
          <p:nvPr/>
        </p:nvSpPr>
        <p:spPr>
          <a:xfrm>
            <a:off x="716478" y="952090"/>
            <a:ext cx="609797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Where This Work Fits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34FDD3D-19EC-317A-14E1-D28EE4554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808013"/>
              </p:ext>
            </p:extLst>
          </p:nvPr>
        </p:nvGraphicFramePr>
        <p:xfrm>
          <a:off x="771836" y="1717968"/>
          <a:ext cx="10806445" cy="34565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06321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2649582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3225271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  <a:gridCol w="3225271">
                  <a:extLst>
                    <a:ext uri="{9D8B030D-6E8A-4147-A177-3AD203B41FA5}">
                      <a16:colId xmlns:a16="http://schemas.microsoft.com/office/drawing/2014/main" val="928774917"/>
                    </a:ext>
                  </a:extLst>
                </a:gridCol>
              </a:tblGrid>
              <a:tr h="307273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Method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Type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Strength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Limitation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Kalman Filter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Classical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Interpretable, fast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Linear dynamics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LSTM / GRU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Deep learning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Captures sequences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Needs large labeled data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Transformer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Deep learning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State-of-the-art accuracy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Black box, expensive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One-Class SVM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Unsupervised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No labels needed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Kernel tuning sensitive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120210"/>
                  </a:ext>
                </a:extLst>
              </a:tr>
              <a:tr h="6272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Unsupervised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Scalable, minimal assumptions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No temporal context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3333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A360C83-E23A-CC4E-2E57-6A4AB55E65DB}"/>
              </a:ext>
            </a:extLst>
          </p:cNvPr>
          <p:cNvSpPr txBox="1"/>
          <p:nvPr/>
        </p:nvSpPr>
        <p:spPr>
          <a:xfrm>
            <a:off x="716478" y="5536139"/>
            <a:ext cx="762395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latin typeface="GT Walsheim Trial Lt" pitchFamily="2" charset="77"/>
              </a:rPr>
              <a:t>Prior work on WOMD focuses on deep learning prediction.</a:t>
            </a:r>
          </a:p>
          <a:p>
            <a:r>
              <a:rPr lang="en-US" sz="1500" b="1" dirty="0">
                <a:latin typeface="GT Walsheim Trial Bd" pitchFamily="2" charset="77"/>
              </a:rPr>
              <a:t>Classical statistical baselines over the full agent population remain unexplored.</a:t>
            </a:r>
          </a:p>
          <a:p>
            <a:r>
              <a:rPr lang="en-US" sz="1500" dirty="0">
                <a:latin typeface="GT Walsheim Trial Lt" pitchFamily="2" charset="77"/>
              </a:rPr>
              <a:t>This work fills that gap.</a:t>
            </a:r>
          </a:p>
        </p:txBody>
      </p:sp>
    </p:spTree>
    <p:extLst>
      <p:ext uri="{BB962C8B-B14F-4D97-AF65-F5344CB8AC3E}">
        <p14:creationId xmlns:p14="http://schemas.microsoft.com/office/powerpoint/2010/main" val="34899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BC192-5576-CACC-462A-68BD190F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 28">
            <a:extLst>
              <a:ext uri="{FF2B5EF4-FFF2-40B4-BE49-F238E27FC236}">
                <a16:creationId xmlns:a16="http://schemas.microsoft.com/office/drawing/2014/main" id="{EF811BE5-10FC-A23D-B733-8D64D4799C78}"/>
              </a:ext>
            </a:extLst>
          </p:cNvPr>
          <p:cNvSpPr/>
          <p:nvPr/>
        </p:nvSpPr>
        <p:spPr>
          <a:xfrm>
            <a:off x="-2930419" y="731435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bg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5F33613-789F-68FD-A10B-870E4C2E5E81}"/>
              </a:ext>
            </a:extLst>
          </p:cNvPr>
          <p:cNvSpPr/>
          <p:nvPr/>
        </p:nvSpPr>
        <p:spPr>
          <a:xfrm rot="10800000">
            <a:off x="716469" y="4880713"/>
            <a:ext cx="4890877" cy="1316871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8744DF-0E14-4729-83A3-2555BE74D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240673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DATASET &amp; PIPLINE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C1B2E-72FB-B260-E399-AE91F7FA7FE7}"/>
              </a:ext>
            </a:extLst>
          </p:cNvPr>
          <p:cNvSpPr txBox="1"/>
          <p:nvPr/>
        </p:nvSpPr>
        <p:spPr>
          <a:xfrm>
            <a:off x="716477" y="952090"/>
            <a:ext cx="734686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Waymo Open Motion Dataset v1.3.1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5135FE-E590-239C-0982-FF07DAD6A753}"/>
              </a:ext>
            </a:extLst>
          </p:cNvPr>
          <p:cNvSpPr txBox="1"/>
          <p:nvPr/>
        </p:nvSpPr>
        <p:spPr>
          <a:xfrm>
            <a:off x="716477" y="1653376"/>
            <a:ext cx="108618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GT Walsheim Trial Lt" pitchFamily="2" charset="77"/>
              </a:rPr>
              <a:t>18,311 raw agent observations </a:t>
            </a:r>
            <a:r>
              <a:rPr lang="en-US" sz="2000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— </a:t>
            </a:r>
            <a:r>
              <a:rPr lang="en-US" sz="2000" b="1" dirty="0">
                <a:solidFill>
                  <a:schemeClr val="bg1"/>
                </a:solidFill>
                <a:latin typeface="GT Walsheim Trial Lt" pitchFamily="2" charset="77"/>
              </a:rPr>
              <a:t>20 Hz object tracking </a:t>
            </a:r>
            <a:r>
              <a:rPr lang="en-US" sz="2000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— </a:t>
            </a:r>
            <a:r>
              <a:rPr lang="en-US" sz="2000" b="1" dirty="0">
                <a:solidFill>
                  <a:schemeClr val="bg1"/>
                </a:solidFill>
                <a:latin typeface="GT Walsheim Trial Lt" pitchFamily="2" charset="77"/>
              </a:rPr>
              <a:t>20-second scenario segments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B1D7EC-1CA7-6572-C738-03EBF46A6752}"/>
              </a:ext>
            </a:extLst>
          </p:cNvPr>
          <p:cNvSpPr/>
          <p:nvPr/>
        </p:nvSpPr>
        <p:spPr>
          <a:xfrm rot="5400000">
            <a:off x="427798" y="2591387"/>
            <a:ext cx="2411272" cy="1799543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0D26C6-5B83-D274-92B8-C8D5027C3FBD}"/>
              </a:ext>
            </a:extLst>
          </p:cNvPr>
          <p:cNvSpPr/>
          <p:nvPr/>
        </p:nvSpPr>
        <p:spPr>
          <a:xfrm rot="5400000">
            <a:off x="2949458" y="2038904"/>
            <a:ext cx="2411272" cy="2904509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8DF5B-3BA6-FEA2-151C-766C411F8C25}"/>
              </a:ext>
            </a:extLst>
          </p:cNvPr>
          <p:cNvSpPr txBox="1"/>
          <p:nvPr/>
        </p:nvSpPr>
        <p:spPr>
          <a:xfrm>
            <a:off x="842014" y="3062593"/>
            <a:ext cx="1582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Waymo </a:t>
            </a:r>
          </a:p>
          <a:p>
            <a:pPr algn="ctr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GCS Bucket (TFRecords)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7D8074-A78C-D935-403F-05021A7FD410}"/>
              </a:ext>
            </a:extLst>
          </p:cNvPr>
          <p:cNvSpPr txBox="1"/>
          <p:nvPr/>
        </p:nvSpPr>
        <p:spPr>
          <a:xfrm>
            <a:off x="2930520" y="2894563"/>
            <a:ext cx="2090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bg1"/>
                </a:solidFill>
                <a:effectLst/>
                <a:latin typeface="GT Walsheim Trial Md" pitchFamily="2" charset="77"/>
              </a:rPr>
              <a:t>Python Notebook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E13089-0731-8EA9-E13B-909D5D04BC4B}"/>
              </a:ext>
            </a:extLst>
          </p:cNvPr>
          <p:cNvSpPr txBox="1"/>
          <p:nvPr/>
        </p:nvSpPr>
        <p:spPr>
          <a:xfrm>
            <a:off x="2930520" y="3320826"/>
            <a:ext cx="25157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GCS authentication</a:t>
            </a:r>
          </a:p>
          <a:p>
            <a:pPr>
              <a:buNone/>
            </a:pPr>
            <a:r>
              <a:rPr lang="en-US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Parse Scenario protos</a:t>
            </a:r>
          </a:p>
          <a:p>
            <a:pPr>
              <a:buNone/>
            </a:pPr>
            <a:r>
              <a:rPr lang="en-US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Extract kinematics at  t = 0, t = -0.1s, t = +5s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FF29CB-B9A0-D774-8556-025972A6411F}"/>
              </a:ext>
            </a:extLst>
          </p:cNvPr>
          <p:cNvSpPr/>
          <p:nvPr/>
        </p:nvSpPr>
        <p:spPr>
          <a:xfrm rot="10800000">
            <a:off x="5843540" y="2277080"/>
            <a:ext cx="5734740" cy="7855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A8CB1E-CA6D-B69B-4A23-51F6F650AA12}"/>
              </a:ext>
            </a:extLst>
          </p:cNvPr>
          <p:cNvSpPr txBox="1"/>
          <p:nvPr/>
        </p:nvSpPr>
        <p:spPr>
          <a:xfrm>
            <a:off x="7221516" y="2482739"/>
            <a:ext cx="290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 err="1">
                <a:effectLst/>
                <a:latin typeface="GT Walsheim Trial Rg" pitchFamily="2" charset="77"/>
              </a:rPr>
              <a:t>waymo_final_dataset.csv</a:t>
            </a:r>
            <a:endParaRPr lang="en-US" b="0" i="0" dirty="0">
              <a:effectLst/>
              <a:latin typeface="GT Walsheim Trial Rg" pitchFamily="2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71A77D-2D16-2B5A-2A9E-FB91657476D0}"/>
              </a:ext>
            </a:extLst>
          </p:cNvPr>
          <p:cNvSpPr/>
          <p:nvPr/>
        </p:nvSpPr>
        <p:spPr>
          <a:xfrm rot="5400000">
            <a:off x="7722035" y="1348383"/>
            <a:ext cx="1977748" cy="5734738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750D8F-67A1-98B2-A822-4BDFCE53DAA2}"/>
              </a:ext>
            </a:extLst>
          </p:cNvPr>
          <p:cNvSpPr txBox="1"/>
          <p:nvPr/>
        </p:nvSpPr>
        <p:spPr>
          <a:xfrm>
            <a:off x="6081505" y="3846420"/>
            <a:ext cx="272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R —</a:t>
            </a:r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 </a:t>
            </a: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Statistical Modeling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B762C7-DF74-D983-5BBB-B91A460C2CC7}"/>
              </a:ext>
            </a:extLst>
          </p:cNvPr>
          <p:cNvSpPr txBox="1"/>
          <p:nvPr/>
        </p:nvSpPr>
        <p:spPr>
          <a:xfrm>
            <a:off x="6081505" y="4268860"/>
            <a:ext cx="44216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Preprocessing → Anomaly Detection → Motion Prediction</a:t>
            </a:r>
            <a:endParaRPr lang="en-US" b="0" i="0" dirty="0">
              <a:solidFill>
                <a:schemeClr val="bg1"/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5C3F3C-74CB-A77D-4520-791C9D34E8BD}"/>
              </a:ext>
            </a:extLst>
          </p:cNvPr>
          <p:cNvSpPr/>
          <p:nvPr/>
        </p:nvSpPr>
        <p:spPr>
          <a:xfrm rot="10800000">
            <a:off x="716470" y="5368911"/>
            <a:ext cx="10861807" cy="835916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8A5016-C08E-98B3-26B4-A2802863211D}"/>
              </a:ext>
            </a:extLst>
          </p:cNvPr>
          <p:cNvSpPr txBox="1"/>
          <p:nvPr/>
        </p:nvSpPr>
        <p:spPr>
          <a:xfrm>
            <a:off x="1826044" y="5405539"/>
            <a:ext cx="290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GT Walsheim Trial Rg" pitchFamily="2" charset="77"/>
              </a:rPr>
              <a:t>Results (Tables / Plots)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F526F9-F57F-C78A-0497-4A253585B117}"/>
              </a:ext>
            </a:extLst>
          </p:cNvPr>
          <p:cNvSpPr txBox="1"/>
          <p:nvPr/>
        </p:nvSpPr>
        <p:spPr>
          <a:xfrm>
            <a:off x="243204" y="2092251"/>
            <a:ext cx="1582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000" dirty="0">
                <a:solidFill>
                  <a:schemeClr val="bg1">
                    <a:alpha val="20000"/>
                  </a:schemeClr>
                </a:solidFill>
                <a:latin typeface="GT Walsheim Trial Rg" pitchFamily="2" charset="77"/>
              </a:rPr>
              <a:t>01</a:t>
            </a:r>
            <a:endParaRPr lang="en-US" sz="5000" b="0" i="0" dirty="0">
              <a:solidFill>
                <a:schemeClr val="bg1">
                  <a:alpha val="20000"/>
                </a:schemeClr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A5120A-2843-1FFE-7923-2B0862B5691F}"/>
              </a:ext>
            </a:extLst>
          </p:cNvPr>
          <p:cNvSpPr txBox="1"/>
          <p:nvPr/>
        </p:nvSpPr>
        <p:spPr>
          <a:xfrm>
            <a:off x="2267099" y="2099493"/>
            <a:ext cx="1582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000" dirty="0">
                <a:solidFill>
                  <a:schemeClr val="bg1">
                    <a:alpha val="20000"/>
                  </a:schemeClr>
                </a:solidFill>
                <a:latin typeface="GT Walsheim Trial Rg" pitchFamily="2" charset="77"/>
              </a:rPr>
              <a:t>02</a:t>
            </a:r>
            <a:endParaRPr lang="en-US" sz="5000" b="0" i="0" dirty="0">
              <a:solidFill>
                <a:schemeClr val="bg1">
                  <a:alpha val="20000"/>
                </a:schemeClr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55AA3B-0B37-D055-C550-D536B15871AC}"/>
              </a:ext>
            </a:extLst>
          </p:cNvPr>
          <p:cNvSpPr txBox="1"/>
          <p:nvPr/>
        </p:nvSpPr>
        <p:spPr>
          <a:xfrm>
            <a:off x="5402485" y="2099493"/>
            <a:ext cx="1582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000" dirty="0">
                <a:solidFill>
                  <a:schemeClr val="tx1">
                    <a:alpha val="5000"/>
                  </a:schemeClr>
                </a:solidFill>
                <a:latin typeface="GT Walsheim Trial Rg" pitchFamily="2" charset="77"/>
              </a:rPr>
              <a:t>03</a:t>
            </a:r>
            <a:endParaRPr lang="en-US" sz="5000" b="0" i="0" dirty="0">
              <a:solidFill>
                <a:schemeClr val="tx1">
                  <a:alpha val="5000"/>
                </a:schemeClr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567BA-74CD-E9BD-D382-9328F41BC61C}"/>
              </a:ext>
            </a:extLst>
          </p:cNvPr>
          <p:cNvSpPr txBox="1"/>
          <p:nvPr/>
        </p:nvSpPr>
        <p:spPr>
          <a:xfrm>
            <a:off x="5402485" y="3014375"/>
            <a:ext cx="1582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000" dirty="0">
                <a:solidFill>
                  <a:schemeClr val="bg1">
                    <a:alpha val="20000"/>
                  </a:schemeClr>
                </a:solidFill>
                <a:latin typeface="GT Walsheim Trial Rg" pitchFamily="2" charset="77"/>
              </a:rPr>
              <a:t>04</a:t>
            </a:r>
            <a:endParaRPr lang="en-US" sz="5000" b="0" i="0" dirty="0">
              <a:solidFill>
                <a:schemeClr val="bg1">
                  <a:alpha val="20000"/>
                </a:schemeClr>
              </a:solidFill>
              <a:effectLst/>
              <a:latin typeface="GT Walsheim Trial Rg" pitchFamily="2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8F2B63-2F27-CF63-85DB-DB6BF472F87C}"/>
              </a:ext>
            </a:extLst>
          </p:cNvPr>
          <p:cNvSpPr txBox="1"/>
          <p:nvPr/>
        </p:nvSpPr>
        <p:spPr>
          <a:xfrm>
            <a:off x="277042" y="4701431"/>
            <a:ext cx="1582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000" dirty="0">
                <a:solidFill>
                  <a:schemeClr val="bg1">
                    <a:alpha val="30000"/>
                  </a:schemeClr>
                </a:solidFill>
                <a:latin typeface="GT Walsheim Trial Rg" pitchFamily="2" charset="77"/>
              </a:rPr>
              <a:t>05</a:t>
            </a:r>
            <a:endParaRPr lang="en-US" sz="5000" b="0" i="0" dirty="0">
              <a:solidFill>
                <a:schemeClr val="bg1">
                  <a:alpha val="30000"/>
                </a:schemeClr>
              </a:solidFill>
              <a:effectLst/>
              <a:latin typeface="GT Walsheim Trial Rg" pitchFamily="2" charset="77"/>
            </a:endParaRPr>
          </a:p>
        </p:txBody>
      </p:sp>
      <p:pic>
        <p:nvPicPr>
          <p:cNvPr id="28" name="Picture 6" descr="Our Trademarks">
            <a:extLst>
              <a:ext uri="{FF2B5EF4-FFF2-40B4-BE49-F238E27FC236}">
                <a16:creationId xmlns:a16="http://schemas.microsoft.com/office/drawing/2014/main" id="{5E9127DC-E0BF-246E-DFAD-95EB3D195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313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18335D-070D-E2CD-7974-1D934C6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1A7F5B05-687E-2A4C-A8CD-9F064CE84592}"/>
              </a:ext>
            </a:extLst>
          </p:cNvPr>
          <p:cNvSpPr/>
          <p:nvPr/>
        </p:nvSpPr>
        <p:spPr>
          <a:xfrm>
            <a:off x="-6144266" y="5082576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bg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11818D86-B172-7F3C-A000-ECBB85ED72A7}"/>
              </a:ext>
            </a:extLst>
          </p:cNvPr>
          <p:cNvSpPr/>
          <p:nvPr/>
        </p:nvSpPr>
        <p:spPr>
          <a:xfrm rot="724800">
            <a:off x="-2872042" y="3203933"/>
            <a:ext cx="18325767" cy="1340166"/>
          </a:xfrm>
          <a:custGeom>
            <a:avLst/>
            <a:gdLst>
              <a:gd name="csX0" fmla="*/ 0 w 11430000"/>
              <a:gd name="csY0" fmla="*/ 691323 h 1340166"/>
              <a:gd name="csX1" fmla="*/ 1422400 w 11430000"/>
              <a:gd name="csY1" fmla="*/ 18223 h 1340166"/>
              <a:gd name="csX2" fmla="*/ 7150100 w 11430000"/>
              <a:gd name="csY2" fmla="*/ 1339023 h 1340166"/>
              <a:gd name="csX3" fmla="*/ 11430000 w 11430000"/>
              <a:gd name="csY3" fmla="*/ 246823 h 1340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430000" h="1340166">
                <a:moveTo>
                  <a:pt x="0" y="691323"/>
                </a:moveTo>
                <a:cubicBezTo>
                  <a:pt x="115358" y="300798"/>
                  <a:pt x="230717" y="-89727"/>
                  <a:pt x="1422400" y="18223"/>
                </a:cubicBezTo>
                <a:cubicBezTo>
                  <a:pt x="2614083" y="126173"/>
                  <a:pt x="5482167" y="1300923"/>
                  <a:pt x="7150100" y="1339023"/>
                </a:cubicBezTo>
                <a:cubicBezTo>
                  <a:pt x="8818033" y="1377123"/>
                  <a:pt x="10687050" y="452140"/>
                  <a:pt x="11430000" y="246823"/>
                </a:cubicBezTo>
              </a:path>
            </a:pathLst>
          </a:custGeom>
          <a:noFill/>
          <a:ln w="762000" cap="flat">
            <a:gradFill flip="none" rotWithShape="1">
              <a:gsLst>
                <a:gs pos="69000">
                  <a:srgbClr val="0078FF"/>
                </a:gs>
                <a:gs pos="0">
                  <a:srgbClr val="0078FF"/>
                </a:gs>
                <a:gs pos="29000">
                  <a:srgbClr val="0078FF"/>
                </a:gs>
                <a:gs pos="46000">
                  <a:srgbClr val="0078FF"/>
                </a:gs>
                <a:gs pos="77000">
                  <a:srgbClr val="00E9A0"/>
                </a:gs>
                <a:gs pos="100000">
                  <a:srgbClr val="00E9A0"/>
                </a:gs>
              </a:gsLst>
              <a:lin ang="360000" scaled="0"/>
              <a:tileRect/>
            </a:gra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C362FE-26C6-9E59-253C-0E8E33DFB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34752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>
                    <a:lumMod val="50000"/>
                  </a:schemeClr>
                </a:solidFill>
                <a:latin typeface="GT Walsheim Trial Rg" pitchFamily="2" charset="77"/>
              </a:rPr>
              <a:t>DATASET &amp; PIPLINE [AGENT TYPE]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0B286F-ACC4-E15E-FE10-F81A14DF3948}"/>
              </a:ext>
            </a:extLst>
          </p:cNvPr>
          <p:cNvSpPr txBox="1"/>
          <p:nvPr/>
        </p:nvSpPr>
        <p:spPr>
          <a:xfrm>
            <a:off x="716477" y="952090"/>
            <a:ext cx="734686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Waymo Open Motion Dataset v1.3.1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E5ED46D-9A9D-45B4-50C0-E4B617433E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935987"/>
              </p:ext>
            </p:extLst>
          </p:nvPr>
        </p:nvGraphicFramePr>
        <p:xfrm>
          <a:off x="716477" y="1932130"/>
          <a:ext cx="10876350" cy="264617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977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3801230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4627143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</a:tblGrid>
              <a:tr h="2966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Agent Type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Count (raw)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After preprocessing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Vehicle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majority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Pedestrian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~25%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Cyclist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~5%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included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SDC (AV itself)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removed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excluded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1202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3141582-FD1E-F62F-4490-D627EFD530A0}"/>
              </a:ext>
            </a:extLst>
          </p:cNvPr>
          <p:cNvSpPr txBox="1"/>
          <p:nvPr/>
        </p:nvSpPr>
        <p:spPr>
          <a:xfrm>
            <a:off x="624468" y="5082576"/>
            <a:ext cx="66769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latin typeface="GT Walsheim Trial Md" pitchFamily="2" charset="77"/>
              </a:rPr>
              <a:t>Features extracted: </a:t>
            </a:r>
            <a:r>
              <a:rPr lang="en-US" sz="1500" dirty="0">
                <a:solidFill>
                  <a:schemeClr val="bg1"/>
                </a:solidFill>
                <a:latin typeface="GT Walsheim Trial Lt" pitchFamily="2" charset="77"/>
              </a:rPr>
              <a:t>Speed, Acceleration, Yaw Rate,</a:t>
            </a:r>
          </a:p>
          <a:p>
            <a:r>
              <a:rPr lang="en-US" sz="1500" dirty="0" err="1">
                <a:solidFill>
                  <a:schemeClr val="bg1"/>
                </a:solidFill>
                <a:latin typeface="GT Walsheim Trial Lt" pitchFamily="2" charset="77"/>
              </a:rPr>
              <a:t>Vel_X</a:t>
            </a:r>
            <a:r>
              <a:rPr lang="en-US" sz="1500" dirty="0">
                <a:solidFill>
                  <a:schemeClr val="bg1"/>
                </a:solidFill>
                <a:latin typeface="GT Walsheim Trial Lt" pitchFamily="2" charset="77"/>
              </a:rPr>
              <a:t>, </a:t>
            </a:r>
            <a:r>
              <a:rPr lang="en-US" sz="1500" dirty="0" err="1">
                <a:solidFill>
                  <a:schemeClr val="bg1"/>
                </a:solidFill>
                <a:latin typeface="GT Walsheim Trial Lt" pitchFamily="2" charset="77"/>
              </a:rPr>
              <a:t>Vel_Y</a:t>
            </a:r>
            <a:endParaRPr lang="en-US" sz="1500" dirty="0">
              <a:solidFill>
                <a:schemeClr val="bg1"/>
              </a:solidFill>
              <a:latin typeface="GT Walsheim Trial Lt" pitchFamily="2" charset="77"/>
            </a:endParaRPr>
          </a:p>
          <a:p>
            <a:r>
              <a:rPr lang="en-US" sz="1500" dirty="0">
                <a:solidFill>
                  <a:schemeClr val="bg1"/>
                </a:solidFill>
                <a:latin typeface="GT Walsheim Trial Lt" pitchFamily="2" charset="77"/>
              </a:rPr>
              <a:t>Length, Width</a:t>
            </a:r>
          </a:p>
          <a:p>
            <a:r>
              <a:rPr lang="en-US" sz="1500" dirty="0">
                <a:solidFill>
                  <a:schemeClr val="bg1"/>
                </a:solidFill>
                <a:latin typeface="GT Walsheim Trial Lt" pitchFamily="2" charset="77"/>
              </a:rPr>
              <a:t>FutureDist_5s</a:t>
            </a:r>
          </a:p>
        </p:txBody>
      </p:sp>
      <p:pic>
        <p:nvPicPr>
          <p:cNvPr id="2" name="Picture 6" descr="Our Trademarks">
            <a:extLst>
              <a:ext uri="{FF2B5EF4-FFF2-40B4-BE49-F238E27FC236}">
                <a16:creationId xmlns:a16="http://schemas.microsoft.com/office/drawing/2014/main" id="{0E3246AA-DF2A-798A-F5B3-ED4A58B466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4567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84AF451-3682-FF2C-D616-3F71F91C5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098CF723-BBB0-69D1-210D-A92B374A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72B4AF-3303-D5F9-B0F5-2775BA6C1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 fontScale="90000"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METHODS: ANOMALY DETECTION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9957A-7A79-0237-F7BA-3507FB224EBF}"/>
              </a:ext>
            </a:extLst>
          </p:cNvPr>
          <p:cNvSpPr txBox="1"/>
          <p:nvPr/>
        </p:nvSpPr>
        <p:spPr>
          <a:xfrm>
            <a:off x="716477" y="952090"/>
            <a:ext cx="844097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Three-Layer Anomaly Detection Pipeline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68A61C-4608-E59F-E53A-ACC82BDE3BFB}"/>
              </a:ext>
            </a:extLst>
          </p:cNvPr>
          <p:cNvSpPr/>
          <p:nvPr/>
        </p:nvSpPr>
        <p:spPr>
          <a:xfrm>
            <a:off x="854439" y="1790769"/>
            <a:ext cx="10483122" cy="450883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3F07-4ACA-1B01-241E-AF7E7DC70674}"/>
              </a:ext>
            </a:extLst>
          </p:cNvPr>
          <p:cNvSpPr txBox="1"/>
          <p:nvPr/>
        </p:nvSpPr>
        <p:spPr>
          <a:xfrm>
            <a:off x="985276" y="1831544"/>
            <a:ext cx="286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Layer 1 — Isolation Forest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0FDC66-D3E4-E203-0DF1-C8F46FC5F057}"/>
              </a:ext>
            </a:extLst>
          </p:cNvPr>
          <p:cNvSpPr/>
          <p:nvPr/>
        </p:nvSpPr>
        <p:spPr>
          <a:xfrm>
            <a:off x="854438" y="2292538"/>
            <a:ext cx="5241562" cy="2166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F07873-F556-363B-D82F-5070AC0E40F8}"/>
              </a:ext>
            </a:extLst>
          </p:cNvPr>
          <p:cNvSpPr txBox="1"/>
          <p:nvPr/>
        </p:nvSpPr>
        <p:spPr>
          <a:xfrm>
            <a:off x="1066805" y="263719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Input features: </a:t>
            </a:r>
            <a:r>
              <a:rPr lang="en-US" dirty="0">
                <a:effectLst/>
                <a:latin typeface="GT Walsheim Trial Rg" pitchFamily="2" charset="77"/>
              </a:rPr>
              <a:t>Speed, Acceleration, </a:t>
            </a:r>
            <a:r>
              <a:rPr lang="en-US" dirty="0" err="1">
                <a:effectLst/>
                <a:latin typeface="GT Walsheim Trial Rg" pitchFamily="2" charset="77"/>
              </a:rPr>
              <a:t>YawRate</a:t>
            </a:r>
            <a:endParaRPr lang="en-US" dirty="0">
              <a:effectLst/>
              <a:latin typeface="GT Walsheim Trial Rg" pitchFamily="2" charset="77"/>
            </a:endParaRP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100 trees, unsupervised, no labels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Assigns anomaly score ∈ [0, 1] to each agent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Threshold: </a:t>
            </a:r>
            <a:r>
              <a:rPr lang="en-US" dirty="0">
                <a:effectLst/>
                <a:latin typeface="GT Walsheim Trial Rg" pitchFamily="2" charset="77"/>
              </a:rPr>
              <a:t>99th percentile → top 1% flagged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Result: </a:t>
            </a:r>
            <a:r>
              <a:rPr lang="en-US" dirty="0">
                <a:effectLst/>
                <a:latin typeface="GT Walsheim Trial Rg" pitchFamily="2" charset="77"/>
              </a:rPr>
              <a:t>46 anomalous agents out of 4,538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ED1794-7A9B-1693-FDA5-2205F28AED0A}"/>
              </a:ext>
            </a:extLst>
          </p:cNvPr>
          <p:cNvSpPr/>
          <p:nvPr/>
        </p:nvSpPr>
        <p:spPr>
          <a:xfrm>
            <a:off x="854439" y="4850626"/>
            <a:ext cx="10483123" cy="450883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B3A18B-1E6C-CA70-05A1-CB6DEEF0205D}"/>
              </a:ext>
            </a:extLst>
          </p:cNvPr>
          <p:cNvSpPr txBox="1"/>
          <p:nvPr/>
        </p:nvSpPr>
        <p:spPr>
          <a:xfrm>
            <a:off x="1066806" y="4891401"/>
            <a:ext cx="5569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Layer 2 — Statistical Validation (Fisher's Exact Test)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E500D8-7D23-EFBE-E974-8C8A094C2972}"/>
              </a:ext>
            </a:extLst>
          </p:cNvPr>
          <p:cNvSpPr/>
          <p:nvPr/>
        </p:nvSpPr>
        <p:spPr>
          <a:xfrm>
            <a:off x="9901518" y="125288"/>
            <a:ext cx="5241562" cy="2166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89519C-D504-BA4F-29D1-F8A65AB56BCC}"/>
              </a:ext>
            </a:extLst>
          </p:cNvPr>
          <p:cNvSpPr txBox="1"/>
          <p:nvPr/>
        </p:nvSpPr>
        <p:spPr>
          <a:xfrm>
            <a:off x="10113885" y="46994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Input features: </a:t>
            </a:r>
            <a:r>
              <a:rPr lang="en-US" dirty="0">
                <a:effectLst/>
                <a:latin typeface="GT Walsheim Trial Rg" pitchFamily="2" charset="77"/>
              </a:rPr>
              <a:t>Speed, Acceleration, </a:t>
            </a:r>
            <a:r>
              <a:rPr lang="en-US" dirty="0" err="1">
                <a:effectLst/>
                <a:latin typeface="GT Walsheim Trial Rg" pitchFamily="2" charset="77"/>
              </a:rPr>
              <a:t>YawRate</a:t>
            </a:r>
            <a:endParaRPr lang="en-US" dirty="0">
              <a:effectLst/>
              <a:latin typeface="GT Walsheim Trial Rg" pitchFamily="2" charset="77"/>
            </a:endParaRP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100 trees, unsupervised, no labels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Assigns anomaly score ∈ [0, 1] to each agent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Threshold: </a:t>
            </a:r>
            <a:r>
              <a:rPr lang="en-US" dirty="0">
                <a:effectLst/>
                <a:latin typeface="GT Walsheim Trial Rg" pitchFamily="2" charset="77"/>
              </a:rPr>
              <a:t>99th percentile → top 1% flagged</a:t>
            </a:r>
          </a:p>
          <a:p>
            <a:pPr algn="l"/>
            <a:r>
              <a:rPr lang="en-US" b="1" dirty="0">
                <a:effectLst/>
                <a:latin typeface="GT Walsheim Trial Rg" pitchFamily="2" charset="77"/>
              </a:rPr>
              <a:t>Result: </a:t>
            </a:r>
            <a:r>
              <a:rPr lang="en-US" dirty="0">
                <a:effectLst/>
                <a:latin typeface="GT Walsheim Trial Rg" pitchFamily="2" charset="77"/>
              </a:rPr>
              <a:t>46 anomalous agents out of 4,538</a:t>
            </a:r>
          </a:p>
        </p:txBody>
      </p:sp>
    </p:spTree>
    <p:extLst>
      <p:ext uri="{BB962C8B-B14F-4D97-AF65-F5344CB8AC3E}">
        <p14:creationId xmlns:p14="http://schemas.microsoft.com/office/powerpoint/2010/main" val="260652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2D43B-6B18-E76B-0A5E-6F5A9E177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D9759E3A-B60F-9CBB-D1CE-CC84A3D32781}"/>
              </a:ext>
            </a:extLst>
          </p:cNvPr>
          <p:cNvSpPr/>
          <p:nvPr/>
        </p:nvSpPr>
        <p:spPr>
          <a:xfrm rot="8442973">
            <a:off x="-9874934" y="-3842844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E917537-92A5-6E9F-7D52-B229CEB05CFC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0745F48F-1AB5-00C4-CA23-A815ED3572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52EB07-182B-03EA-A8D0-1384AF0B4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MOTION PREDICTION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8B83E-AA40-E8FF-95C7-4E5B1E9F3925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Linear Regression for 5-Second Displacement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05F93-3204-EBA0-492A-066BC1A51EB9}"/>
              </a:ext>
            </a:extLst>
          </p:cNvPr>
          <p:cNvSpPr txBox="1"/>
          <p:nvPr/>
        </p:nvSpPr>
        <p:spPr>
          <a:xfrm>
            <a:off x="13046792" y="2452525"/>
            <a:ext cx="286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Layer 1 — Isolation Forest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604F91-922D-8DD6-CD44-0375F512B846}"/>
              </a:ext>
            </a:extLst>
          </p:cNvPr>
          <p:cNvSpPr/>
          <p:nvPr/>
        </p:nvSpPr>
        <p:spPr>
          <a:xfrm>
            <a:off x="854437" y="2168851"/>
            <a:ext cx="10723843" cy="8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9E9928-1D9E-51AD-B1B8-C5747ADD65CD}"/>
                  </a:ext>
                </a:extLst>
              </p:cNvPr>
              <p:cNvSpPr txBox="1"/>
              <p:nvPr/>
            </p:nvSpPr>
            <p:spPr>
              <a:xfrm>
                <a:off x="2280998" y="2406935"/>
                <a:ext cx="7870718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effectLst/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i="0" smtClean="0">
                          <a:effectLst/>
                          <a:latin typeface="Cambria Math" panose="02040503050406030204" pitchFamily="18" charset="0"/>
                        </a:rPr>
                        <m:t>Speed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i="0" smtClean="0">
                          <a:effectLst/>
                          <a:latin typeface="Cambria Math" panose="02040503050406030204" pitchFamily="18" charset="0"/>
                        </a:rPr>
                        <m:t>Acceleration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i="0" smtClean="0">
                          <a:effectLst/>
                          <a:latin typeface="Cambria Math" panose="02040503050406030204" pitchFamily="18" charset="0"/>
                        </a:rPr>
                        <m:t>YawRate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dirty="0">
                  <a:effectLst/>
                  <a:latin typeface="GT Walsheim Trial Rg" pitchFamily="2" charset="77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9E9928-1D9E-51AD-B1B8-C5747ADD6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0998" y="2406935"/>
                <a:ext cx="7870718" cy="391261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26D24CC-E88C-F396-E04B-2061C7CF771B}"/>
              </a:ext>
            </a:extLst>
          </p:cNvPr>
          <p:cNvSpPr/>
          <p:nvPr/>
        </p:nvSpPr>
        <p:spPr>
          <a:xfrm>
            <a:off x="854438" y="1717968"/>
            <a:ext cx="10723843" cy="450883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FA320B-9F02-D466-AE9F-3493B7C54BA7}"/>
              </a:ext>
            </a:extLst>
          </p:cNvPr>
          <p:cNvSpPr txBox="1"/>
          <p:nvPr/>
        </p:nvSpPr>
        <p:spPr>
          <a:xfrm>
            <a:off x="5667367" y="1738717"/>
            <a:ext cx="1097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ffectLst/>
                <a:latin typeface="GT Walsheim Trial Rg" pitchFamily="2" charset="77"/>
              </a:rPr>
              <a:t>Formula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C3A6D9A-0B4F-407F-748A-3383F0024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060988"/>
              </p:ext>
            </p:extLst>
          </p:nvPr>
        </p:nvGraphicFramePr>
        <p:xfrm>
          <a:off x="854437" y="3271175"/>
          <a:ext cx="6602279" cy="176194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50226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1810485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3141568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</a:tblGrid>
              <a:tr h="279076">
                <a:tc>
                  <a:txBody>
                    <a:bodyPr/>
                    <a:lstStyle/>
                    <a:p>
                      <a:endParaRPr lang="en-US" sz="1500" b="0" i="0" dirty="0">
                        <a:solidFill>
                          <a:schemeClr val="bg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Condition 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Condition 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446633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Dataset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All Agents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Moving agents only (Speed &gt; 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446633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6,614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3,196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4466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Purpose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Baseline including easy cases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Honest evaluation under dynamics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40267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7D2A0522-26B5-AB30-52E8-78C52B62BB6C}"/>
              </a:ext>
            </a:extLst>
          </p:cNvPr>
          <p:cNvSpPr/>
          <p:nvPr/>
        </p:nvSpPr>
        <p:spPr>
          <a:xfrm>
            <a:off x="7699513" y="3253653"/>
            <a:ext cx="3878767" cy="315652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0090E7-5553-0025-BEA5-4C32A61CE758}"/>
              </a:ext>
            </a:extLst>
          </p:cNvPr>
          <p:cNvSpPr txBox="1"/>
          <p:nvPr/>
        </p:nvSpPr>
        <p:spPr>
          <a:xfrm>
            <a:off x="7946924" y="4231751"/>
            <a:ext cx="33906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80 / 20 train / test split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5-fold cross-validation on training set.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Metrics: RMSE (meters) · R²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0DA282-2F1C-FE40-560D-983DC4EE6AFC}"/>
              </a:ext>
            </a:extLst>
          </p:cNvPr>
          <p:cNvSpPr/>
          <p:nvPr/>
        </p:nvSpPr>
        <p:spPr>
          <a:xfrm>
            <a:off x="854439" y="5253683"/>
            <a:ext cx="6602278" cy="115649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0CEAD5-2798-7B65-ED0C-0B70929BD33D}"/>
              </a:ext>
            </a:extLst>
          </p:cNvPr>
          <p:cNvSpPr txBox="1"/>
          <p:nvPr/>
        </p:nvSpPr>
        <p:spPr>
          <a:xfrm>
            <a:off x="1619369" y="5412484"/>
            <a:ext cx="545808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Stationary agents have near-zero displacement — trivially easy to predict. The two conditions reveal whether R² reflects real predictive power or dataset composition.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9F7996-7A6B-FE36-9CEC-30F1AD4CBB04}"/>
              </a:ext>
            </a:extLst>
          </p:cNvPr>
          <p:cNvSpPr txBox="1"/>
          <p:nvPr/>
        </p:nvSpPr>
        <p:spPr>
          <a:xfrm>
            <a:off x="389899" y="4705581"/>
            <a:ext cx="15828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5000" b="0" i="0" dirty="0">
                <a:solidFill>
                  <a:schemeClr val="bg1">
                    <a:alpha val="20000"/>
                  </a:schemeClr>
                </a:solidFill>
                <a:effectLst/>
                <a:latin typeface="GT Walsheim Trial Rg" pitchFamily="2" charset="7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500307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5D17-03D9-44FB-2525-A230A9DCF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879D5AE1-D670-17B5-C1A3-0D759721D43E}"/>
              </a:ext>
            </a:extLst>
          </p:cNvPr>
          <p:cNvSpPr/>
          <p:nvPr/>
        </p:nvSpPr>
        <p:spPr>
          <a:xfrm rot="8442973">
            <a:off x="-9874934" y="-3842844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37E2142-0FFF-FBCA-977C-BD6E52F367DE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08C5FC6B-2A30-8CF0-4995-D7BFA29BF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BDC90D8-8254-451E-8A54-63DD1F1D4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SECTION A - RESULTS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5BCE23-5067-2282-04B1-B7A52B3128DB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Results: Descriptive Statistics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15712-845E-BD5C-5877-2CC7215556E8}"/>
              </a:ext>
            </a:extLst>
          </p:cNvPr>
          <p:cNvSpPr/>
          <p:nvPr/>
        </p:nvSpPr>
        <p:spPr>
          <a:xfrm>
            <a:off x="854438" y="1839301"/>
            <a:ext cx="10723843" cy="450883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DBAAC-CC45-B6C4-5865-26D213AD62FB}"/>
              </a:ext>
            </a:extLst>
          </p:cNvPr>
          <p:cNvSpPr txBox="1"/>
          <p:nvPr/>
        </p:nvSpPr>
        <p:spPr>
          <a:xfrm>
            <a:off x="4270171" y="1880076"/>
            <a:ext cx="3651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ffectLst/>
                <a:latin typeface="GT Walsheim Trial Rg" pitchFamily="2" charset="77"/>
              </a:rPr>
              <a:t>Mean Speed by Agent Type (m/s)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67FE5B-F13A-94B5-C02F-038A0C8990B0}"/>
              </a:ext>
            </a:extLst>
          </p:cNvPr>
          <p:cNvSpPr txBox="1"/>
          <p:nvPr/>
        </p:nvSpPr>
        <p:spPr>
          <a:xfrm>
            <a:off x="7520578" y="9301668"/>
            <a:ext cx="33906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80 / 20 train / test split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5-fold cross-validation on training set.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Metrics: RMSE (meters) · R²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9F16F-0A5C-F265-F0A0-690C41791F6A}"/>
              </a:ext>
            </a:extLst>
          </p:cNvPr>
          <p:cNvSpPr/>
          <p:nvPr/>
        </p:nvSpPr>
        <p:spPr>
          <a:xfrm>
            <a:off x="-223735" y="10155892"/>
            <a:ext cx="6602278" cy="115649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723AF3-74A0-D29C-3621-6F5F9EFF648E}"/>
              </a:ext>
            </a:extLst>
          </p:cNvPr>
          <p:cNvSpPr txBox="1"/>
          <p:nvPr/>
        </p:nvSpPr>
        <p:spPr>
          <a:xfrm>
            <a:off x="541195" y="10314693"/>
            <a:ext cx="545808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Stationary agents have near-zero displacement — trivially easy to predict. The two conditions reveal whether R² reflects real predictive power or dataset composition.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CF2942-2A27-BC3B-2E88-D72CF9981F3D}"/>
              </a:ext>
            </a:extLst>
          </p:cNvPr>
          <p:cNvSpPr txBox="1"/>
          <p:nvPr/>
        </p:nvSpPr>
        <p:spPr>
          <a:xfrm>
            <a:off x="-688275" y="9607790"/>
            <a:ext cx="15828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5000" b="0" i="0" dirty="0">
                <a:solidFill>
                  <a:schemeClr val="bg1">
                    <a:alpha val="20000"/>
                  </a:schemeClr>
                </a:solidFill>
                <a:effectLst/>
                <a:latin typeface="GT Walsheim Trial Rg" pitchFamily="2" charset="77"/>
              </a:rPr>
              <a:t>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F32A97D-8C0A-55E5-E1FC-D4E82FD5E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186146"/>
              </p:ext>
            </p:extLst>
          </p:nvPr>
        </p:nvGraphicFramePr>
        <p:xfrm>
          <a:off x="854438" y="2721367"/>
          <a:ext cx="10723843" cy="206464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13651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3747930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4562262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</a:tblGrid>
              <a:tr h="29669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Agent Type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All Agent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Moving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Vehicle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2.47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6.74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Pedestrian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4.20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3.92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581534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Cyclist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1.01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1.01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1A8C484-CD19-7BCB-8ED6-8DA75F360705}"/>
              </a:ext>
            </a:extLst>
          </p:cNvPr>
          <p:cNvSpPr txBox="1"/>
          <p:nvPr/>
        </p:nvSpPr>
        <p:spPr>
          <a:xfrm>
            <a:off x="791803" y="5177461"/>
            <a:ext cx="107864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Without filtering: vehicles appear slower than cyclists due to stopped cars at intersections. Filtering restores expected ordering.</a:t>
            </a:r>
            <a:endParaRPr lang="en-US" dirty="0">
              <a:effectLst/>
              <a:latin typeface="GT Walsheim Trial Rg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1143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C1864-B821-A354-EF4D-BEA1BAB91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C8E9BA9D-DCF3-4861-65EB-D29E6BD5BF6E}"/>
              </a:ext>
            </a:extLst>
          </p:cNvPr>
          <p:cNvSpPr/>
          <p:nvPr/>
        </p:nvSpPr>
        <p:spPr>
          <a:xfrm rot="8442973">
            <a:off x="-9874934" y="-3842844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120A76A-6063-D435-D8DA-689329698EAB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CE773485-6780-02DC-B58E-3EECCE6B6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2EA372C-6D3A-EED6-6C44-E63BC22B6F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SECTION B - RESULTS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A362B-3511-B893-5B5B-8C6464343376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Results: Anomaly Detection Results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AA69BA-C691-5B0A-9C77-BCF673AA2090}"/>
              </a:ext>
            </a:extLst>
          </p:cNvPr>
          <p:cNvSpPr/>
          <p:nvPr/>
        </p:nvSpPr>
        <p:spPr>
          <a:xfrm>
            <a:off x="854438" y="1839301"/>
            <a:ext cx="10723843" cy="450883"/>
          </a:xfrm>
          <a:prstGeom prst="rect">
            <a:avLst/>
          </a:prstGeom>
          <a:solidFill>
            <a:srgbClr val="949A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B96CA1-CB36-826F-5576-3E7A3D1F46E7}"/>
              </a:ext>
            </a:extLst>
          </p:cNvPr>
          <p:cNvSpPr txBox="1"/>
          <p:nvPr/>
        </p:nvSpPr>
        <p:spPr>
          <a:xfrm>
            <a:off x="4001985" y="1892389"/>
            <a:ext cx="4188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ffectLst/>
                <a:latin typeface="GT Walsheim Trial Rg" pitchFamily="2" charset="77"/>
              </a:rPr>
              <a:t>Random Forest Classifier Performance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3328F-5B74-FF89-6105-41348B1621B6}"/>
              </a:ext>
            </a:extLst>
          </p:cNvPr>
          <p:cNvSpPr txBox="1"/>
          <p:nvPr/>
        </p:nvSpPr>
        <p:spPr>
          <a:xfrm>
            <a:off x="7520578" y="9301668"/>
            <a:ext cx="33906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80 / 20 train / test split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5-fold cross-validation on training set.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Metrics: RMSE (meters) · R²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A315BA-FB29-FE05-79F7-04FDFFF015FC}"/>
              </a:ext>
            </a:extLst>
          </p:cNvPr>
          <p:cNvSpPr/>
          <p:nvPr/>
        </p:nvSpPr>
        <p:spPr>
          <a:xfrm>
            <a:off x="-223735" y="10155892"/>
            <a:ext cx="6602278" cy="115649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B3246-6737-9678-1B7D-7F8D35A1BFDE}"/>
              </a:ext>
            </a:extLst>
          </p:cNvPr>
          <p:cNvSpPr txBox="1"/>
          <p:nvPr/>
        </p:nvSpPr>
        <p:spPr>
          <a:xfrm>
            <a:off x="541195" y="10314693"/>
            <a:ext cx="545808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Stationary agents have near-zero displacement — trivially easy to predict. The two conditions reveal whether R² reflects real predictive power or dataset composition.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3CB52F-9BFB-85AD-4F24-2D7EA4309EC4}"/>
              </a:ext>
            </a:extLst>
          </p:cNvPr>
          <p:cNvSpPr txBox="1"/>
          <p:nvPr/>
        </p:nvSpPr>
        <p:spPr>
          <a:xfrm>
            <a:off x="-688275" y="9607790"/>
            <a:ext cx="15828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5000" b="0" i="0" dirty="0">
                <a:solidFill>
                  <a:schemeClr val="bg1">
                    <a:alpha val="20000"/>
                  </a:schemeClr>
                </a:solidFill>
                <a:effectLst/>
                <a:latin typeface="GT Walsheim Trial Rg" pitchFamily="2" charset="77"/>
              </a:rPr>
              <a:t>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351178-9490-D064-1CA6-081BE3C86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2688522"/>
              </p:ext>
            </p:extLst>
          </p:nvPr>
        </p:nvGraphicFramePr>
        <p:xfrm>
          <a:off x="854438" y="2513195"/>
          <a:ext cx="10723843" cy="2885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13651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3747930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4562262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</a:tblGrid>
              <a:tr h="282420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Metric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9A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CV (Train)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9A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GT Walsheim Trial Rg" pitchFamily="2" charset="77"/>
                        </a:rPr>
                        <a:t>Test (Hold-out)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9A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AUC-ROC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0.887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b="0" i="0" dirty="0">
                        <a:solidFill>
                          <a:schemeClr val="tx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Sensitivity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0.836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0.796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Specificity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0.839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0.667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425920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Accuracy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b="0" i="0" dirty="0">
                        <a:solidFill>
                          <a:schemeClr val="tx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79.5%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985548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Balanced Accuracy	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b="0" i="0" dirty="0">
                        <a:solidFill>
                          <a:schemeClr val="tx1"/>
                        </a:solidFill>
                        <a:latin typeface="GT Walsheim Trial Rg" pitchFamily="2" charset="7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73.1%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0682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8370A88-D7AF-5FE5-ED80-AEF8EF0AA74E}"/>
              </a:ext>
            </a:extLst>
          </p:cNvPr>
          <p:cNvSpPr txBox="1"/>
          <p:nvPr/>
        </p:nvSpPr>
        <p:spPr>
          <a:xfrm>
            <a:off x="854438" y="5637952"/>
            <a:ext cx="10786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effectLst/>
                <a:latin typeface="GT Walsheim Trial Rg" pitchFamily="2" charset="77"/>
              </a:rPr>
              <a:t>Fisher's Exact Test: p = 0.0005 — anomalies are non-uniformly distributed across agent types.</a:t>
            </a:r>
            <a:endParaRPr lang="en-US" dirty="0">
              <a:effectLst/>
              <a:latin typeface="GT Walsheim Trial Rg" pitchFamily="2" charset="77"/>
            </a:endParaRPr>
          </a:p>
        </p:txBody>
      </p:sp>
      <p:pic>
        <p:nvPicPr>
          <p:cNvPr id="2" name="Picture 4" descr="Waymo branded color scheme">
            <a:extLst>
              <a:ext uri="{FF2B5EF4-FFF2-40B4-BE49-F238E27FC236}">
                <a16:creationId xmlns:a16="http://schemas.microsoft.com/office/drawing/2014/main" id="{2EEF9C1F-B66B-6B4A-9B7B-F8AC1776C5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9835" y="-1189446"/>
            <a:ext cx="5334000" cy="200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8322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F0CC6-4FF6-0E4E-CF61-DBA7A29F1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B627A361-7570-7601-C26C-091F1FFDB3EB}"/>
              </a:ext>
            </a:extLst>
          </p:cNvPr>
          <p:cNvSpPr/>
          <p:nvPr/>
        </p:nvSpPr>
        <p:spPr>
          <a:xfrm rot="8442973">
            <a:off x="-9874934" y="-3842844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34AB5F9-1251-1ADB-EB39-767E848BDE32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aymo Logo">
            <a:extLst>
              <a:ext uri="{FF2B5EF4-FFF2-40B4-BE49-F238E27FC236}">
                <a16:creationId xmlns:a16="http://schemas.microsoft.com/office/drawing/2014/main" id="{C50B9A37-2D86-6D3F-4E2F-9CF7F59F9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78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991148E-C7B3-AF37-6FBE-DB271201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rgbClr val="989DA2"/>
                </a:solidFill>
                <a:latin typeface="GT Walsheim Trial Rg" pitchFamily="2" charset="77"/>
              </a:rPr>
              <a:t>SECTION C - RESULTS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B3658-EC7A-F6E3-8994-CDBC3FB25E31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Results: Motion Prediction Results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87A699-1DBC-7AF5-4AE6-520309D6C5D0}"/>
              </a:ext>
            </a:extLst>
          </p:cNvPr>
          <p:cNvSpPr/>
          <p:nvPr/>
        </p:nvSpPr>
        <p:spPr>
          <a:xfrm>
            <a:off x="854437" y="2653828"/>
            <a:ext cx="10723843" cy="450883"/>
          </a:xfrm>
          <a:prstGeom prst="rect">
            <a:avLst/>
          </a:prstGeom>
          <a:solidFill>
            <a:srgbClr val="00E9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DED70-C2D4-D9B7-45D7-22A69B85F0AB}"/>
              </a:ext>
            </a:extLst>
          </p:cNvPr>
          <p:cNvSpPr txBox="1"/>
          <p:nvPr/>
        </p:nvSpPr>
        <p:spPr>
          <a:xfrm>
            <a:off x="3669370" y="2719553"/>
            <a:ext cx="4853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effectLst/>
                <a:latin typeface="GT Walsheim Trial Rg" pitchFamily="2" charset="77"/>
              </a:rPr>
              <a:t>Linear Regression — 5-Second Displacement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DCE13D-E535-FD3B-0A95-09E6729FE9B8}"/>
              </a:ext>
            </a:extLst>
          </p:cNvPr>
          <p:cNvSpPr txBox="1"/>
          <p:nvPr/>
        </p:nvSpPr>
        <p:spPr>
          <a:xfrm>
            <a:off x="7520578" y="9301668"/>
            <a:ext cx="33906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80 / 20 train / test split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5-fold cross-validation on training set.</a:t>
            </a:r>
          </a:p>
          <a:p>
            <a:r>
              <a:rPr lang="en-US" dirty="0">
                <a:solidFill>
                  <a:schemeClr val="bg1"/>
                </a:solidFill>
                <a:latin typeface="GT Walsheim Trial Rg" pitchFamily="2" charset="77"/>
              </a:rPr>
              <a:t>— Metrics: RMSE (meters) · R²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35D3E9-166B-C73D-983C-9037ED5FBDAE}"/>
              </a:ext>
            </a:extLst>
          </p:cNvPr>
          <p:cNvSpPr/>
          <p:nvPr/>
        </p:nvSpPr>
        <p:spPr>
          <a:xfrm>
            <a:off x="-223735" y="10155892"/>
            <a:ext cx="6602278" cy="1156496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5442DB-9CB5-8433-9C85-CAA8A70DE15A}"/>
              </a:ext>
            </a:extLst>
          </p:cNvPr>
          <p:cNvSpPr txBox="1"/>
          <p:nvPr/>
        </p:nvSpPr>
        <p:spPr>
          <a:xfrm>
            <a:off x="541195" y="10314693"/>
            <a:ext cx="545808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Stationary agents have near-zero displacement — trivially easy to predict. The two conditions reveal whether R² reflects real predictive power or dataset composition.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D74C3E-1364-321F-88E2-266F00FB162C}"/>
              </a:ext>
            </a:extLst>
          </p:cNvPr>
          <p:cNvSpPr txBox="1"/>
          <p:nvPr/>
        </p:nvSpPr>
        <p:spPr>
          <a:xfrm>
            <a:off x="-688275" y="9607790"/>
            <a:ext cx="15828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5000" b="0" i="0" dirty="0">
                <a:solidFill>
                  <a:schemeClr val="bg1">
                    <a:alpha val="20000"/>
                  </a:schemeClr>
                </a:solidFill>
                <a:effectLst/>
                <a:latin typeface="GT Walsheim Trial Rg" pitchFamily="2" charset="77"/>
              </a:rPr>
              <a:t>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62909D0-5DBE-A4D8-895C-489D7175BA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700862"/>
              </p:ext>
            </p:extLst>
          </p:nvPr>
        </p:nvGraphicFramePr>
        <p:xfrm>
          <a:off x="854438" y="3575329"/>
          <a:ext cx="10723843" cy="13463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72194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1251284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  <a:gridCol w="1766635">
                  <a:extLst>
                    <a:ext uri="{9D8B030D-6E8A-4147-A177-3AD203B41FA5}">
                      <a16:colId xmlns:a16="http://schemas.microsoft.com/office/drawing/2014/main" val="3740313691"/>
                    </a:ext>
                  </a:extLst>
                </a:gridCol>
                <a:gridCol w="3016865">
                  <a:extLst>
                    <a:ext uri="{9D8B030D-6E8A-4147-A177-3AD203B41FA5}">
                      <a16:colId xmlns:a16="http://schemas.microsoft.com/office/drawing/2014/main" val="1965573024"/>
                    </a:ext>
                  </a:extLst>
                </a:gridCol>
                <a:gridCol w="3016865">
                  <a:extLst>
                    <a:ext uri="{9D8B030D-6E8A-4147-A177-3AD203B41FA5}">
                      <a16:colId xmlns:a16="http://schemas.microsoft.com/office/drawing/2014/main" val="3154632494"/>
                    </a:ext>
                  </a:extLst>
                </a:gridCol>
              </a:tblGrid>
              <a:tr h="282420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Dataset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Test RMSE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Test (Hold-out)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CV RMSE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CV R²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With stationary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7.44 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7.65 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0.886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  <a:tr h="513176"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Sensitivity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13.15 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0.728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10.05 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GT Walsheim Trial Rg" pitchFamily="2" charset="77"/>
                        </a:rPr>
                        <a:t>0.860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999530"/>
                  </a:ext>
                </a:extLst>
              </a:tr>
            </a:tbl>
          </a:graphicData>
        </a:graphic>
      </p:graphicFrame>
      <p:pic>
        <p:nvPicPr>
          <p:cNvPr id="2" name="Picture 4" descr="Waymo branded color scheme">
            <a:extLst>
              <a:ext uri="{FF2B5EF4-FFF2-40B4-BE49-F238E27FC236}">
                <a16:creationId xmlns:a16="http://schemas.microsoft.com/office/drawing/2014/main" id="{9CE7A80A-CF17-8BE3-83A6-FDFE76F88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9835" y="-1189446"/>
            <a:ext cx="5334000" cy="200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3023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40BB2-3C42-E34A-8AFF-F25F9AFE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ECE07610-6E42-A93E-126B-E09C59679D9B}"/>
              </a:ext>
            </a:extLst>
          </p:cNvPr>
          <p:cNvSpPr/>
          <p:nvPr/>
        </p:nvSpPr>
        <p:spPr>
          <a:xfrm>
            <a:off x="-2930419" y="731435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bg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E3491-133E-5852-AED7-1D51A8BE07AD}"/>
              </a:ext>
            </a:extLst>
          </p:cNvPr>
          <p:cNvSpPr/>
          <p:nvPr/>
        </p:nvSpPr>
        <p:spPr>
          <a:xfrm rot="8442973">
            <a:off x="-5972043" y="-3482075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4AB52E74-403F-30CE-50F4-FC32B71D0CD3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7B81A-3031-125C-C9A0-1E349454E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>
                    <a:lumMod val="50000"/>
                  </a:schemeClr>
                </a:solidFill>
                <a:latin typeface="GT Walsheim Trial Rg" pitchFamily="2" charset="77"/>
              </a:rPr>
              <a:t>DISCUSSION &amp; LIMITATIONS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0766A1-F5E6-86C4-C24B-32380859A801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What the Results Tell Us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E7019D-8AD8-8C02-3318-76B6884D43C1}"/>
              </a:ext>
            </a:extLst>
          </p:cNvPr>
          <p:cNvSpPr/>
          <p:nvPr/>
        </p:nvSpPr>
        <p:spPr>
          <a:xfrm>
            <a:off x="879133" y="4776426"/>
            <a:ext cx="10806444" cy="1769724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153C6E-1E0C-F37E-1C64-8D2D03D85816}"/>
              </a:ext>
            </a:extLst>
          </p:cNvPr>
          <p:cNvSpPr txBox="1"/>
          <p:nvPr/>
        </p:nvSpPr>
        <p:spPr>
          <a:xfrm>
            <a:off x="3427989" y="5071653"/>
            <a:ext cx="825758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Pseudo-labels: </a:t>
            </a:r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46 anomaly labels come from IF scores, not verified ground truth 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— test specificity of 0.667 reflects this noise</a:t>
            </a:r>
          </a:p>
          <a:p>
            <a:pPr algn="l"/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Single frame: </a:t>
            </a:r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We use one snapshot per agent, ignoring the full 20-second trajectory</a:t>
            </a:r>
          </a:p>
          <a:p>
            <a:pPr algn="l"/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Linear model: </a:t>
            </a:r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Pedestrian and cyclist motion may be nonlinear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  <a:effectLst/>
                <a:latin typeface="GT Walsheim Trial Lt" pitchFamily="2" charset="77"/>
              </a:rPr>
              <a:t>No temporal context: Isolation Forest operates on instantaneous kinematics only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8C9A665-9386-285B-761B-808044E11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0078"/>
              </p:ext>
            </p:extLst>
          </p:nvPr>
        </p:nvGraphicFramePr>
        <p:xfrm>
          <a:off x="879133" y="1717968"/>
          <a:ext cx="10806444" cy="305845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550583">
                  <a:extLst>
                    <a:ext uri="{9D8B030D-6E8A-4147-A177-3AD203B41FA5}">
                      <a16:colId xmlns:a16="http://schemas.microsoft.com/office/drawing/2014/main" val="1610543496"/>
                    </a:ext>
                  </a:extLst>
                </a:gridCol>
                <a:gridCol w="5255861">
                  <a:extLst>
                    <a:ext uri="{9D8B030D-6E8A-4147-A177-3AD203B41FA5}">
                      <a16:colId xmlns:a16="http://schemas.microsoft.com/office/drawing/2014/main" val="2940384537"/>
                    </a:ext>
                  </a:extLst>
                </a:gridCol>
              </a:tblGrid>
              <a:tr h="795103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solidFill>
                            <a:schemeClr val="bg1"/>
                          </a:solidFill>
                          <a:latin typeface="GT Walsheim Trial Lt" pitchFamily="2" charset="77"/>
                        </a:rPr>
                        <a:t>Takeaway 1: </a:t>
                      </a:r>
                      <a:r>
                        <a:rPr lang="en-US" sz="2000" b="0" i="0" dirty="0">
                          <a:solidFill>
                            <a:schemeClr val="bg1"/>
                          </a:solidFill>
                          <a:latin typeface="GT Walsheim Trial Lt" pitchFamily="2" charset="77"/>
                        </a:rPr>
                        <a:t>Unsupervised detection works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solidFill>
                            <a:schemeClr val="bg1"/>
                          </a:solidFill>
                          <a:latin typeface="GT Walsheim Trial Lt" pitchFamily="2" charset="77"/>
                        </a:rPr>
                        <a:t>Takeaway 2: </a:t>
                      </a:r>
                      <a:r>
                        <a:rPr lang="en-US" sz="2000" b="0" i="0" dirty="0">
                          <a:solidFill>
                            <a:schemeClr val="bg1"/>
                          </a:solidFill>
                          <a:latin typeface="GT Walsheim Trial Lt" pitchFamily="2" charset="77"/>
                        </a:rPr>
                        <a:t>Dataset composition dominates metrics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E9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759275"/>
                  </a:ext>
                </a:extLst>
              </a:tr>
              <a:tr h="2263353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IF</a:t>
                      </a:r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 scores carry real discriminative signal</a:t>
                      </a:r>
                    </a:p>
                    <a:p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p = 0.0005 confirms structure, not noise</a:t>
                      </a:r>
                    </a:p>
                    <a:p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Anomalies concentrate in pedestrians / cyclists — consistent with irregular urban kinematics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Removing stationary agents: </a:t>
                      </a:r>
                      <a:r>
                        <a:rPr lang="el-GR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Δ</a:t>
                      </a:r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R² = −0.15</a:t>
                      </a:r>
                    </a:p>
                    <a:p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Not a model failure — a dataset artifact</a:t>
                      </a:r>
                    </a:p>
                    <a:p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Benchmarks on mixed populations are inflated</a:t>
                      </a:r>
                    </a:p>
                    <a:p>
                      <a:r>
                        <a:rPr lang="en-US" sz="2000" b="0" i="0" dirty="0">
                          <a:solidFill>
                            <a:schemeClr val="tx1"/>
                          </a:solidFill>
                          <a:latin typeface="GT Walsheim Trial Lt" pitchFamily="2" charset="77"/>
                        </a:rPr>
                        <a:t>Moving-only evaluation is the honest number for dynamic AV deployment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32601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B7F27829-A56B-75C3-A5EB-72FC234A659F}"/>
              </a:ext>
            </a:extLst>
          </p:cNvPr>
          <p:cNvSpPr txBox="1"/>
          <p:nvPr/>
        </p:nvSpPr>
        <p:spPr>
          <a:xfrm>
            <a:off x="1371631" y="5054157"/>
            <a:ext cx="19983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Limitations: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FE0CD59-6F6E-ED93-CEB3-19849074D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86" t="87411" r="27835" b="1491"/>
          <a:stretch>
            <a:fillRect/>
          </a:stretch>
        </p:blipFill>
        <p:spPr>
          <a:xfrm>
            <a:off x="879134" y="4776425"/>
            <a:ext cx="10806444" cy="1769724"/>
          </a:xfrm>
          <a:prstGeom prst="rect">
            <a:avLst/>
          </a:prstGeom>
        </p:spPr>
      </p:pic>
      <p:pic>
        <p:nvPicPr>
          <p:cNvPr id="25" name="Picture 6" descr="Our Trademarks">
            <a:extLst>
              <a:ext uri="{FF2B5EF4-FFF2-40B4-BE49-F238E27FC236}">
                <a16:creationId xmlns:a16="http://schemas.microsoft.com/office/drawing/2014/main" id="{E5ECF3E2-F5F6-68CC-966D-3D9466FFF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5929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832C7-E16C-82AE-0DC3-4FE754E27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C35DA274-6EF3-81A7-8C7C-B5640A75B7A4}"/>
              </a:ext>
            </a:extLst>
          </p:cNvPr>
          <p:cNvSpPr/>
          <p:nvPr/>
        </p:nvSpPr>
        <p:spPr>
          <a:xfrm rot="18642272">
            <a:off x="-4065349" y="228312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bg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165C40B-D0FE-8C9F-28C2-9101A9B9032B}"/>
              </a:ext>
            </a:extLst>
          </p:cNvPr>
          <p:cNvSpPr/>
          <p:nvPr/>
        </p:nvSpPr>
        <p:spPr>
          <a:xfrm rot="8442973">
            <a:off x="273089" y="-285804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34C32B5-B971-CE3A-F94C-B749057E6BC4}"/>
              </a:ext>
            </a:extLst>
          </p:cNvPr>
          <p:cNvSpPr/>
          <p:nvPr/>
        </p:nvSpPr>
        <p:spPr>
          <a:xfrm rot="18406025">
            <a:off x="2075489" y="3958667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E47083-9B74-4380-91D4-E547BACDD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478" y="447821"/>
            <a:ext cx="3073202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>
                    <a:lumMod val="50000"/>
                  </a:schemeClr>
                </a:solidFill>
                <a:latin typeface="GT Walsheim Trial Rg" pitchFamily="2" charset="77"/>
              </a:rPr>
              <a:t>CONCLUSION &amp; FUTURE 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B4EAA1-4ED1-31C7-22A3-49CEFB3AE248}"/>
              </a:ext>
            </a:extLst>
          </p:cNvPr>
          <p:cNvSpPr txBox="1"/>
          <p:nvPr/>
        </p:nvSpPr>
        <p:spPr>
          <a:xfrm>
            <a:off x="716476" y="952090"/>
            <a:ext cx="923641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GT Walsheim Trial Rg" pitchFamily="2" charset="77"/>
              </a:rPr>
              <a:t>Summary &amp; Next Steps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99083C-59BD-782B-B7F4-D931B59326CB}"/>
              </a:ext>
            </a:extLst>
          </p:cNvPr>
          <p:cNvSpPr/>
          <p:nvPr/>
        </p:nvSpPr>
        <p:spPr>
          <a:xfrm>
            <a:off x="7338349" y="1380417"/>
            <a:ext cx="4347228" cy="5011600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E1C4DD-8373-7CDB-8065-43E32594ABFD}"/>
              </a:ext>
            </a:extLst>
          </p:cNvPr>
          <p:cNvSpPr txBox="1"/>
          <p:nvPr/>
        </p:nvSpPr>
        <p:spPr>
          <a:xfrm>
            <a:off x="7556783" y="2458215"/>
            <a:ext cx="403604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Temporal features over the full 20-second trajectory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Validate anomalies against Waymo's </a:t>
            </a:r>
            <a:r>
              <a:rPr lang="en-US" sz="1500" b="1" dirty="0" err="1">
                <a:solidFill>
                  <a:schemeClr val="bg1"/>
                </a:solidFill>
                <a:effectLst/>
                <a:latin typeface="GT Walsheim Trial Lt" pitchFamily="2" charset="77"/>
              </a:rPr>
              <a:t>IsInteractive</a:t>
            </a:r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 ground-truth flags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1500" b="1" dirty="0" err="1">
                <a:solidFill>
                  <a:schemeClr val="bg1"/>
                </a:solidFill>
                <a:effectLst/>
                <a:latin typeface="GT Walsheim Trial Lt" pitchFamily="2" charset="77"/>
              </a:rPr>
              <a:t>Mahalanobis</a:t>
            </a:r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 distance scoring as IF alternative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1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Neural extensions benchmarked against these baselines</a:t>
            </a:r>
            <a:endParaRPr lang="en-US" sz="1500" dirty="0">
              <a:solidFill>
                <a:schemeClr val="bg1"/>
              </a:solidFill>
              <a:effectLst/>
              <a:latin typeface="GT Walsheim Trial Lt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510FE-BF00-632E-A028-2202135CE25D}"/>
              </a:ext>
            </a:extLst>
          </p:cNvPr>
          <p:cNvSpPr txBox="1"/>
          <p:nvPr/>
        </p:nvSpPr>
        <p:spPr>
          <a:xfrm>
            <a:off x="7513629" y="1598875"/>
            <a:ext cx="19983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500" b="1" dirty="0">
                <a:solidFill>
                  <a:schemeClr val="bg1"/>
                </a:solidFill>
                <a:effectLst/>
                <a:latin typeface="GT Walsheim Trial Lt" pitchFamily="2" charset="77"/>
              </a:rPr>
              <a:t>Next Steps:</a:t>
            </a:r>
          </a:p>
        </p:txBody>
      </p:sp>
      <p:pic>
        <p:nvPicPr>
          <p:cNvPr id="25" name="Picture 6" descr="Our Trademarks">
            <a:extLst>
              <a:ext uri="{FF2B5EF4-FFF2-40B4-BE49-F238E27FC236}">
                <a16:creationId xmlns:a16="http://schemas.microsoft.com/office/drawing/2014/main" id="{8AC0A937-0788-4131-59F3-A8C7A9FF1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831" y="411156"/>
            <a:ext cx="811996" cy="81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EEE6FE-49E0-4259-CA52-4B43AD6E17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978" t="59219" r="21427" b="9323"/>
          <a:stretch>
            <a:fillRect/>
          </a:stretch>
        </p:blipFill>
        <p:spPr>
          <a:xfrm>
            <a:off x="7338349" y="1303261"/>
            <a:ext cx="4347228" cy="50887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15E6E49-4B9E-9AEA-6F7B-7F6924C96A5A}"/>
              </a:ext>
            </a:extLst>
          </p:cNvPr>
          <p:cNvSpPr/>
          <p:nvPr/>
        </p:nvSpPr>
        <p:spPr>
          <a:xfrm>
            <a:off x="854438" y="1839301"/>
            <a:ext cx="6023791" cy="410107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AA412A-25B2-AF5C-1E13-9D096E35036A}"/>
              </a:ext>
            </a:extLst>
          </p:cNvPr>
          <p:cNvSpPr txBox="1"/>
          <p:nvPr/>
        </p:nvSpPr>
        <p:spPr>
          <a:xfrm>
            <a:off x="2303327" y="1880076"/>
            <a:ext cx="3651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ffectLst/>
                <a:latin typeface="GT Walsheim Trial Rg" pitchFamily="2" charset="77"/>
              </a:rPr>
              <a:t>Stage 1 — Anomaly Detection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1CCC51-F9D7-C3EE-2AD3-74AD2FD84C9F}"/>
              </a:ext>
            </a:extLst>
          </p:cNvPr>
          <p:cNvSpPr/>
          <p:nvPr/>
        </p:nvSpPr>
        <p:spPr>
          <a:xfrm>
            <a:off x="854439" y="2249408"/>
            <a:ext cx="6023790" cy="17269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E0B4A4-DA8B-111F-3050-29689F929009}"/>
              </a:ext>
            </a:extLst>
          </p:cNvPr>
          <p:cNvSpPr txBox="1"/>
          <p:nvPr/>
        </p:nvSpPr>
        <p:spPr>
          <a:xfrm>
            <a:off x="1111344" y="2344571"/>
            <a:ext cx="54704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effectLst/>
                <a:latin typeface="GT Walsheim Trial Rg" pitchFamily="2" charset="77"/>
              </a:rPr>
              <a:t>Isolation Forest on Speed / Acceleration / Yaw Rate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Fisher's Exact Test: p &lt; 0.001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Random Forest characterization: AUC = 0.887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E24743-4957-655A-9637-09CF630FA311}"/>
              </a:ext>
            </a:extLst>
          </p:cNvPr>
          <p:cNvSpPr/>
          <p:nvPr/>
        </p:nvSpPr>
        <p:spPr>
          <a:xfrm>
            <a:off x="854437" y="3917063"/>
            <a:ext cx="6023789" cy="410107"/>
          </a:xfrm>
          <a:prstGeom prst="rect">
            <a:avLst/>
          </a:prstGeom>
          <a:solidFill>
            <a:srgbClr val="007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B6C494-6849-4DC3-3214-377A9BC1D687}"/>
              </a:ext>
            </a:extLst>
          </p:cNvPr>
          <p:cNvSpPr txBox="1"/>
          <p:nvPr/>
        </p:nvSpPr>
        <p:spPr>
          <a:xfrm>
            <a:off x="2303327" y="3956571"/>
            <a:ext cx="3651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ffectLst/>
                <a:latin typeface="GT Walsheim Trial Rg" pitchFamily="2" charset="77"/>
              </a:rPr>
              <a:t>Stage 2 — Motion Prediction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440E3B-E290-C53E-C81C-5FEEAB5E88CE}"/>
              </a:ext>
            </a:extLst>
          </p:cNvPr>
          <p:cNvSpPr/>
          <p:nvPr/>
        </p:nvSpPr>
        <p:spPr>
          <a:xfrm>
            <a:off x="854438" y="4325903"/>
            <a:ext cx="6023787" cy="2066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6FAF6F-BA54-EE19-D537-61EC67F11E48}"/>
              </a:ext>
            </a:extLst>
          </p:cNvPr>
          <p:cNvSpPr txBox="1"/>
          <p:nvPr/>
        </p:nvSpPr>
        <p:spPr>
          <a:xfrm>
            <a:off x="1111344" y="4534710"/>
            <a:ext cx="4984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effectLst/>
                <a:latin typeface="GT Walsheim Trial Rg" pitchFamily="2" charset="77"/>
              </a:rPr>
              <a:t>Linear regression on 5 kinematic features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R² = 0.88 with stationary agents included</a:t>
            </a:r>
          </a:p>
          <a:p>
            <a:pPr algn="l"/>
            <a:r>
              <a:rPr lang="en-US" dirty="0">
                <a:effectLst/>
                <a:latin typeface="GT Walsheim Trial Rg" pitchFamily="2" charset="77"/>
              </a:rPr>
              <a:t>Strong classical baseline</a:t>
            </a:r>
          </a:p>
        </p:txBody>
      </p:sp>
    </p:spTree>
    <p:extLst>
      <p:ext uri="{BB962C8B-B14F-4D97-AF65-F5344CB8AC3E}">
        <p14:creationId xmlns:p14="http://schemas.microsoft.com/office/powerpoint/2010/main" val="133968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7E574-BA2C-17A7-1E2C-F4B425D66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7AAD4915-0FC5-A636-D1C9-48442BD8C637}"/>
              </a:ext>
            </a:extLst>
          </p:cNvPr>
          <p:cNvSpPr/>
          <p:nvPr/>
        </p:nvSpPr>
        <p:spPr>
          <a:xfrm rot="11378996">
            <a:off x="-7077442" y="-6722990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rgbClr val="0078FF">
                <a:alpha val="1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E5AFA8-897D-89F3-829B-E8ED50E342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99146" y="2564809"/>
            <a:ext cx="593707" cy="369333"/>
          </a:xfrm>
        </p:spPr>
        <p:txBody>
          <a:bodyPr>
            <a:normAutofit/>
          </a:bodyPr>
          <a:lstStyle/>
          <a:p>
            <a:pPr algn="l"/>
            <a:r>
              <a:rPr lang="en-US" sz="1500" dirty="0">
                <a:solidFill>
                  <a:schemeClr val="bg1">
                    <a:lumMod val="50000"/>
                  </a:schemeClr>
                </a:solidFill>
                <a:latin typeface="GT Walsheim Trial Rg" pitchFamily="2" charset="77"/>
              </a:rPr>
              <a:t>Q&amp;A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B8995F-90AD-BA12-17F4-1B3AA71981D0}"/>
              </a:ext>
            </a:extLst>
          </p:cNvPr>
          <p:cNvSpPr txBox="1"/>
          <p:nvPr/>
        </p:nvSpPr>
        <p:spPr>
          <a:xfrm>
            <a:off x="3534690" y="3113529"/>
            <a:ext cx="512262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GT Walsheim Trial Rg" pitchFamily="2" charset="77"/>
              </a:rPr>
              <a:t>Thank You — Questions?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170379-EBCF-A8B2-1844-BDEA31337594}"/>
              </a:ext>
            </a:extLst>
          </p:cNvPr>
          <p:cNvSpPr txBox="1">
            <a:spLocks/>
          </p:cNvSpPr>
          <p:nvPr/>
        </p:nvSpPr>
        <p:spPr>
          <a:xfrm>
            <a:off x="667840" y="5634668"/>
            <a:ext cx="7716982" cy="81235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dirty="0">
                <a:latin typeface="GT Walsheim Trial Lt" pitchFamily="2" charset="77"/>
              </a:rPr>
              <a:t>Pavel Stepanov — pas273@miami.edu 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Ramses </a:t>
            </a:r>
            <a:r>
              <a:rPr lang="en-US" sz="1500" dirty="0" err="1">
                <a:latin typeface="GT Walsheim Trial Lt" pitchFamily="2" charset="77"/>
              </a:rPr>
              <a:t>Loaces</a:t>
            </a:r>
            <a:r>
              <a:rPr lang="en-US" sz="1500" dirty="0">
                <a:latin typeface="GT Walsheim Trial Lt" pitchFamily="2" charset="77"/>
              </a:rPr>
              <a:t> — rxl1238@miami.edu </a:t>
            </a:r>
          </a:p>
          <a:p>
            <a:pPr algn="l"/>
            <a:r>
              <a:rPr lang="en-US" sz="1500" dirty="0">
                <a:latin typeface="GT Walsheim Trial Lt" pitchFamily="2" charset="77"/>
              </a:rPr>
              <a:t>Justin Cabrera — justin.cabrera2718@gmail.com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BEF8BFE-1A39-B5C6-6B2C-112A143B57EC}"/>
              </a:ext>
            </a:extLst>
          </p:cNvPr>
          <p:cNvSpPr/>
          <p:nvPr/>
        </p:nvSpPr>
        <p:spPr>
          <a:xfrm rot="7324454">
            <a:off x="-2480422" y="2041082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chemeClr val="tx1">
                <a:alpha val="3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677AE4-B749-DB39-6C03-5EF036A2B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4171" y="2838717"/>
            <a:ext cx="5047322" cy="5591901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D7F84D88-8751-67E1-FB67-C0ADF00814AF}"/>
              </a:ext>
            </a:extLst>
          </p:cNvPr>
          <p:cNvSpPr/>
          <p:nvPr/>
        </p:nvSpPr>
        <p:spPr>
          <a:xfrm rot="1800000">
            <a:off x="-10680182" y="2041080"/>
            <a:ext cx="18800064" cy="7187173"/>
          </a:xfrm>
          <a:custGeom>
            <a:avLst/>
            <a:gdLst>
              <a:gd name="csX0" fmla="*/ 0 w 18800064"/>
              <a:gd name="csY0" fmla="*/ 7187173 h 7187173"/>
              <a:gd name="csX1" fmla="*/ 7863840 w 18800064"/>
              <a:gd name="csY1" fmla="*/ 18277 h 7187173"/>
              <a:gd name="csX2" fmla="*/ 18800064 w 18800064"/>
              <a:gd name="csY2" fmla="*/ 5248645 h 718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800064" h="7187173">
                <a:moveTo>
                  <a:pt x="0" y="7187173"/>
                </a:moveTo>
                <a:cubicBezTo>
                  <a:pt x="2365248" y="3764269"/>
                  <a:pt x="4730496" y="341365"/>
                  <a:pt x="7863840" y="18277"/>
                </a:cubicBezTo>
                <a:cubicBezTo>
                  <a:pt x="10997184" y="-304811"/>
                  <a:pt x="17586960" y="3742933"/>
                  <a:pt x="18800064" y="5248645"/>
                </a:cubicBezTo>
              </a:path>
            </a:pathLst>
          </a:custGeom>
          <a:noFill/>
          <a:ln w="635000">
            <a:solidFill>
              <a:srgbClr val="00E9A0">
                <a:alpha val="24377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4" name="Picture 2" descr="Waymo Logo">
            <a:extLst>
              <a:ext uri="{FF2B5EF4-FFF2-40B4-BE49-F238E27FC236}">
                <a16:creationId xmlns:a16="http://schemas.microsoft.com/office/drawing/2014/main" id="{07B7D2D7-7668-D305-3F88-F3DD6F63D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840" y="425703"/>
            <a:ext cx="782903" cy="78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0666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1967</Words>
  <Application>Microsoft Macintosh PowerPoint</Application>
  <PresentationFormat>Widescreen</PresentationFormat>
  <Paragraphs>290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GT Walsheim Trial Bd</vt:lpstr>
      <vt:lpstr>GT Walsheim Trial Lt</vt:lpstr>
      <vt:lpstr>GT Walsheim Trial Md</vt:lpstr>
      <vt:lpstr>GT Walsheim Trial Rg</vt:lpstr>
      <vt:lpstr>GT Walsheim Trial Th</vt:lpstr>
      <vt:lpstr>Office Theme</vt:lpstr>
      <vt:lpstr>Unsupervised Statistical Learning for Kinematic Anomaly Detection in Autonomous Driving Scenarios</vt:lpstr>
      <vt:lpstr>PROBLEM</vt:lpstr>
      <vt:lpstr>MOTIVATION</vt:lpstr>
      <vt:lpstr>RELATED WORK</vt:lpstr>
      <vt:lpstr>DATASET &amp; PIPLINE</vt:lpstr>
      <vt:lpstr>DATASET &amp; PIPLINE [AGENT TYPE]</vt:lpstr>
      <vt:lpstr>METHODS: ANOMALY DETECTION</vt:lpstr>
      <vt:lpstr>MOTION PREDICTION</vt:lpstr>
      <vt:lpstr>SECTION A - RESULTS  </vt:lpstr>
      <vt:lpstr>SECTION B - RESULTS  </vt:lpstr>
      <vt:lpstr>SECTION C - RESULTS  </vt:lpstr>
      <vt:lpstr>DISCUSSION &amp; LIMITATIONS</vt:lpstr>
      <vt:lpstr>CONCLUSION &amp; FUTURE WORK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Stepanov, Pavel Aleksandrovich</dc:creator>
  <cp:lastModifiedBy>Stepanov, Pavel Aleksandrovich</cp:lastModifiedBy>
  <cp:revision>4</cp:revision>
  <dcterms:created xsi:type="dcterms:W3CDTF">2026-04-11T16:24:40Z</dcterms:created>
  <dcterms:modified xsi:type="dcterms:W3CDTF">2026-04-12T02:08:47Z</dcterms:modified>
</cp:coreProperties>
</file>