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8" r:id="rId3"/>
    <p:sldId id="259" r:id="rId4"/>
    <p:sldId id="260" r:id="rId5"/>
    <p:sldId id="262" r:id="rId6"/>
    <p:sldId id="263" r:id="rId7"/>
    <p:sldId id="264" r:id="rId8"/>
    <p:sldId id="272" r:id="rId9"/>
    <p:sldId id="265" r:id="rId10"/>
    <p:sldId id="266" r:id="rId11"/>
    <p:sldId id="267" r:id="rId12"/>
    <p:sldId id="268" r:id="rId13"/>
    <p:sldId id="269" r:id="rId14"/>
    <p:sldId id="270" r:id="rId15"/>
    <p:sldId id="27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8FF"/>
    <a:srgbClr val="00E9A0"/>
    <a:srgbClr val="23233B"/>
    <a:srgbClr val="949AA0"/>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57" dt="2026-04-12T03:18:04.60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6"/>
    <p:restoredTop sz="62926"/>
  </p:normalViewPr>
  <p:slideViewPr>
    <p:cSldViewPr snapToGrid="0">
      <p:cViewPr>
        <p:scale>
          <a:sx n="84" d="100"/>
          <a:sy n="84" d="100"/>
        </p:scale>
        <p:origin x="3856" y="-400"/>
      </p:cViewPr>
      <p:guideLst/>
    </p:cSldViewPr>
  </p:slideViewPr>
  <p:notesTextViewPr>
    <p:cViewPr>
      <p:scale>
        <a:sx n="145" d="100"/>
        <a:sy n="145" d="100"/>
      </p:scale>
      <p:origin x="0" y="-224"/>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modSld">
      <pc:chgData name="Stepanov, Pavel Aleksandrovich" userId="b85f6bca-230c-483e-a25b-e13e873626fd" providerId="ADAL" clId="{AB235781-41D1-50B9-86EA-51A98A5F500A}" dt="2026-04-12T03:18:07.237" v="432" actId="1076"/>
      <pc:docMkLst>
        <pc:docMk/>
      </pc:docMkLst>
      <pc:sldChg chg="modNotesTx">
        <pc:chgData name="Stepanov, Pavel Aleksandrovich" userId="b85f6bca-230c-483e-a25b-e13e873626fd" providerId="ADAL" clId="{AB235781-41D1-50B9-86EA-51A98A5F500A}" dt="2026-04-12T02:27:22.605" v="91" actId="20577"/>
        <pc:sldMkLst>
          <pc:docMk/>
          <pc:sldMk cId="3542837740" sldId="256"/>
        </pc:sldMkLst>
      </pc:sldChg>
      <pc:sldChg chg="modSp mod modNotesTx">
        <pc:chgData name="Stepanov, Pavel Aleksandrovich" userId="b85f6bca-230c-483e-a25b-e13e873626fd" providerId="ADAL" clId="{AB235781-41D1-50B9-86EA-51A98A5F500A}" dt="2026-04-12T02:28:02.687" v="92" actId="20577"/>
        <pc:sldMkLst>
          <pc:docMk/>
          <pc:sldMk cId="2587833539" sldId="258"/>
        </pc:sldMkLst>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03:10:56.989" v="313" actId="1076"/>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18:07.237" v="432" actId="1076"/>
        <pc:sldMkLst>
          <pc:docMk/>
          <pc:sldMk cId="2414567693" sldId="263"/>
        </pc:sldMkLst>
        <pc:spChg chg="mod">
          <ac:chgData name="Stepanov, Pavel Aleksandrovich" userId="b85f6bca-230c-483e-a25b-e13e873626fd" providerId="ADAL" clId="{AB235781-41D1-50B9-86EA-51A98A5F500A}" dt="2026-04-12T03:10:36.616" v="307" actId="20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mod modShow modNotesTx">
        <pc:chgData name="Stepanov, Pavel Aleksandrovich" userId="b85f6bca-230c-483e-a25b-e13e873626fd" providerId="ADAL" clId="{AB235781-41D1-50B9-86EA-51A98A5F500A}" dt="2026-04-12T02:51:55.024" v="225" actId="20577"/>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02:42:56.728" v="181" actId="20577"/>
        <pc:sldMkLst>
          <pc:docMk/>
          <pc:sldMk cId="3511431320" sldId="266"/>
        </pc:sldMkLst>
      </pc:sldChg>
      <pc:sldChg chg="mod modShow modNotesTx">
        <pc:chgData name="Stepanov, Pavel Aleksandrovich" userId="b85f6bca-230c-483e-a25b-e13e873626fd" providerId="ADAL" clId="{AB235781-41D1-50B9-86EA-51A98A5F500A}" dt="2026-04-12T02:42:42.920" v="179" actId="729"/>
        <pc:sldMkLst>
          <pc:docMk/>
          <pc:sldMk cId="3688322972" sldId="267"/>
        </pc:sldMkLst>
      </pc:sldChg>
      <pc:sldChg chg="modNotesTx">
        <pc:chgData name="Stepanov, Pavel Aleksandrovich" userId="b85f6bca-230c-483e-a25b-e13e873626fd" providerId="ADAL" clId="{AB235781-41D1-50B9-86EA-51A98A5F500A}" dt="2026-04-12T02:42:00.570" v="178" actId="20577"/>
        <pc:sldMkLst>
          <pc:docMk/>
          <pc:sldMk cId="3183023199" sldId="268"/>
        </pc:sldMkLst>
      </pc:sldChg>
      <pc:sldChg chg="delSp modSp mod modNotesTx">
        <pc:chgData name="Stepanov, Pavel Aleksandrovich" userId="b85f6bca-230c-483e-a25b-e13e873626fd" providerId="ADAL" clId="{AB235781-41D1-50B9-86EA-51A98A5F500A}" dt="2026-04-12T02:36:33.349" v="132"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02:45:35.358" v="214" actId="20577"/>
        <pc:sldMkLst>
          <pc:docMk/>
          <pc:sldMk cId="133968869" sldId="270"/>
        </pc:sldMkLst>
      </pc:sldChg>
      <pc:sldChg chg="modNotesTx">
        <pc:chgData name="Stepanov, Pavel Aleksandrovich" userId="b85f6bca-230c-483e-a25b-e13e873626fd" providerId="ADAL" clId="{AB235781-41D1-50B9-86EA-51A98A5F500A}" dt="2026-04-12T02:05:09.407" v="72" actId="20577"/>
        <pc:sldMkLst>
          <pc:docMk/>
          <pc:sldMk cId="480666757" sldId="271"/>
        </pc:sldMkLst>
      </pc:sldChg>
      <pc:sldChg chg="addSp delSp modSp add modNotesTx">
        <pc:chgData name="Stepanov, Pavel Aleksandrovich" userId="b85f6bca-230c-483e-a25b-e13e873626fd" providerId="ADAL" clId="{AB235781-41D1-50B9-86EA-51A98A5F500A}" dt="2026-04-12T02:44:36.704" v="211" actId="478"/>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[morning/afternoon],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0" i="0" kern="1200" dirty="0">
                <a:solidFill>
                  <a:schemeClr val="tx1"/>
                </a:solidFill>
                <a:effectLst/>
                <a:latin typeface="+mn-lt"/>
                <a:ea typeface="+mn-ea"/>
                <a:cs typeface="+mn-cs"/>
              </a:rPr>
              <a:t>Let me quickly place this work in the literature — and get into some of the technical mechanics.</a:t>
            </a:r>
          </a:p>
          <a:p>
            <a:r>
              <a:rPr lang="en-US" sz="1200" b="0" i="0" kern="1200" dirty="0">
                <a:solidFill>
                  <a:schemeClr val="tx1"/>
                </a:solidFill>
                <a:effectLst/>
                <a:latin typeface="+mn-lt"/>
                <a:ea typeface="+mn-ea"/>
                <a:cs typeface="+mn-cs"/>
              </a:rPr>
              <a:t>Classical Kalman Filters model motion as a linear dynamical system — fast and interpretable, but they break down under nonlinear behavior. LSTMs and Transformer-based architectures handle sequences well and achieve state-of-the-art prediction accuracy, but they require large labeled datasets and produce black-box outputs.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On the anomaly detection side, two methods dominate: </a:t>
            </a:r>
            <a:r>
              <a:rPr lang="en-US" sz="1200" b="1" i="0" kern="1200" dirty="0">
                <a:solidFill>
                  <a:schemeClr val="tx1"/>
                </a:solidFill>
                <a:effectLst/>
                <a:latin typeface="+mn-lt"/>
                <a:ea typeface="+mn-ea"/>
                <a:cs typeface="+mn-cs"/>
              </a:rPr>
              <a:t>One-Class SVM</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OC-SVM maps data into a high-dimensional kernel space and finds the tightest boundary around the normal class — but it's sensitive to the choice of kernel and the nu hyperparameter, which controls the fraction of training points treated as outliers.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works differently. It partitions the feature space by randomly selecting a feature and a split value at each node. The key insight is that anomalous points — being rare and extreme — require </a:t>
            </a:r>
            <a:r>
              <a:rPr lang="en-US" sz="1200" b="0" i="1" kern="1200" dirty="0">
                <a:solidFill>
                  <a:schemeClr val="tx1"/>
                </a:solidFill>
                <a:effectLst/>
                <a:latin typeface="+mn-lt"/>
                <a:ea typeface="+mn-ea"/>
                <a:cs typeface="+mn-cs"/>
              </a:rPr>
              <a:t>fewer</a:t>
            </a:r>
            <a:r>
              <a:rPr lang="en-US" sz="1200" b="0" i="0" kern="1200" dirty="0">
                <a:solidFill>
                  <a:schemeClr val="tx1"/>
                </a:solidFill>
                <a:effectLst/>
                <a:latin typeface="+mn-lt"/>
                <a:ea typeface="+mn-ea"/>
                <a:cs typeface="+mn-cs"/>
              </a:rPr>
              <a:t> splits to isolate. The anomaly score is derived from the average path length across all trees, normalized by the expected path length for a random point: s(</a:t>
            </a:r>
            <a:r>
              <a:rPr lang="en-US" sz="1200" b="0" i="0" kern="1200" dirty="0" err="1">
                <a:solidFill>
                  <a:schemeClr val="tx1"/>
                </a:solidFill>
                <a:effectLst/>
                <a:latin typeface="+mn-lt"/>
                <a:ea typeface="+mn-ea"/>
                <a:cs typeface="+mn-cs"/>
              </a:rPr>
              <a:t>x,n</a:t>
            </a:r>
            <a:r>
              <a:rPr lang="en-US" sz="1200" b="0" i="0" kern="1200" dirty="0">
                <a:solidFill>
                  <a:schemeClr val="tx1"/>
                </a:solidFill>
                <a:effectLst/>
                <a:latin typeface="+mn-lt"/>
                <a:ea typeface="+mn-ea"/>
                <a:cs typeface="+mn-cs"/>
              </a:rPr>
              <a:t>) = 2^(−E(h(x)) / c(n)). Scores near 1 signal anomalies; near 0.5 is indistinguishable from normal.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Prior work on the Waymo Open Motion Dataset has focused almost entirely on deep learning prediction pipelines. </a:t>
            </a:r>
            <a:r>
              <a:rPr lang="en-US" sz="1200" b="1" i="0" kern="1200" dirty="0">
                <a:solidFill>
                  <a:schemeClr val="tx1"/>
                </a:solidFill>
                <a:effectLst/>
                <a:latin typeface="+mn-lt"/>
                <a:ea typeface="+mn-ea"/>
                <a:cs typeface="+mn-cs"/>
              </a:rPr>
              <a:t>Classical statistical baselines applied to the full agent population have been largely ignored.</a:t>
            </a:r>
            <a:r>
              <a:rPr lang="en-US" sz="1200" b="0" i="0" kern="1200" dirty="0">
                <a:solidFill>
                  <a:schemeClr val="tx1"/>
                </a:solidFill>
                <a:effectLst/>
                <a:latin typeface="+mn-lt"/>
                <a:ea typeface="+mn-ea"/>
                <a:cs typeface="+mn-cs"/>
              </a:rPr>
              <a:t> That's the gap we fill.</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sense of what this data actually looks like.</a:t>
            </a:r>
          </a:p>
          <a:p>
            <a:r>
              <a:rPr lang="en-US" sz="1200" b="0" i="0" kern="1200" dirty="0">
                <a:solidFill>
                  <a:schemeClr val="tx1"/>
                </a:solidFill>
                <a:effectLst/>
                <a:latin typeface="+mn-lt"/>
                <a:ea typeface="+mn-ea"/>
                <a:cs typeface="+mn-cs"/>
              </a:rPr>
              <a:t>We extracted from </a:t>
            </a:r>
            <a:r>
              <a:rPr lang="en-US" sz="1200" b="1" i="0" kern="1200" dirty="0">
                <a:solidFill>
                  <a:schemeClr val="tx1"/>
                </a:solidFill>
                <a:effectLst/>
                <a:latin typeface="+mn-lt"/>
                <a:ea typeface="+mn-ea"/>
                <a:cs typeface="+mn-cs"/>
              </a:rPr>
              <a:t>300 scenarios</a:t>
            </a:r>
            <a:r>
              <a:rPr lang="en-US" sz="1200" b="0" i="0" kern="1200" dirty="0">
                <a:solidFill>
                  <a:schemeClr val="tx1"/>
                </a:solidFill>
                <a:effectLst/>
                <a:latin typeface="+mn-lt"/>
                <a:ea typeface="+mn-ea"/>
                <a:cs typeface="+mn-cs"/>
              </a:rPr>
              <a:t> from the validation split of the Waymo Open Motion Dataset — specifically shard 00000-of-00150. That gives us </a:t>
            </a:r>
            <a:r>
              <a:rPr lang="en-US" sz="1200" b="1" i="0" kern="1200" dirty="0">
                <a:solidFill>
                  <a:schemeClr val="tx1"/>
                </a:solidFill>
                <a:effectLst/>
                <a:latin typeface="+mn-lt"/>
                <a:ea typeface="+mn-ea"/>
                <a:cs typeface="+mn-cs"/>
              </a:rPr>
              <a:t>18,311 raw agent observations</a:t>
            </a:r>
            <a:r>
              <a:rPr lang="en-US" sz="1200" b="0" i="0" kern="1200" dirty="0">
                <a:solidFill>
                  <a:schemeClr val="tx1"/>
                </a:solidFill>
                <a:effectLst/>
                <a:latin typeface="+mn-lt"/>
                <a:ea typeface="+mn-ea"/>
                <a:cs typeface="+mn-cs"/>
              </a:rPr>
              <a:t> across vehicles, pedestrians, cyclists, and the Waymo self-driving car itself, which we exclude from all analysis.</a:t>
            </a:r>
          </a:p>
          <a:p>
            <a:r>
              <a:rPr lang="en-US" sz="1200" b="0" i="0" kern="1200" dirty="0">
                <a:solidFill>
                  <a:schemeClr val="tx1"/>
                </a:solidFill>
                <a:effectLst/>
                <a:latin typeface="+mn-lt"/>
                <a:ea typeface="+mn-ea"/>
                <a:cs typeface="+mn-cs"/>
              </a:rPr>
              <a:t>In terms of composition: vehicles make up the clear majority of the dataset, pedestrians account for roughly 25%, and cyclists around 5%. This imbalance matters because it affects both the anomaly detection and how we interpret per-class statistics.</a:t>
            </a:r>
          </a:p>
          <a:p>
            <a:r>
              <a:rPr lang="en-US" sz="1200" b="0" i="0" kern="1200" dirty="0">
                <a:solidFill>
                  <a:schemeClr val="tx1"/>
                </a:solidFill>
                <a:effectLst/>
                <a:latin typeface="+mn-lt"/>
                <a:ea typeface="+mn-ea"/>
                <a:cs typeface="+mn-cs"/>
              </a:rPr>
              <a:t>A few things worth noting about the raw data before any filtering. When you look at mean speeds including stationary agents, vehicles actually appear slower than cyclists — counterintuitive, and it's entirely because a large fraction of vehicles are stopped at intersections. The moment you filter to moving agents only, the expected ordering returns: vehicles fastest, then cyclists, then pedestrians.</a:t>
            </a:r>
          </a:p>
          <a:p>
            <a:r>
              <a:rPr lang="en-US" sz="1200" b="0" i="0" kern="1200" dirty="0">
                <a:solidFill>
                  <a:schemeClr val="tx1"/>
                </a:solidFill>
                <a:effectLst/>
                <a:latin typeface="+mn-lt"/>
                <a:ea typeface="+mn-ea"/>
                <a:cs typeface="+mn-cs"/>
              </a:rPr>
              <a:t>Waymo also provides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typically nearby vehicles in adjacent lanes or at intersections. </a:t>
            </a:r>
            <a:r>
              <a:rPr lang="en-US" sz="1200" b="0" i="0" kern="1200" dirty="0" err="1">
                <a:solidFill>
                  <a:schemeClr val="tx1"/>
                </a:solidFill>
                <a:effectLst/>
                <a:latin typeface="+mn-lt"/>
                <a:ea typeface="+mn-ea"/>
                <a:cs typeface="+mn-cs"/>
              </a:rPr>
              <a:t>IsSDC</a:t>
            </a:r>
            <a:r>
              <a:rPr lang="en-US" sz="1200" b="0" i="0" kern="1200" dirty="0">
                <a:solidFill>
                  <a:schemeClr val="tx1"/>
                </a:solidFill>
                <a:effectLst/>
                <a:latin typeface="+mn-lt"/>
                <a:ea typeface="+mn-ea"/>
                <a:cs typeface="+mn-cs"/>
              </a:rPr>
              <a:t> identifies the self-driving car itself. These flags are not safety-incident labels — they're proximity-based planning annotations — and that distinction will matter when we interpret the anomaly results.</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667FE-FC07-046B-D411-11854A1223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352853-3AB6-9C9D-16AF-B6706B83B4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62628F-3F1B-9BED-6991-834FD35D8ACB}"/>
              </a:ext>
            </a:extLst>
          </p:cNvPr>
          <p:cNvSpPr>
            <a:spLocks noGrp="1"/>
          </p:cNvSpPr>
          <p:nvPr>
            <p:ph type="body" idx="1"/>
          </p:nvPr>
        </p:nvSpPr>
        <p:spPr/>
        <p:txBody>
          <a:bodyPr/>
          <a:lstStyle/>
          <a:p>
            <a:r>
              <a:rPr lang="en-US" sz="1200" b="1" dirty="0">
                <a:latin typeface="GT Walsheim Trial Th" pitchFamily="2" charset="77"/>
              </a:rPr>
              <a:t>JUSTIN:</a:t>
            </a:r>
            <a:br>
              <a:rPr lang="en-US" sz="1200" b="1" dirty="0">
                <a:latin typeface="GT Walsheim Trial Th" pitchFamily="2" charset="77"/>
              </a:rPr>
            </a:br>
            <a:br>
              <a:rPr lang="en-US" sz="1200" b="1" dirty="0">
                <a:latin typeface="GT Walsheim Trial Th" pitchFamily="2" charset="77"/>
              </a:rPr>
            </a:br>
            <a:r>
              <a:rPr lang="en-US" sz="1200" b="0" i="0" kern="1200" dirty="0">
                <a:solidFill>
                  <a:schemeClr val="tx1"/>
                </a:solidFill>
                <a:effectLst/>
                <a:latin typeface="+mn-lt"/>
                <a:ea typeface="+mn-ea"/>
                <a:cs typeface="+mn-cs"/>
              </a:rPr>
              <a:t>Before diving into the models, let me give you a sense of what this data actually looks like.</a:t>
            </a:r>
          </a:p>
          <a:p>
            <a:r>
              <a:rPr lang="en-US" sz="1200" b="0" i="0" kern="1200" dirty="0">
                <a:solidFill>
                  <a:schemeClr val="tx1"/>
                </a:solidFill>
                <a:effectLst/>
                <a:latin typeface="+mn-lt"/>
                <a:ea typeface="+mn-ea"/>
                <a:cs typeface="+mn-cs"/>
              </a:rPr>
              <a:t>We extracted from </a:t>
            </a:r>
            <a:r>
              <a:rPr lang="en-US" sz="1200" b="1" i="0" kern="1200" dirty="0">
                <a:solidFill>
                  <a:schemeClr val="tx1"/>
                </a:solidFill>
                <a:effectLst/>
                <a:latin typeface="+mn-lt"/>
                <a:ea typeface="+mn-ea"/>
                <a:cs typeface="+mn-cs"/>
              </a:rPr>
              <a:t>300 scenarios</a:t>
            </a:r>
            <a:r>
              <a:rPr lang="en-US" sz="1200" b="0" i="0" kern="1200" dirty="0">
                <a:solidFill>
                  <a:schemeClr val="tx1"/>
                </a:solidFill>
                <a:effectLst/>
                <a:latin typeface="+mn-lt"/>
                <a:ea typeface="+mn-ea"/>
                <a:cs typeface="+mn-cs"/>
              </a:rPr>
              <a:t> from the validation split of the Waymo Open Motion Dataset — specifically shard 00000-of-00150. That gives us </a:t>
            </a:r>
            <a:r>
              <a:rPr lang="en-US" sz="1200" b="1" i="0" kern="1200" dirty="0">
                <a:solidFill>
                  <a:schemeClr val="tx1"/>
                </a:solidFill>
                <a:effectLst/>
                <a:latin typeface="+mn-lt"/>
                <a:ea typeface="+mn-ea"/>
                <a:cs typeface="+mn-cs"/>
              </a:rPr>
              <a:t>18,311 raw agent observations</a:t>
            </a:r>
            <a:r>
              <a:rPr lang="en-US" sz="1200" b="0" i="0" kern="1200" dirty="0">
                <a:solidFill>
                  <a:schemeClr val="tx1"/>
                </a:solidFill>
                <a:effectLst/>
                <a:latin typeface="+mn-lt"/>
                <a:ea typeface="+mn-ea"/>
                <a:cs typeface="+mn-cs"/>
              </a:rPr>
              <a:t> across vehicles, pedestrians, cyclists, and the Waymo self-driving car itself, which we exclude from all analysis.</a:t>
            </a:r>
          </a:p>
          <a:p>
            <a:r>
              <a:rPr lang="en-US" sz="1200" b="0" i="0" kern="1200" dirty="0">
                <a:solidFill>
                  <a:schemeClr val="tx1"/>
                </a:solidFill>
                <a:effectLst/>
                <a:latin typeface="+mn-lt"/>
                <a:ea typeface="+mn-ea"/>
                <a:cs typeface="+mn-cs"/>
              </a:rPr>
              <a:t>In terms of composition: vehicles make up the clear majority of the dataset, pedestrians account for roughly 25%, and cyclists around 5%. This imbalance matters because it affects both the anomaly detection and how we interpret per-class statistics.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 few things worth noting about the raw data before any filtering. When you look at mean speeds including stationary agents, vehicles actually appear slower than cyclists — counterintuitive, and it's entirely because a large fraction of vehicles are stopped at intersections. The moment you filter to moving agents only, the expected ordering returns: vehicles fastest, then cyclists, then pedestrians.</a:t>
            </a:r>
          </a:p>
          <a:p>
            <a:r>
              <a:rPr lang="en-US" sz="1200" b="0" i="0" kern="1200" dirty="0">
                <a:solidFill>
                  <a:schemeClr val="tx1"/>
                </a:solidFill>
                <a:effectLst/>
                <a:latin typeface="+mn-lt"/>
                <a:ea typeface="+mn-ea"/>
                <a:cs typeface="+mn-cs"/>
              </a:rPr>
              <a:t>Waymo also provides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typically nearby vehicles in adjacent lanes or at intersections. </a:t>
            </a:r>
            <a:r>
              <a:rPr lang="en-US" sz="1200" b="0" i="0" kern="1200" dirty="0" err="1">
                <a:solidFill>
                  <a:schemeClr val="tx1"/>
                </a:solidFill>
                <a:effectLst/>
                <a:latin typeface="+mn-lt"/>
                <a:ea typeface="+mn-ea"/>
                <a:cs typeface="+mn-cs"/>
              </a:rPr>
              <a:t>IsSDC</a:t>
            </a:r>
            <a:r>
              <a:rPr lang="en-US" sz="1200" b="0" i="0" kern="1200" dirty="0">
                <a:solidFill>
                  <a:schemeClr val="tx1"/>
                </a:solidFill>
                <a:effectLst/>
                <a:latin typeface="+mn-lt"/>
                <a:ea typeface="+mn-ea"/>
                <a:cs typeface="+mn-cs"/>
              </a:rPr>
              <a:t> identifies the self-driving car itself. These flags are not safety-incident labels — they're proximity-based planning annotations — and that distinction will matter when we interpret the anomaly results.</a:t>
            </a:r>
          </a:p>
          <a:p>
            <a:endParaRPr lang="en-US" b="1" dirty="0"/>
          </a:p>
        </p:txBody>
      </p:sp>
      <p:sp>
        <p:nvSpPr>
          <p:cNvPr id="4" name="Slide Number Placeholder 3">
            <a:extLst>
              <a:ext uri="{FF2B5EF4-FFF2-40B4-BE49-F238E27FC236}">
                <a16:creationId xmlns:a16="http://schemas.microsoft.com/office/drawing/2014/main" id="{858B9044-01F3-7D9D-2FBA-CE7EF15B93B8}"/>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40413229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2E5FB-F86F-92BB-7197-19F9D1B83B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3747C-ED42-C0F7-C90C-5EF9DDE2AC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A28B6-D5BC-6ACB-74A7-4FC545E777D0}"/>
              </a:ext>
            </a:extLst>
          </p:cNvPr>
          <p:cNvSpPr>
            <a:spLocks noGrp="1"/>
          </p:cNvSpPr>
          <p:nvPr>
            <p:ph type="body" idx="1"/>
          </p:nvPr>
        </p:nvSpPr>
        <p:spPr/>
        <p:txBody>
          <a:bodyPr/>
          <a:lstStyle/>
          <a:p>
            <a:r>
              <a:rPr lang="en-US" sz="1200" b="1" dirty="0">
                <a:latin typeface="GT Walsheim Trial Th" pitchFamily="2" charset="77"/>
              </a:rPr>
              <a:t>RAMSES:</a:t>
            </a:r>
          </a:p>
          <a:p>
            <a:endParaRPr lang="en-US" sz="1200" b="1" dirty="0">
              <a:latin typeface="GT Walsheim Trial Th" pitchFamily="2" charset="77"/>
            </a:endParaRPr>
          </a:p>
          <a:p>
            <a:r>
              <a:rPr lang="en-US" sz="1200" b="0" i="0" kern="1200" dirty="0">
                <a:solidFill>
                  <a:schemeClr val="tx1"/>
                </a:solidFill>
                <a:effectLst/>
                <a:latin typeface="+mn-lt"/>
                <a:ea typeface="+mn-ea"/>
                <a:cs typeface="+mn-cs"/>
              </a:rPr>
              <a:t>Our anomaly detection pipeline has three layers.</a:t>
            </a:r>
          </a:p>
          <a:p>
            <a:r>
              <a:rPr lang="en-US" sz="1200" b="0" i="0" kern="1200" dirty="0">
                <a:solidFill>
                  <a:schemeClr val="tx1"/>
                </a:solidFill>
                <a:effectLst/>
                <a:latin typeface="+mn-lt"/>
                <a:ea typeface="+mn-ea"/>
                <a:cs typeface="+mn-cs"/>
              </a:rPr>
              <a:t>A word first on feature selection, motivated by the correlation analysis. Yaw rate is uncorrelated with every other kinematic feature — |r| ≤ 0.09 across the board. That independence is exactly what makes it a strong discriminating signal: it carries information the other features don't.</a:t>
            </a:r>
          </a:p>
          <a:p>
            <a:r>
              <a:rPr lang="en-US" sz="1200" b="1" i="0" kern="1200" dirty="0">
                <a:solidFill>
                  <a:schemeClr val="tx1"/>
                </a:solidFill>
                <a:effectLst/>
                <a:latin typeface="+mn-lt"/>
                <a:ea typeface="+mn-ea"/>
                <a:cs typeface="+mn-cs"/>
              </a:rPr>
              <a:t>Layer 1: Isolation Forest.</a:t>
            </a:r>
            <a:r>
              <a:rPr lang="en-US" sz="1200" b="0" i="0" kern="1200" dirty="0">
                <a:solidFill>
                  <a:schemeClr val="tx1"/>
                </a:solidFill>
                <a:effectLst/>
                <a:latin typeface="+mn-lt"/>
                <a:ea typeface="+mn-ea"/>
                <a:cs typeface="+mn-cs"/>
              </a:rPr>
              <a:t> We fit 100 trees on Speed, Acceleration, and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Each agent receives an anomaly score between 0 and 1. We threshold at the 99th percentile — flagging </a:t>
            </a:r>
            <a:r>
              <a:rPr lang="en-US" sz="1200" b="1" i="0" kern="1200" dirty="0">
                <a:solidFill>
                  <a:schemeClr val="tx1"/>
                </a:solidFill>
                <a:effectLst/>
                <a:latin typeface="+mn-lt"/>
                <a:ea typeface="+mn-ea"/>
                <a:cs typeface="+mn-cs"/>
              </a:rPr>
              <a:t>46 agents</a:t>
            </a:r>
            <a:r>
              <a:rPr lang="en-US" sz="1200" b="0" i="0" kern="1200" dirty="0">
                <a:solidFill>
                  <a:schemeClr val="tx1"/>
                </a:solidFill>
                <a:effectLst/>
                <a:latin typeface="+mn-lt"/>
                <a:ea typeface="+mn-ea"/>
                <a:cs typeface="+mn-cs"/>
              </a:rPr>
              <a:t> out of 4,538 as anomalous.</a:t>
            </a:r>
          </a:p>
          <a:p>
            <a:r>
              <a:rPr lang="en-US" sz="1200" b="1" i="0" kern="1200" dirty="0">
                <a:solidFill>
                  <a:schemeClr val="tx1"/>
                </a:solidFill>
                <a:effectLst/>
                <a:latin typeface="+mn-lt"/>
                <a:ea typeface="+mn-ea"/>
                <a:cs typeface="+mn-cs"/>
              </a:rPr>
              <a:t>Layer 2: Statistical Validation.</a:t>
            </a:r>
            <a:r>
              <a:rPr lang="en-US" sz="1200" b="0" i="0" kern="1200" dirty="0">
                <a:solidFill>
                  <a:schemeClr val="tx1"/>
                </a:solidFill>
                <a:effectLst/>
                <a:latin typeface="+mn-lt"/>
                <a:ea typeface="+mn-ea"/>
                <a:cs typeface="+mn-cs"/>
              </a:rPr>
              <a:t> We build a contingency table of agent type versus anomaly status and run </a:t>
            </a:r>
            <a:r>
              <a:rPr lang="en-US" sz="1200" b="1" i="0" kern="1200" dirty="0">
                <a:solidFill>
                  <a:schemeClr val="tx1"/>
                </a:solidFill>
                <a:effectLst/>
                <a:latin typeface="+mn-lt"/>
                <a:ea typeface="+mn-ea"/>
                <a:cs typeface="+mn-cs"/>
              </a:rPr>
              <a:t>Fisher's Exact Test</a:t>
            </a:r>
            <a:r>
              <a:rPr lang="en-US" sz="1200" b="0" i="0" kern="1200" dirty="0">
                <a:solidFill>
                  <a:schemeClr val="tx1"/>
                </a:solidFill>
                <a:effectLst/>
                <a:latin typeface="+mn-lt"/>
                <a:ea typeface="+mn-ea"/>
                <a:cs typeface="+mn-cs"/>
              </a:rPr>
              <a:t> with Monte Carlo simulation. Result: </a:t>
            </a:r>
            <a:r>
              <a:rPr lang="en-US" sz="1200" b="1" i="0" kern="1200" dirty="0">
                <a:solidFill>
                  <a:schemeClr val="tx1"/>
                </a:solidFill>
                <a:effectLst/>
                <a:latin typeface="+mn-lt"/>
                <a:ea typeface="+mn-ea"/>
                <a:cs typeface="+mn-cs"/>
              </a:rPr>
              <a:t>p = 0.0005</a:t>
            </a:r>
            <a:r>
              <a:rPr lang="en-US" sz="1200" b="0" i="0" kern="1200" dirty="0">
                <a:solidFill>
                  <a:schemeClr val="tx1"/>
                </a:solidFill>
                <a:effectLst/>
                <a:latin typeface="+mn-lt"/>
                <a:ea typeface="+mn-ea"/>
                <a:cs typeface="+mn-cs"/>
              </a:rPr>
              <a:t>. The anomalies are not uniformly distributed — certain agent types are disproportionately flagged. That's signal, not noise.</a:t>
            </a:r>
          </a:p>
          <a:p>
            <a:r>
              <a:rPr lang="en-US" sz="1200" b="1" i="0" kern="1200" dirty="0">
                <a:solidFill>
                  <a:schemeClr val="tx1"/>
                </a:solidFill>
                <a:effectLst/>
                <a:latin typeface="+mn-lt"/>
                <a:ea typeface="+mn-ea"/>
                <a:cs typeface="+mn-cs"/>
              </a:rPr>
              <a:t>Layer 3: Supervised Characterization.</a:t>
            </a:r>
            <a:r>
              <a:rPr lang="en-US" sz="1200" b="0" i="0" kern="1200" dirty="0">
                <a:solidFill>
                  <a:schemeClr val="tx1"/>
                </a:solidFill>
                <a:effectLst/>
                <a:latin typeface="+mn-lt"/>
                <a:ea typeface="+mn-ea"/>
                <a:cs typeface="+mn-cs"/>
              </a:rPr>
              <a:t> We use those Isolation Forest flags as pseudo-labels to train a </a:t>
            </a:r>
            <a:r>
              <a:rPr lang="en-US" sz="1200" b="1" i="0" kern="1200" dirty="0">
                <a:solidFill>
                  <a:schemeClr val="tx1"/>
                </a:solidFill>
                <a:effectLst/>
                <a:latin typeface="+mn-lt"/>
                <a:ea typeface="+mn-ea"/>
                <a:cs typeface="+mn-cs"/>
              </a:rPr>
              <a:t>Random Forest classifier</a:t>
            </a:r>
            <a:r>
              <a:rPr lang="en-US" sz="1200" b="0" i="0" kern="1200" dirty="0">
                <a:solidFill>
                  <a:schemeClr val="tx1"/>
                </a:solidFill>
                <a:effectLst/>
                <a:latin typeface="+mn-lt"/>
                <a:ea typeface="+mn-ea"/>
                <a:cs typeface="+mn-cs"/>
              </a:rPr>
              <a:t>. Features: bounding box dimensions and yaw rate. Because the class ratio is 99:1, we apply </a:t>
            </a:r>
            <a:r>
              <a:rPr lang="en-US" sz="1200" b="0" i="0" kern="1200" dirty="0" err="1">
                <a:solidFill>
                  <a:schemeClr val="tx1"/>
                </a:solidFill>
                <a:effectLst/>
                <a:latin typeface="+mn-lt"/>
                <a:ea typeface="+mn-ea"/>
                <a:cs typeface="+mn-cs"/>
              </a:rPr>
              <a:t>downsampling</a:t>
            </a:r>
            <a:r>
              <a:rPr lang="en-US" sz="1200" b="0" i="0" kern="1200" dirty="0">
                <a:solidFill>
                  <a:schemeClr val="tx1"/>
                </a:solidFill>
                <a:effectLst/>
                <a:latin typeface="+mn-lt"/>
                <a:ea typeface="+mn-ea"/>
                <a:cs typeface="+mn-cs"/>
              </a:rPr>
              <a:t> and evaluate by AUC-ROC under 5-fold cross-validation.</a:t>
            </a:r>
          </a:p>
          <a:p>
            <a:br>
              <a:rPr lang="en-US" dirty="0"/>
            </a:br>
            <a:endParaRPr lang="en-US" b="1" dirty="0"/>
          </a:p>
        </p:txBody>
      </p:sp>
      <p:sp>
        <p:nvSpPr>
          <p:cNvPr id="4" name="Slide Number Placeholder 3">
            <a:extLst>
              <a:ext uri="{FF2B5EF4-FFF2-40B4-BE49-F238E27FC236}">
                <a16:creationId xmlns:a16="http://schemas.microsoft.com/office/drawing/2014/main" id="{089D28EE-E95F-7F62-B8CA-D7F9118AFDDD}"/>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37019435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1" dirty="0"/>
              <a:t>JUSTIN:</a:t>
            </a:r>
            <a:br>
              <a:rPr lang="en-US" b="1" dirty="0"/>
            </a:br>
            <a:br>
              <a:rPr lang="en-US" b="1" dirty="0"/>
            </a:br>
            <a:r>
              <a:rPr lang="en-US" sz="1200" b="0" i="0" kern="1200" dirty="0">
                <a:solidFill>
                  <a:schemeClr val="tx1"/>
                </a:solidFill>
                <a:effectLst/>
                <a:latin typeface="+mn-lt"/>
                <a:ea typeface="+mn-ea"/>
                <a:cs typeface="+mn-cs"/>
              </a:rPr>
              <a:t>Let's talk about what we found — and I want to start with the anomalies themselves, because the videos tell the story better than any table.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These are actual scenario clips from the Waymo dataset, centered on the agents our Isolation Forest flagged as most anomalous.</a:t>
            </a:r>
          </a:p>
          <a:p>
            <a:r>
              <a:rPr lang="en-US" sz="1200" b="0" i="0" kern="1200" dirty="0">
                <a:solidFill>
                  <a:schemeClr val="tx1"/>
                </a:solidFill>
                <a:effectLst/>
                <a:latin typeface="+mn-lt"/>
                <a:ea typeface="+mn-ea"/>
                <a:cs typeface="+mn-cs"/>
              </a:rPr>
              <a:t>The flagged agents fall into two distinct categories — and the split is instructive.</a:t>
            </a:r>
          </a:p>
          <a:p>
            <a:r>
              <a:rPr lang="en-US" sz="1200" b="0" i="0" kern="1200" dirty="0">
                <a:solidFill>
                  <a:schemeClr val="tx1"/>
                </a:solidFill>
                <a:effectLst/>
                <a:latin typeface="+mn-lt"/>
                <a:ea typeface="+mn-ea"/>
                <a:cs typeface="+mn-cs"/>
              </a:rPr>
              <a:t>The first is </a:t>
            </a:r>
            <a:r>
              <a:rPr lang="en-US" sz="1200" b="1" i="0" kern="1200" dirty="0">
                <a:solidFill>
                  <a:schemeClr val="tx1"/>
                </a:solidFill>
                <a:effectLst/>
                <a:latin typeface="+mn-lt"/>
                <a:ea typeface="+mn-ea"/>
                <a:cs typeface="+mn-cs"/>
              </a:rPr>
              <a:t>genuine kinematic extremes</a:t>
            </a:r>
            <a:r>
              <a:rPr lang="en-US" sz="1200" b="0" i="0" kern="1200" dirty="0">
                <a:solidFill>
                  <a:schemeClr val="tx1"/>
                </a:solidFill>
                <a:effectLst/>
                <a:latin typeface="+mn-lt"/>
                <a:ea typeface="+mn-ea"/>
                <a:cs typeface="+mn-cs"/>
              </a:rPr>
              <a:t>. Three agents were flagged for truly unusual speed and acceleration: one vehicle reaching </a:t>
            </a:r>
            <a:r>
              <a:rPr lang="en-US" sz="1200" b="1" i="0" kern="1200" dirty="0">
                <a:solidFill>
                  <a:schemeClr val="tx1"/>
                </a:solidFill>
                <a:effectLst/>
                <a:latin typeface="+mn-lt"/>
                <a:ea typeface="+mn-ea"/>
                <a:cs typeface="+mn-cs"/>
              </a:rPr>
              <a:t>49.75 m/s — roughly 180 km/h</a:t>
            </a:r>
            <a:r>
              <a:rPr lang="en-US" sz="1200" b="0" i="0" kern="1200" dirty="0">
                <a:solidFill>
                  <a:schemeClr val="tx1"/>
                </a:solidFill>
                <a:effectLst/>
                <a:latin typeface="+mn-lt"/>
                <a:ea typeface="+mn-ea"/>
                <a:cs typeface="+mn-cs"/>
              </a:rPr>
              <a:t> — with an acceleration reading of 355 m/s². Another at 32 m/s, another at 25 m/s. In urban scenario context, these are real outliers.</a:t>
            </a:r>
          </a:p>
          <a:p>
            <a:r>
              <a:rPr lang="en-US" sz="1200" b="0" i="0" kern="1200" dirty="0">
                <a:solidFill>
                  <a:schemeClr val="tx1"/>
                </a:solidFill>
                <a:effectLst/>
                <a:latin typeface="+mn-lt"/>
                <a:ea typeface="+mn-ea"/>
                <a:cs typeface="+mn-cs"/>
              </a:rPr>
              <a:t>The second category — and this accounts for seventeen of the top twenty — is a </a:t>
            </a:r>
            <a:r>
              <a:rPr lang="en-US" sz="1200" b="1" i="0" kern="1200" dirty="0">
                <a:solidFill>
                  <a:schemeClr val="tx1"/>
                </a:solidFill>
                <a:effectLst/>
                <a:latin typeface="+mn-lt"/>
                <a:ea typeface="+mn-ea"/>
                <a:cs typeface="+mn-cs"/>
              </a:rPr>
              <a:t>sensor artifact</a:t>
            </a:r>
            <a:r>
              <a:rPr lang="en-US" sz="1200" b="0" i="0" kern="1200" dirty="0">
                <a:solidFill>
                  <a:schemeClr val="tx1"/>
                </a:solidFill>
                <a:effectLst/>
                <a:latin typeface="+mn-lt"/>
                <a:ea typeface="+mn-ea"/>
                <a:cs typeface="+mn-cs"/>
              </a:rPr>
              <a:t>. Near-stationary agents, across all three agent types, with yaw rate fixed at exactly ±31 rad/s. A rotation rate of 31 radians per second is not physically possible for any ground vehicle. The pattern is unmistakable: near-zero speed, always the same magnitude, appearing in vehicles, pedestrians, and cyclists alike. This is numerical instability in the heading derivative computation when speed approaches zero. The model flagged real structure in the data — it's just that the structure reflects a measurement issue, not a driving incident.</a:t>
            </a:r>
          </a:p>
          <a:p>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20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a:p>
            <a:endParaRPr lang="en-US" b="1" dirty="0"/>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3DAAD-CB10-64D3-DAA8-47B82DCA52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02A42-AAF8-D249-52E3-776BE35457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BA5FD-4FBA-E6D4-070D-0E8EAC478CB6}"/>
              </a:ext>
            </a:extLst>
          </p:cNvPr>
          <p:cNvSpPr>
            <a:spLocks noGrp="1"/>
          </p:cNvSpPr>
          <p:nvPr>
            <p:ph type="body" idx="1"/>
          </p:nvPr>
        </p:nvSpPr>
        <p:spPr/>
        <p:txBody>
          <a:bodyPr/>
          <a:lstStyle/>
          <a:p>
            <a:r>
              <a:rPr lang="en-US" dirty="0"/>
              <a:t>JUSTIN:</a:t>
            </a:r>
            <a:br>
              <a:rPr lang="en-US" dirty="0"/>
            </a:br>
            <a:br>
              <a:rPr lang="en-US" dirty="0"/>
            </a:br>
            <a:r>
              <a:rPr lang="en-US" sz="1200" b="0" i="0" kern="1200" dirty="0">
                <a:solidFill>
                  <a:schemeClr val="tx1"/>
                </a:solidFill>
                <a:effectLst/>
                <a:latin typeface="+mn-lt"/>
                <a:ea typeface="+mn-ea"/>
                <a:cs typeface="+mn-cs"/>
              </a:rPr>
              <a:t>The Random Forest classifier trained on those pseudo-labels achieved:</a:t>
            </a:r>
          </a:p>
          <a:p>
            <a:r>
              <a:rPr lang="en-US" sz="1200" b="0" i="0" kern="1200" dirty="0">
                <a:solidFill>
                  <a:schemeClr val="tx1"/>
                </a:solidFill>
                <a:effectLst/>
                <a:latin typeface="+mn-lt"/>
                <a:ea typeface="+mn-ea"/>
                <a:cs typeface="+mn-cs"/>
              </a:rPr>
              <a:t>Cross-validated AUC-ROC of </a:t>
            </a:r>
            <a:r>
              <a:rPr lang="en-US" sz="1200" b="1" i="0" kern="1200" dirty="0">
                <a:solidFill>
                  <a:schemeClr val="tx1"/>
                </a:solidFill>
                <a:effectLst/>
                <a:latin typeface="+mn-lt"/>
                <a:ea typeface="+mn-ea"/>
                <a:cs typeface="+mn-cs"/>
              </a:rPr>
              <a:t>0.887</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Sensitivity 0.836, Specificity 0.839 on training data</a:t>
            </a:r>
          </a:p>
          <a:p>
            <a:r>
              <a:rPr lang="en-US" sz="1200" b="0" i="0" kern="1200" dirty="0">
                <a:solidFill>
                  <a:schemeClr val="tx1"/>
                </a:solidFill>
                <a:effectLst/>
                <a:latin typeface="+mn-lt"/>
                <a:ea typeface="+mn-ea"/>
                <a:cs typeface="+mn-cs"/>
              </a:rPr>
              <a:t>On the held-out test set: accuracy </a:t>
            </a:r>
            <a:r>
              <a:rPr lang="en-US" sz="1200" b="1" i="0" kern="1200" dirty="0">
                <a:solidFill>
                  <a:schemeClr val="tx1"/>
                </a:solidFill>
                <a:effectLst/>
                <a:latin typeface="+mn-lt"/>
                <a:ea typeface="+mn-ea"/>
                <a:cs typeface="+mn-cs"/>
              </a:rPr>
              <a:t>79.5%</a:t>
            </a:r>
            <a:r>
              <a:rPr lang="en-US" sz="1200" b="0" i="0" kern="1200" dirty="0">
                <a:solidFill>
                  <a:schemeClr val="tx1"/>
                </a:solidFill>
                <a:effectLst/>
                <a:latin typeface="+mn-lt"/>
                <a:ea typeface="+mn-ea"/>
                <a:cs typeface="+mn-cs"/>
              </a:rPr>
              <a:t>, balanced accuracy </a:t>
            </a:r>
            <a:r>
              <a:rPr lang="en-US" sz="1200" b="1" i="0" kern="1200" dirty="0">
                <a:solidFill>
                  <a:schemeClr val="tx1"/>
                </a:solidFill>
                <a:effectLst/>
                <a:latin typeface="+mn-lt"/>
                <a:ea typeface="+mn-ea"/>
                <a:cs typeface="+mn-cs"/>
              </a:rPr>
              <a:t>73.1%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Strong performance — especially given we're training on unsupervised pseudo-labels rather than verified ground truth. And it's worth noting what the classifier was actually learning from: its three features are </a:t>
            </a:r>
            <a:r>
              <a:rPr lang="en-US" sz="1200" b="1" i="0" kern="1200" dirty="0">
                <a:solidFill>
                  <a:schemeClr val="tx1"/>
                </a:solidFill>
                <a:effectLst/>
                <a:latin typeface="+mn-lt"/>
                <a:ea typeface="+mn-ea"/>
                <a:cs typeface="+mn-cs"/>
              </a:rPr>
              <a:t>Length, Width, and </a:t>
            </a:r>
            <a:r>
              <a:rPr lang="en-US" sz="1200" b="1"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 agent geometry and turning behavior. Not speed. The anomaly characterization signal lives in how an agent is shaped and how it rotates, not how fast it moves.</a:t>
            </a:r>
          </a:p>
          <a:p>
            <a:endParaRPr lang="en-US" dirty="0"/>
          </a:p>
        </p:txBody>
      </p:sp>
      <p:sp>
        <p:nvSpPr>
          <p:cNvPr id="4" name="Slide Number Placeholder 3">
            <a:extLst>
              <a:ext uri="{FF2B5EF4-FFF2-40B4-BE49-F238E27FC236}">
                <a16:creationId xmlns:a16="http://schemas.microsoft.com/office/drawing/2014/main" id="{F5BC7428-4764-44FF-34A8-89B31D28AAC0}"/>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12403675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dirty="0"/>
              <a:t>JUSTIN:</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standardized beta coefficients give us the feature importance for the regression — and the picture could not be clearer. </a:t>
            </a:r>
            <a:r>
              <a:rPr lang="en-US" sz="1200" b="1" i="0" kern="1200" dirty="0">
                <a:solidFill>
                  <a:schemeClr val="tx1"/>
                </a:solidFill>
                <a:effectLst/>
                <a:latin typeface="+mn-lt"/>
                <a:ea typeface="+mn-ea"/>
                <a:cs typeface="+mn-cs"/>
              </a:rPr>
              <a:t>Speed dominates with </a:t>
            </a:r>
            <a:r>
              <a:rPr lang="el-GR" sz="1200" b="1" i="0" kern="1200" dirty="0">
                <a:solidFill>
                  <a:schemeClr val="tx1"/>
                </a:solidFill>
                <a:effectLst/>
                <a:latin typeface="+mn-lt"/>
                <a:ea typeface="+mn-ea"/>
                <a:cs typeface="+mn-cs"/>
              </a:rPr>
              <a:t>β ≈ 0.95</a:t>
            </a:r>
            <a:r>
              <a:rPr lang="el-GR"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essentially the entire predictive signal. Acceleration and the velocity components contribute marginally.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is nearly zero at </a:t>
            </a:r>
            <a:r>
              <a:rPr lang="el-GR" sz="1200" b="0" i="0" kern="1200" dirty="0">
                <a:solidFill>
                  <a:schemeClr val="tx1"/>
                </a:solidFill>
                <a:effectLst/>
                <a:latin typeface="+mn-lt"/>
                <a:ea typeface="+mn-ea"/>
                <a:cs typeface="+mn-cs"/>
              </a:rPr>
              <a:t>β ≈ -0.007 — </a:t>
            </a:r>
            <a:r>
              <a:rPr lang="en-US" sz="1200" b="0" i="0" kern="1200" dirty="0">
                <a:solidFill>
                  <a:schemeClr val="tx1"/>
                </a:solidFill>
                <a:effectLst/>
                <a:latin typeface="+mn-lt"/>
                <a:ea typeface="+mn-ea"/>
                <a:cs typeface="+mn-cs"/>
              </a:rPr>
              <a:t>it adds almost nothing to displacement prediction.</a:t>
            </a:r>
          </a:p>
          <a:p>
            <a:r>
              <a:rPr lang="en-US" sz="1200" b="0" i="0" kern="1200" dirty="0">
                <a:solidFill>
                  <a:schemeClr val="tx1"/>
                </a:solidFill>
                <a:effectLst/>
                <a:latin typeface="+mn-lt"/>
                <a:ea typeface="+mn-ea"/>
                <a:cs typeface="+mn-cs"/>
              </a:rPr>
              <a:t>That contrast is the key finding across both models: </a:t>
            </a:r>
            <a:r>
              <a:rPr lang="en-US" sz="1200" b="1" i="0" kern="1200" dirty="0" err="1">
                <a:solidFill>
                  <a:schemeClr val="tx1"/>
                </a:solidFill>
                <a:effectLst/>
                <a:latin typeface="+mn-lt"/>
                <a:ea typeface="+mn-ea"/>
                <a:cs typeface="+mn-cs"/>
              </a:rPr>
              <a:t>YawRate</a:t>
            </a:r>
            <a:r>
              <a:rPr lang="en-US" sz="1200" b="1" i="0" kern="1200" dirty="0">
                <a:solidFill>
                  <a:schemeClr val="tx1"/>
                </a:solidFill>
                <a:effectLst/>
                <a:latin typeface="+mn-lt"/>
                <a:ea typeface="+mn-ea"/>
                <a:cs typeface="+mn-cs"/>
              </a:rPr>
              <a:t> is the anomaly signal, Speed is the displacement signal.</a:t>
            </a:r>
            <a:r>
              <a:rPr lang="en-US" sz="1200" b="0" i="0" kern="1200" dirty="0">
                <a:solidFill>
                  <a:schemeClr val="tx1"/>
                </a:solidFill>
                <a:effectLst/>
                <a:latin typeface="+mn-lt"/>
                <a:ea typeface="+mn-ea"/>
                <a:cs typeface="+mn-cs"/>
              </a:rPr>
              <a:t> They're measuring completely different aspects of agent behavior, and the feature importance of each model confirms exactly that. Neither result is surprising given the physics — but having the data validate the physics is precisely the sanity check you want before trusting a pipeline on real-world safety data.</a:t>
            </a:r>
          </a:p>
          <a:p>
            <a:endParaRPr lang="en-US" dirty="0"/>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b="1" dirty="0"/>
              <a:t>RAMSES:</a:t>
            </a:r>
          </a:p>
          <a:p>
            <a:endParaRPr lang="en-US" b="1" dirty="0"/>
          </a:p>
          <a:p>
            <a:r>
              <a:rPr lang="en-US" sz="1200" b="0" i="0" kern="1200" dirty="0">
                <a:solidFill>
                  <a:schemeClr val="tx1"/>
                </a:solidFill>
                <a:effectLst/>
                <a:latin typeface="+mn-lt"/>
                <a:ea typeface="+mn-ea"/>
                <a:cs typeface="+mn-cs"/>
              </a:rPr>
              <a:t>Before we get to the takeaways, I want to address what Justin flagged at the end of the results section — because it's the most important nuance in this project.</a:t>
            </a:r>
          </a:p>
          <a:p>
            <a:r>
              <a:rPr lang="en-US" sz="1200" b="0" i="0" kern="1200" dirty="0">
                <a:solidFill>
                  <a:schemeClr val="tx1"/>
                </a:solidFill>
                <a:effectLst/>
                <a:latin typeface="+mn-lt"/>
                <a:ea typeface="+mn-ea"/>
                <a:cs typeface="+mn-cs"/>
              </a:rPr>
              <a:t>The pipeline produced statistically validated results: Fisher's p = 0.0005, AUC of 0.887. The numbers look good. But when we actually inspect what was flagged, none of the top 20 anomalies were marked as safety-relevant by Waymo's own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That's not a failure of the model — it's a clarification of what the model is actually measuring. </a:t>
            </a:r>
            <a:r>
              <a:rPr lang="en-US" sz="1200" b="1" i="0" kern="1200" dirty="0">
                <a:solidFill>
                  <a:schemeClr val="tx1"/>
                </a:solidFill>
                <a:effectLst/>
                <a:latin typeface="+mn-lt"/>
                <a:ea typeface="+mn-ea"/>
                <a:cs typeface="+mn-cs"/>
              </a:rPr>
              <a:t>A kinematic outlier is not the same thing as a safety incident.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reflects which agents are in close proximity to the AV during routine planning — adjacent lane vehicles, approaching intersections. Our flagged events — extreme speeds and sensor artifacts — exist outside that frame entirely.</a:t>
            </a:r>
          </a:p>
          <a:p>
            <a:r>
              <a:rPr lang="en-US" sz="1200" b="0" i="0" kern="1200" dirty="0">
                <a:solidFill>
                  <a:schemeClr val="tx1"/>
                </a:solidFill>
                <a:effectLst/>
                <a:latin typeface="+mn-lt"/>
                <a:ea typeface="+mn-ea"/>
                <a:cs typeface="+mn-cs"/>
              </a:rPr>
              <a:t>What this means in practice: the pipeline is more accurately described as a </a:t>
            </a:r>
            <a:r>
              <a:rPr lang="en-US" sz="1200" b="1" i="0" kern="1200" dirty="0">
                <a:solidFill>
                  <a:schemeClr val="tx1"/>
                </a:solidFill>
                <a:effectLst/>
                <a:latin typeface="+mn-lt"/>
                <a:ea typeface="+mn-ea"/>
                <a:cs typeface="+mn-cs"/>
              </a:rPr>
              <a:t>data quality and behavioral characterization tool</a:t>
            </a:r>
            <a:r>
              <a:rPr lang="en-US" sz="1200" b="0" i="0" kern="1200" dirty="0">
                <a:solidFill>
                  <a:schemeClr val="tx1"/>
                </a:solidFill>
                <a:effectLst/>
                <a:latin typeface="+mn-lt"/>
                <a:ea typeface="+mn-ea"/>
                <a:cs typeface="+mn-cs"/>
              </a:rPr>
              <a:t> than a safety-incident detector. It found genuine extremes in the data, and it surfaced a systematic measurement problem that would have gone unnoticed without it. Both are useful contributions — but they require domain knowledge to interpret correctly. The danger is treating model outputs as ground truth without that context.</a:t>
            </a:r>
          </a:p>
          <a:p>
            <a:r>
              <a:rPr lang="en-US" sz="1200" b="0" i="0" kern="1200" dirty="0">
                <a:solidFill>
                  <a:schemeClr val="tx1"/>
                </a:solidFill>
                <a:effectLst/>
                <a:latin typeface="+mn-lt"/>
                <a:ea typeface="+mn-ea"/>
                <a:cs typeface="+mn-cs"/>
              </a:rPr>
              <a:t>With that framing, two broader takeaways.</a:t>
            </a:r>
          </a:p>
          <a:p>
            <a:r>
              <a:rPr lang="en-US" sz="1200" b="0" i="0" kern="1200" dirty="0">
                <a:solidFill>
                  <a:schemeClr val="tx1"/>
                </a:solidFill>
                <a:effectLst/>
                <a:latin typeface="+mn-lt"/>
                <a:ea typeface="+mn-ea"/>
                <a:cs typeface="+mn-cs"/>
              </a:rPr>
              <a:t>First, </a:t>
            </a:r>
            <a:r>
              <a:rPr lang="en-US" sz="1200" b="1" i="0" kern="1200" dirty="0">
                <a:solidFill>
                  <a:schemeClr val="tx1"/>
                </a:solidFill>
                <a:effectLst/>
                <a:latin typeface="+mn-lt"/>
                <a:ea typeface="+mn-ea"/>
                <a:cs typeface="+mn-cs"/>
              </a:rPr>
              <a:t>unsupervised detection works and is statistically </a:t>
            </a:r>
            <a:r>
              <a:rPr lang="en-US" sz="1200" b="1" i="0" kern="1200" dirty="0" err="1">
                <a:solidFill>
                  <a:schemeClr val="tx1"/>
                </a:solidFill>
                <a:effectLst/>
                <a:latin typeface="+mn-lt"/>
                <a:ea typeface="+mn-ea"/>
                <a:cs typeface="+mn-cs"/>
              </a:rPr>
              <a:t>validatable</a:t>
            </a:r>
            <a:r>
              <a:rPr lang="en-US" sz="1200" b="0" i="0" kern="1200" dirty="0">
                <a:solidFill>
                  <a:schemeClr val="tx1"/>
                </a:solidFill>
                <a:effectLst/>
                <a:latin typeface="+mn-lt"/>
                <a:ea typeface="+mn-ea"/>
                <a:cs typeface="+mn-cs"/>
              </a:rPr>
              <a:t>. The Fisher test confirms structure in who gets flagged. Anomalies concentrate in pedestrians and cyclists — consistent with their more irregular urban kinematics. The Random Forest can characterize what anomalous agents look like at 0.887 AUC, even starting from noisy pseudo-labels.</a:t>
            </a:r>
          </a:p>
          <a:p>
            <a:r>
              <a:rPr lang="en-US" sz="1200" b="0" i="0" kern="1200" dirty="0">
                <a:solidFill>
                  <a:schemeClr val="tx1"/>
                </a:solidFill>
                <a:effectLst/>
                <a:latin typeface="+mn-lt"/>
                <a:ea typeface="+mn-ea"/>
                <a:cs typeface="+mn-cs"/>
              </a:rPr>
              <a:t>Second, </a:t>
            </a:r>
            <a:r>
              <a:rPr lang="en-US" sz="1200" b="1" i="0" kern="1200" dirty="0">
                <a:solidFill>
                  <a:schemeClr val="tx1"/>
                </a:solidFill>
                <a:effectLst/>
                <a:latin typeface="+mn-lt"/>
                <a:ea typeface="+mn-ea"/>
                <a:cs typeface="+mn-cs"/>
              </a:rPr>
              <a:t>dataset composition dominates metrics</a:t>
            </a:r>
            <a:r>
              <a:rPr lang="en-US" sz="1200" b="0" i="0" kern="1200" dirty="0">
                <a:solidFill>
                  <a:schemeClr val="tx1"/>
                </a:solidFill>
                <a:effectLst/>
                <a:latin typeface="+mn-lt"/>
                <a:ea typeface="+mn-ea"/>
                <a:cs typeface="+mn-cs"/>
              </a:rPr>
              <a:t>. The 15-point R-squared drop when removing stationary agents is not a model failure — it's a dataset artifact. Any evaluation reported on a mixed moving-and-stationary population is inflated. The 0.728 on moving agents is the honest number for dynamic AV deployment.</a:t>
            </a:r>
          </a:p>
          <a:p>
            <a:r>
              <a:rPr lang="en-US" sz="1200" b="0" i="0" kern="1200" dirty="0">
                <a:solidFill>
                  <a:schemeClr val="tx1"/>
                </a:solidFill>
                <a:effectLst/>
                <a:latin typeface="+mn-lt"/>
                <a:ea typeface="+mn-ea"/>
                <a:cs typeface="+mn-cs"/>
              </a:rPr>
              <a:t>On limitations: pseudo-labels from the Isolation Forest are not verified ground truth — the test specificity of 0.667 reflects that noise. We work from a single snapshot frame per agent, ignoring the full 20-second trajectory. Our regression is linear; pedestrian and cyclist motion may be nonlinear. And we only analyzed 300 scenarios — the genuine high-speed anomaly tail would be richer with the full dataset.</a:t>
            </a:r>
          </a:p>
          <a:p>
            <a:endParaRPr lang="en-US" b="1" dirty="0"/>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 Random Forest characterizes them at 0.887 AUC.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4/11/26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Rg"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170099"/>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Th" pitchFamily="2" charset="77"/>
              </a:rPr>
              <a:t>Safety-critical events are rare but risky:</a:t>
            </a:r>
          </a:p>
          <a:p>
            <a:endParaRPr lang="en-US" sz="2000" dirty="0">
              <a:latin typeface="GT Walsheim Trial Th" pitchFamily="2" charset="77"/>
            </a:endParaRPr>
          </a:p>
          <a:p>
            <a:r>
              <a:rPr lang="en-US" sz="2000" dirty="0">
                <a:latin typeface="GT Walsheim Trial Th" pitchFamily="2" charset="77"/>
              </a:rPr>
              <a:t>* Sudden braking or acceleration</a:t>
            </a:r>
          </a:p>
          <a:p>
            <a:r>
              <a:rPr lang="en-US" sz="2000" dirty="0">
                <a:latin typeface="GT Walsheim Trial Th" pitchFamily="2" charset="77"/>
              </a:rPr>
              <a:t>* Jaywalking pedestrians</a:t>
            </a:r>
          </a:p>
          <a:p>
            <a:r>
              <a:rPr lang="en-US" sz="2000" dirty="0">
                <a:latin typeface="GT Walsheim Trial Th" pitchFamily="2" charset="77"/>
              </a:rPr>
              <a:t>* Near-misses</a:t>
            </a: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17208" y="-32281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AF451-3682-FF2C-D616-3F71F91C5AC6}"/>
            </a:ext>
          </a:extLst>
        </p:cNvPr>
        <p:cNvGrpSpPr/>
        <p:nvPr/>
      </p:nvGrpSpPr>
      <p:grpSpPr>
        <a:xfrm>
          <a:off x="0" y="0"/>
          <a:ext cx="0" cy="0"/>
          <a:chOff x="0" y="0"/>
          <a:chExt cx="0" cy="0"/>
        </a:xfrm>
      </p:grpSpPr>
      <p:pic>
        <p:nvPicPr>
          <p:cNvPr id="6" name="Picture 2" descr="Waymo Logo">
            <a:extLst>
              <a:ext uri="{FF2B5EF4-FFF2-40B4-BE49-F238E27FC236}">
                <a16:creationId xmlns:a16="http://schemas.microsoft.com/office/drawing/2014/main" id="{73A17D98-85BB-1349-8904-4995BA7F41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9" name="Title 3">
            <a:extLst>
              <a:ext uri="{FF2B5EF4-FFF2-40B4-BE49-F238E27FC236}">
                <a16:creationId xmlns:a16="http://schemas.microsoft.com/office/drawing/2014/main" id="{048C4A0F-704A-1B42-09A0-E1CEA1F85F1A}"/>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DATASET STATISTICS</a:t>
            </a:r>
          </a:p>
        </p:txBody>
      </p:sp>
      <p:sp>
        <p:nvSpPr>
          <p:cNvPr id="11" name="TextBox 10">
            <a:extLst>
              <a:ext uri="{FF2B5EF4-FFF2-40B4-BE49-F238E27FC236}">
                <a16:creationId xmlns:a16="http://schemas.microsoft.com/office/drawing/2014/main" id="{B6033FA2-EB1F-F693-6FA4-7BB8813D9CDA}"/>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12" name="Table 11">
            <a:extLst>
              <a:ext uri="{FF2B5EF4-FFF2-40B4-BE49-F238E27FC236}">
                <a16:creationId xmlns:a16="http://schemas.microsoft.com/office/drawing/2014/main" id="{060EF4B2-4504-8D76-A4E4-69FA63C93789}"/>
              </a:ext>
            </a:extLst>
          </p:cNvPr>
          <p:cNvGraphicFramePr>
            <a:graphicFrameLocks noGrp="1"/>
          </p:cNvGraphicFramePr>
          <p:nvPr>
            <p:extLst>
              <p:ext uri="{D42A27DB-BD31-4B8C-83A1-F6EECF244321}">
                <p14:modId xmlns:p14="http://schemas.microsoft.com/office/powerpoint/2010/main" val="4168928733"/>
              </p:ext>
            </p:extLst>
          </p:nvPr>
        </p:nvGraphicFramePr>
        <p:xfrm>
          <a:off x="716477" y="1932130"/>
          <a:ext cx="10876350" cy="2646176"/>
        </p:xfrm>
        <a:graphic>
          <a:graphicData uri="http://schemas.openxmlformats.org/drawingml/2006/table">
            <a:tbl>
              <a:tblPr firstRow="1" bandRow="1">
                <a:tableStyleId>{073A0DAA-6AF3-43AB-8588-CEC1D06C72B9}</a:tableStyleId>
              </a:tblPr>
              <a:tblGrid>
                <a:gridCol w="2447977">
                  <a:extLst>
                    <a:ext uri="{9D8B030D-6E8A-4147-A177-3AD203B41FA5}">
                      <a16:colId xmlns:a16="http://schemas.microsoft.com/office/drawing/2014/main" val="1610543496"/>
                    </a:ext>
                  </a:extLst>
                </a:gridCol>
                <a:gridCol w="3801230">
                  <a:extLst>
                    <a:ext uri="{9D8B030D-6E8A-4147-A177-3AD203B41FA5}">
                      <a16:colId xmlns:a16="http://schemas.microsoft.com/office/drawing/2014/main" val="2940384537"/>
                    </a:ext>
                  </a:extLst>
                </a:gridCol>
                <a:gridCol w="4627143">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Share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81534">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81534">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spTree>
    <p:extLst>
      <p:ext uri="{BB962C8B-B14F-4D97-AF65-F5344CB8AC3E}">
        <p14:creationId xmlns:p14="http://schemas.microsoft.com/office/powerpoint/2010/main" val="26065257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E5C9765-B19F-2DA8-B49F-3989A712FA5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CAB2BF5-F20F-C31F-3CA6-179525C2DB7D}"/>
              </a:ext>
            </a:extLst>
          </p:cNvPr>
          <p:cNvSpPr>
            <a:spLocks noGrp="1"/>
          </p:cNvSpPr>
          <p:nvPr>
            <p:ph type="ctrTitle"/>
          </p:nvPr>
        </p:nvSpPr>
        <p:spPr/>
        <p:txBody>
          <a:bodyPr/>
          <a:lstStyle/>
          <a:p>
            <a:endParaRPr lang="en-US"/>
          </a:p>
        </p:txBody>
      </p:sp>
    </p:spTree>
    <p:extLst>
      <p:ext uri="{BB962C8B-B14F-4D97-AF65-F5344CB8AC3E}">
        <p14:creationId xmlns:p14="http://schemas.microsoft.com/office/powerpoint/2010/main" val="1015887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A - RESULTS  </a:t>
            </a: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1540186146"/>
              </p:ext>
            </p:extLst>
          </p:nvPr>
        </p:nvGraphicFramePr>
        <p:xfrm>
          <a:off x="854438" y="2721367"/>
          <a:ext cx="10723843" cy="2064642"/>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All Agent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81534">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2C1864-B821-A354-EF4D-BEA1BAB91A28}"/>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C8E9BA9D-DCF3-4861-65EB-D29E6BD5BF6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120A76A-6063-D435-D8DA-689329698EAB}"/>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E773485-6780-02DC-B58E-3EECCE6B67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12EA372C-6D3A-EED6-6C44-E63BC22B6F82}"/>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F9CA362B-3511-B893-5B5B-8C6464343376}"/>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Anomaly Detection Results</a:t>
            </a:r>
          </a:p>
        </p:txBody>
      </p:sp>
      <p:sp>
        <p:nvSpPr>
          <p:cNvPr id="6" name="Rectangle 5">
            <a:extLst>
              <a:ext uri="{FF2B5EF4-FFF2-40B4-BE49-F238E27FC236}">
                <a16:creationId xmlns:a16="http://schemas.microsoft.com/office/drawing/2014/main" id="{20AA69BA-C691-5B0A-9C77-BCF673AA2090}"/>
              </a:ext>
            </a:extLst>
          </p:cNvPr>
          <p:cNvSpPr/>
          <p:nvPr/>
        </p:nvSpPr>
        <p:spPr>
          <a:xfrm>
            <a:off x="854438" y="1839301"/>
            <a:ext cx="10723843" cy="450883"/>
          </a:xfrm>
          <a:prstGeom prst="rect">
            <a:avLst/>
          </a:prstGeom>
          <a:solidFill>
            <a:srgbClr val="949A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FB96CA1-CB36-826F-5576-3E7A3D1F46E7}"/>
              </a:ext>
            </a:extLst>
          </p:cNvPr>
          <p:cNvSpPr txBox="1"/>
          <p:nvPr/>
        </p:nvSpPr>
        <p:spPr>
          <a:xfrm>
            <a:off x="4001985" y="1892389"/>
            <a:ext cx="4188029" cy="369332"/>
          </a:xfrm>
          <a:prstGeom prst="rect">
            <a:avLst/>
          </a:prstGeom>
          <a:noFill/>
        </p:spPr>
        <p:txBody>
          <a:bodyPr wrap="square">
            <a:spAutoFit/>
          </a:bodyPr>
          <a:lstStyle/>
          <a:p>
            <a:pPr algn="l"/>
            <a:r>
              <a:rPr lang="en-US" dirty="0">
                <a:solidFill>
                  <a:schemeClr val="bg1"/>
                </a:solidFill>
                <a:effectLst/>
                <a:latin typeface="GT Walsheim Trial Rg" pitchFamily="2" charset="77"/>
              </a:rPr>
              <a:t>Random Forest Classifier Performance</a:t>
            </a:r>
          </a:p>
        </p:txBody>
      </p:sp>
      <p:sp>
        <p:nvSpPr>
          <p:cNvPr id="19" name="TextBox 18">
            <a:extLst>
              <a:ext uri="{FF2B5EF4-FFF2-40B4-BE49-F238E27FC236}">
                <a16:creationId xmlns:a16="http://schemas.microsoft.com/office/drawing/2014/main" id="{7763328F-5B74-FF89-6105-41348B1621B6}"/>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8A315BA-FB29-FE05-79F7-04FDFFF015FC}"/>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12B3246-6737-9678-1B7D-7F8D35A1BFD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153CB52F-9BFB-85AD-4F24-2D7EA4309EC4}"/>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2F351178-9490-D064-1CA6-081BE3C8614C}"/>
              </a:ext>
            </a:extLst>
          </p:cNvPr>
          <p:cNvGraphicFramePr>
            <a:graphicFrameLocks noGrp="1"/>
          </p:cNvGraphicFramePr>
          <p:nvPr>
            <p:extLst>
              <p:ext uri="{D42A27DB-BD31-4B8C-83A1-F6EECF244321}">
                <p14:modId xmlns:p14="http://schemas.microsoft.com/office/powerpoint/2010/main" val="782688522"/>
              </p:ext>
            </p:extLst>
          </p:nvPr>
        </p:nvGraphicFramePr>
        <p:xfrm>
          <a:off x="854438" y="2513195"/>
          <a:ext cx="10723843" cy="2885920"/>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82420">
                <a:tc>
                  <a:txBody>
                    <a:bodyPr/>
                    <a:lstStyle/>
                    <a:p>
                      <a:r>
                        <a:rPr lang="en-US" sz="1500" b="0" i="0" dirty="0">
                          <a:solidFill>
                            <a:schemeClr val="bg1"/>
                          </a:solidFill>
                          <a:latin typeface="GT Walsheim Trial Rg" pitchFamily="2" charset="77"/>
                        </a:rPr>
                        <a:t>Metric</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tc>
                  <a:txBody>
                    <a:bodyPr/>
                    <a:lstStyle/>
                    <a:p>
                      <a:r>
                        <a:rPr lang="en-US" sz="1500" b="0" i="0" dirty="0">
                          <a:solidFill>
                            <a:schemeClr val="bg1"/>
                          </a:solidFill>
                          <a:latin typeface="GT Walsheim Trial Rg" pitchFamily="2" charset="77"/>
                        </a:rPr>
                        <a:t>CV (Train)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tc>
                  <a:txBody>
                    <a:bodyPr/>
                    <a:lstStyle/>
                    <a:p>
                      <a:r>
                        <a:rPr lang="en-US" sz="1500" b="0" i="0" dirty="0">
                          <a:solidFill>
                            <a:schemeClr val="bg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AUC-ROC</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13176">
                <a:tc>
                  <a:txBody>
                    <a:bodyPr/>
                    <a:lstStyle/>
                    <a:p>
                      <a:r>
                        <a:rPr lang="en-US" sz="1500" b="0" i="0" dirty="0">
                          <a:solidFill>
                            <a:schemeClr val="tx1"/>
                          </a:solidFill>
                          <a:latin typeface="GT Walsheim Trial Rg" pitchFamily="2" charset="77"/>
                        </a:rPr>
                        <a:t>Specificity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0.839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0.667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13176">
                <a:tc>
                  <a:txBody>
                    <a:bodyPr/>
                    <a:lstStyle/>
                    <a:p>
                      <a:r>
                        <a:rPr lang="en-US" sz="1500" b="0" i="0" dirty="0">
                          <a:solidFill>
                            <a:schemeClr val="tx1"/>
                          </a:solidFill>
                          <a:latin typeface="GT Walsheim Trial Rg" pitchFamily="2" charset="77"/>
                        </a:rPr>
                        <a:t>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85000"/>
                      </a:schemeClr>
                    </a:solidFill>
                  </a:tcPr>
                </a:tc>
                <a:tc>
                  <a:txBody>
                    <a:bodyPr/>
                    <a:lstStyle/>
                    <a:p>
                      <a:r>
                        <a:rPr lang="en-US" sz="1500" b="0" i="0" dirty="0">
                          <a:solidFill>
                            <a:schemeClr val="tx1"/>
                          </a:solidFill>
                          <a:latin typeface="GT Walsheim Trial Rg" pitchFamily="2" charset="77"/>
                        </a:rPr>
                        <a:t>79.5%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383985548"/>
                  </a:ext>
                </a:extLst>
              </a:tr>
              <a:tr h="513176">
                <a:tc>
                  <a:txBody>
                    <a:bodyPr/>
                    <a:lstStyle/>
                    <a:p>
                      <a:r>
                        <a:rPr lang="en-US" sz="1500" b="0" i="0" dirty="0">
                          <a:solidFill>
                            <a:schemeClr val="tx1"/>
                          </a:solidFill>
                          <a:latin typeface="GT Walsheim Trial Rg" pitchFamily="2" charset="77"/>
                        </a:rPr>
                        <a:t>Balanced Accuracy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73.1%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71306824"/>
                  </a:ext>
                </a:extLst>
              </a:tr>
            </a:tbl>
          </a:graphicData>
        </a:graphic>
      </p:graphicFrame>
      <p:sp>
        <p:nvSpPr>
          <p:cNvPr id="11" name="TextBox 10">
            <a:extLst>
              <a:ext uri="{FF2B5EF4-FFF2-40B4-BE49-F238E27FC236}">
                <a16:creationId xmlns:a16="http://schemas.microsoft.com/office/drawing/2014/main" id="{A8370A88-D7AF-5FE5-ED80-AEF8EF0AA74E}"/>
              </a:ext>
            </a:extLst>
          </p:cNvPr>
          <p:cNvSpPr txBox="1"/>
          <p:nvPr/>
        </p:nvSpPr>
        <p:spPr>
          <a:xfrm>
            <a:off x="854438" y="5637952"/>
            <a:ext cx="10786478" cy="369332"/>
          </a:xfrm>
          <a:prstGeom prst="rect">
            <a:avLst/>
          </a:prstGeom>
          <a:noFill/>
        </p:spPr>
        <p:txBody>
          <a:bodyPr wrap="square">
            <a:spAutoFit/>
          </a:bodyPr>
          <a:lstStyle/>
          <a:p>
            <a:pPr algn="l"/>
            <a:r>
              <a:rPr lang="en-US" b="1" dirty="0">
                <a:effectLst/>
                <a:latin typeface="GT Walsheim Trial Rg" pitchFamily="2" charset="77"/>
              </a:rPr>
              <a:t>Fisher's Exact Test: p = 0.0005 — anomalies are non-uniformly distributed across agent types.</a:t>
            </a:r>
            <a:endParaRPr lang="en-US" dirty="0">
              <a:effectLst/>
              <a:latin typeface="GT Walsheim Trial Rg" pitchFamily="2" charset="77"/>
            </a:endParaRPr>
          </a:p>
        </p:txBody>
      </p:sp>
      <p:pic>
        <p:nvPicPr>
          <p:cNvPr id="2" name="Picture 4" descr="Waymo branded color scheme">
            <a:extLst>
              <a:ext uri="{FF2B5EF4-FFF2-40B4-BE49-F238E27FC236}">
                <a16:creationId xmlns:a16="http://schemas.microsoft.com/office/drawing/2014/main" id="{2EEF9C1F-B66B-6B4A-9B7B-F8AC1776C5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3229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AB5F9-1251-1ADB-EB39-767E848BDE32}"/>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50B9A37-2D86-6D3F-4E2F-9CF7F59F9F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C - 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Motion Prediction Results</a:t>
            </a:r>
          </a:p>
        </p:txBody>
      </p:sp>
      <p:sp>
        <p:nvSpPr>
          <p:cNvPr id="6" name="Rectangle 5">
            <a:extLst>
              <a:ext uri="{FF2B5EF4-FFF2-40B4-BE49-F238E27FC236}">
                <a16:creationId xmlns:a16="http://schemas.microsoft.com/office/drawing/2014/main" id="{9987A699-1DBC-7AF5-4AE6-520309D6C5D0}"/>
              </a:ext>
            </a:extLst>
          </p:cNvPr>
          <p:cNvSpPr/>
          <p:nvPr/>
        </p:nvSpPr>
        <p:spPr>
          <a:xfrm>
            <a:off x="854437" y="2653828"/>
            <a:ext cx="10723843" cy="450883"/>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3669370" y="2719553"/>
            <a:ext cx="4853257" cy="369332"/>
          </a:xfrm>
          <a:prstGeom prst="rect">
            <a:avLst/>
          </a:prstGeom>
          <a:noFill/>
        </p:spPr>
        <p:txBody>
          <a:bodyPr wrap="square">
            <a:spAutoFit/>
          </a:bodyPr>
          <a:lstStyle/>
          <a:p>
            <a:pPr algn="l"/>
            <a:r>
              <a:rPr lang="en-US" dirty="0">
                <a:effectLst/>
                <a:latin typeface="GT Walsheim Trial Rg" pitchFamily="2" charset="77"/>
              </a:rPr>
              <a:t>Linear Regression — 5-Second Displacement</a:t>
            </a:r>
          </a:p>
        </p:txBody>
      </p:sp>
      <p:sp>
        <p:nvSpPr>
          <p:cNvPr id="19" name="TextBox 18">
            <a:extLst>
              <a:ext uri="{FF2B5EF4-FFF2-40B4-BE49-F238E27FC236}">
                <a16:creationId xmlns:a16="http://schemas.microsoft.com/office/drawing/2014/main" id="{4ADCE13D-E535-FD3B-0A95-09E6729FE9B8}"/>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E35D3E9-166B-C73D-983C-9037ED5FBDA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E5442DB-9CB5-8433-9C85-CAA8A70DE15A}"/>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ADD74C3E-1364-321F-88E2-266F00FB162C}"/>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2779700862"/>
              </p:ext>
            </p:extLst>
          </p:nvPr>
        </p:nvGraphicFramePr>
        <p:xfrm>
          <a:off x="854438" y="3575329"/>
          <a:ext cx="10723843" cy="1346392"/>
        </p:xfrm>
        <a:graphic>
          <a:graphicData uri="http://schemas.openxmlformats.org/drawingml/2006/table">
            <a:tbl>
              <a:tblPr firstRow="1" bandRow="1">
                <a:tableStyleId>{073A0DAA-6AF3-43AB-8588-CEC1D06C72B9}</a:tableStyleId>
              </a:tblPr>
              <a:tblGrid>
                <a:gridCol w="1672194">
                  <a:extLst>
                    <a:ext uri="{9D8B030D-6E8A-4147-A177-3AD203B41FA5}">
                      <a16:colId xmlns:a16="http://schemas.microsoft.com/office/drawing/2014/main" val="1610543496"/>
                    </a:ext>
                  </a:extLst>
                </a:gridCol>
                <a:gridCol w="1251284">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3016865">
                  <a:extLst>
                    <a:ext uri="{9D8B030D-6E8A-4147-A177-3AD203B41FA5}">
                      <a16:colId xmlns:a16="http://schemas.microsoft.com/office/drawing/2014/main" val="1965573024"/>
                    </a:ext>
                  </a:extLst>
                </a:gridCol>
                <a:gridCol w="3016865">
                  <a:extLst>
                    <a:ext uri="{9D8B030D-6E8A-4147-A177-3AD203B41FA5}">
                      <a16:colId xmlns:a16="http://schemas.microsoft.com/office/drawing/2014/main" val="3154632494"/>
                    </a:ext>
                  </a:extLst>
                </a:gridCol>
              </a:tblGrid>
              <a:tr h="282420">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pic>
        <p:nvPicPr>
          <p:cNvPr id="2" name="Picture 4" descr="Waymo branded color scheme">
            <a:extLst>
              <a:ext uri="{FF2B5EF4-FFF2-40B4-BE49-F238E27FC236}">
                <a16:creationId xmlns:a16="http://schemas.microsoft.com/office/drawing/2014/main" id="{9CE7A80A-CF17-8BE3-83A6-FDFE76F88B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30231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923330"/>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a:p>
            <a:pPr algn="l"/>
            <a:r>
              <a:rPr lang="en-US" dirty="0">
                <a:effectLst/>
                <a:latin typeface="GT Walsheim Trial Rg" pitchFamily="2" charset="77"/>
              </a:rPr>
              <a:t>Random Forest characterization: AUC = 0.887</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571</TotalTime>
  <Words>4205</Words>
  <Application>Microsoft Macintosh PowerPoint</Application>
  <PresentationFormat>Widescreen</PresentationFormat>
  <Paragraphs>364</Paragraphs>
  <Slides>15</Slides>
  <Notes>15</Notes>
  <HiddenSlides>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15</vt:i4>
      </vt:variant>
    </vt:vector>
  </HeadingPairs>
  <TitlesOfParts>
    <vt:vector size="25"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DATASET &amp; PIPLINE</vt:lpstr>
      <vt:lpstr>DATASET STATISTICS</vt:lpstr>
      <vt:lpstr>PowerPoint Presentation</vt:lpstr>
      <vt:lpstr>PowerPoint Presentation</vt:lpstr>
      <vt:lpstr>MOTION PREDICTION</vt:lpstr>
      <vt:lpstr>SECTION A - RESULTS  </vt:lpstr>
      <vt:lpstr>SECTION B - RESULTS  </vt:lpstr>
      <vt:lpstr>SECTION C - RESULTS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Stepanov, Pavel Aleksandrovich</cp:lastModifiedBy>
  <cp:revision>4</cp:revision>
  <dcterms:created xsi:type="dcterms:W3CDTF">2026-04-11T16:24:40Z</dcterms:created>
  <dcterms:modified xsi:type="dcterms:W3CDTF">2026-04-12T03:18:10Z</dcterms:modified>
</cp:coreProperties>
</file>