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1" r:id="rId2"/>
    <p:sldId id="260" r:id="rId3"/>
    <p:sldId id="258" r:id="rId4"/>
    <p:sldId id="259"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FF"/>
    <a:srgbClr val="02E89F"/>
    <a:srgbClr val="1D1C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896"/>
    <p:restoredTop sz="94665"/>
  </p:normalViewPr>
  <p:slideViewPr>
    <p:cSldViewPr snapToGrid="0">
      <p:cViewPr>
        <p:scale>
          <a:sx n="67" d="100"/>
          <a:sy n="67" d="100"/>
        </p:scale>
        <p:origin x="752" y="104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12E968-0D9A-A643-AF57-2AF8B454BAC3}" type="datetimeFigureOut">
              <a:rPr lang="en-US" smtClean="0"/>
              <a:t>4/11/26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B28C53-DEED-1B4E-97B2-71E7D73BBCA1}" type="slidenum">
              <a:rPr lang="en-US" smtClean="0"/>
              <a:t>‹#›</a:t>
            </a:fld>
            <a:endParaRPr lang="en-US"/>
          </a:p>
        </p:txBody>
      </p:sp>
    </p:spTree>
    <p:extLst>
      <p:ext uri="{BB962C8B-B14F-4D97-AF65-F5344CB8AC3E}">
        <p14:creationId xmlns:p14="http://schemas.microsoft.com/office/powerpoint/2010/main" val="744396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F43537-14D9-9349-AA70-B1088F1298F1}" type="slidenum">
              <a:rPr lang="en-US" smtClean="0"/>
              <a:t>1</a:t>
            </a:fld>
            <a:endParaRPr lang="en-US"/>
          </a:p>
        </p:txBody>
      </p:sp>
    </p:spTree>
    <p:extLst>
      <p:ext uri="{BB962C8B-B14F-4D97-AF65-F5344CB8AC3E}">
        <p14:creationId xmlns:p14="http://schemas.microsoft.com/office/powerpoint/2010/main" val="1100989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BA47D-3633-19CC-8F53-64632B928D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6BB316-F95A-2761-9C0D-0C57F75D78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DC225F-6B24-3705-0278-A7ADEFB4F608}"/>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5" name="Footer Placeholder 4">
            <a:extLst>
              <a:ext uri="{FF2B5EF4-FFF2-40B4-BE49-F238E27FC236}">
                <a16:creationId xmlns:a16="http://schemas.microsoft.com/office/drawing/2014/main" id="{5A8271A2-9B3B-941B-30C2-8A1933506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36C4CD-5384-FF20-B126-3CCBA25F4B04}"/>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667312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8BA68-30A4-511E-6D5F-88370B0367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847AA3-2D99-42B9-BB51-05A67DF47D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6CF833-ABB7-761C-00BA-2836D2BD119D}"/>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5" name="Footer Placeholder 4">
            <a:extLst>
              <a:ext uri="{FF2B5EF4-FFF2-40B4-BE49-F238E27FC236}">
                <a16:creationId xmlns:a16="http://schemas.microsoft.com/office/drawing/2014/main" id="{6191F694-F60E-F0BA-119C-99054E1B0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149E2B-1080-659E-E43B-8327FB0A2B57}"/>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1184510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5C2A8-8BB5-0B7E-F553-DEAEB41BEB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C87643-B225-7172-5CF7-095F5D4D6E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02EFBF-E2F2-FA37-EFFD-2F55C6FA7059}"/>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5" name="Footer Placeholder 4">
            <a:extLst>
              <a:ext uri="{FF2B5EF4-FFF2-40B4-BE49-F238E27FC236}">
                <a16:creationId xmlns:a16="http://schemas.microsoft.com/office/drawing/2014/main" id="{4F7E095B-A2AB-F7F4-E95A-6498FADE70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DAAF61-73F3-E86D-DF91-AF10424F9BF7}"/>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2480753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3A1E-8AEB-50EA-5FBE-F68142E49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F22E7C-8379-8DD9-37EA-582ACCFC37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CE0E3D-42BC-1549-CA0F-D2B8919214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ABAA19-E4CC-7BDC-5785-4F72CD4F2CFE}"/>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6" name="Footer Placeholder 5">
            <a:extLst>
              <a:ext uri="{FF2B5EF4-FFF2-40B4-BE49-F238E27FC236}">
                <a16:creationId xmlns:a16="http://schemas.microsoft.com/office/drawing/2014/main" id="{44CA3CA3-C710-DA02-D328-8AA7A5F946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0C7B9B-736F-60D4-4CAA-8E7BA9D82804}"/>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288796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665D1-E379-F50A-88DC-F195CF1855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5D3A9E-F8A2-1C58-BC1B-DD454019B8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32D3A3-1228-437D-4F3E-3F55D42DE4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71EF91-5662-E38B-4389-E0DBF1CBF1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69224C-3BEC-3B98-8081-16F1BC1073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837ED-8DBE-5EAA-5F03-2E442AE41CFE}"/>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8" name="Footer Placeholder 7">
            <a:extLst>
              <a:ext uri="{FF2B5EF4-FFF2-40B4-BE49-F238E27FC236}">
                <a16:creationId xmlns:a16="http://schemas.microsoft.com/office/drawing/2014/main" id="{AFAF2989-CC8C-984E-60CE-2A2140EC0D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129D74-A3A0-A674-3D17-510B45D173EB}"/>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2127901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E957-5F88-DE9E-97A5-C6AEC68A31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3190A6-1DEE-8A04-5CEB-3012A4FD2099}"/>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4" name="Footer Placeholder 3">
            <a:extLst>
              <a:ext uri="{FF2B5EF4-FFF2-40B4-BE49-F238E27FC236}">
                <a16:creationId xmlns:a16="http://schemas.microsoft.com/office/drawing/2014/main" id="{B8EA6BB8-566F-3F34-8D3A-E071ABEABE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6670F4-3AC3-1EB3-F61C-2FB9B576B4D0}"/>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1064502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13296D-5C56-A89D-0DF0-1A9DC5B75B3B}"/>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3" name="Footer Placeholder 2">
            <a:extLst>
              <a:ext uri="{FF2B5EF4-FFF2-40B4-BE49-F238E27FC236}">
                <a16:creationId xmlns:a16="http://schemas.microsoft.com/office/drawing/2014/main" id="{8DBCBFF2-291F-81E6-E4EE-89DB1AF7FD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E8EF04-3603-E92D-E81A-0FFE72EF0413}"/>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2459731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6B9FA-FB81-2528-7090-F7A3C403EA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B5039C-7C70-0FF9-E1B3-4E9246E12D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5CB2CF-5569-06F3-9D09-59A21FB36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8E5E3-5F4D-7A74-59F8-0A0BCFAC46B3}"/>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6" name="Footer Placeholder 5">
            <a:extLst>
              <a:ext uri="{FF2B5EF4-FFF2-40B4-BE49-F238E27FC236}">
                <a16:creationId xmlns:a16="http://schemas.microsoft.com/office/drawing/2014/main" id="{E1106879-A82F-7452-D3D5-60ACBF26D1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A72A95-AF1C-C88C-4B64-35C69AFC418B}"/>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54203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0981-79F8-0ADC-B844-8E650538A7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4B8D8E-8622-5024-BD81-AB97EF0A6D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E68AC2-51DA-2ACD-E044-AB9910A118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7DA015-9F22-1708-5A90-E1389D6A9E44}"/>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6" name="Footer Placeholder 5">
            <a:extLst>
              <a:ext uri="{FF2B5EF4-FFF2-40B4-BE49-F238E27FC236}">
                <a16:creationId xmlns:a16="http://schemas.microsoft.com/office/drawing/2014/main" id="{1F6BB9C1-0A72-7608-3BD5-DBA7D137A8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8FFE80-C264-F595-BB90-49ED1F5BAC99}"/>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3873058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C2D0-5EFD-9C88-823E-D2988012E4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211944-FB0B-4E1D-80D0-E37783616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5F615-D351-BF4B-C7EE-A20C90EAD77F}"/>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5" name="Footer Placeholder 4">
            <a:extLst>
              <a:ext uri="{FF2B5EF4-FFF2-40B4-BE49-F238E27FC236}">
                <a16:creationId xmlns:a16="http://schemas.microsoft.com/office/drawing/2014/main" id="{8B358797-3080-658A-846A-C02173B31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A3E14-684E-9179-6325-EE34339C5974}"/>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3435276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DCA26B-25B7-C443-96BF-9538374228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CCCEF-C613-E1ED-7748-59CD51C55A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6F6A33-9E11-507E-733D-2B1F36BAD5BA}"/>
              </a:ext>
            </a:extLst>
          </p:cNvPr>
          <p:cNvSpPr>
            <a:spLocks noGrp="1"/>
          </p:cNvSpPr>
          <p:nvPr>
            <p:ph type="dt" sz="half" idx="10"/>
          </p:nvPr>
        </p:nvSpPr>
        <p:spPr/>
        <p:txBody>
          <a:bodyPr/>
          <a:lstStyle/>
          <a:p>
            <a:fld id="{1FBD597B-6672-FB48-8001-1BB904F437EC}" type="datetimeFigureOut">
              <a:rPr lang="en-US" smtClean="0"/>
              <a:t>4/11/26</a:t>
            </a:fld>
            <a:endParaRPr lang="en-US"/>
          </a:p>
        </p:txBody>
      </p:sp>
      <p:sp>
        <p:nvSpPr>
          <p:cNvPr id="5" name="Footer Placeholder 4">
            <a:extLst>
              <a:ext uri="{FF2B5EF4-FFF2-40B4-BE49-F238E27FC236}">
                <a16:creationId xmlns:a16="http://schemas.microsoft.com/office/drawing/2014/main" id="{B8DFF58A-F1D8-F0C5-6C08-47BA45A6BC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74EAD2-797A-3BA9-7953-C0685FA68BC6}"/>
              </a:ext>
            </a:extLst>
          </p:cNvPr>
          <p:cNvSpPr>
            <a:spLocks noGrp="1"/>
          </p:cNvSpPr>
          <p:nvPr>
            <p:ph type="sldNum" sz="quarter" idx="12"/>
          </p:nvPr>
        </p:nvSpPr>
        <p:spPr/>
        <p:txBody>
          <a:bodyPr/>
          <a:lstStyle/>
          <a:p>
            <a:fld id="{D32333FA-B173-5140-8231-5185B7757E6D}" type="slidenum">
              <a:rPr lang="en-US" smtClean="0"/>
              <a:t>‹#›</a:t>
            </a:fld>
            <a:endParaRPr lang="en-US"/>
          </a:p>
        </p:txBody>
      </p:sp>
    </p:spTree>
    <p:extLst>
      <p:ext uri="{BB962C8B-B14F-4D97-AF65-F5344CB8AC3E}">
        <p14:creationId xmlns:p14="http://schemas.microsoft.com/office/powerpoint/2010/main" val="2257755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05E0C8-3FD6-3B09-83BF-82EEE90FDB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0C53E6-BBA2-43D4-78F2-0B099D8636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FB550-80C4-A53E-E2F5-3C79199E53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BD597B-6672-FB48-8001-1BB904F437EC}" type="datetimeFigureOut">
              <a:rPr lang="en-US" smtClean="0"/>
              <a:t>4/11/26</a:t>
            </a:fld>
            <a:endParaRPr lang="en-US"/>
          </a:p>
        </p:txBody>
      </p:sp>
      <p:sp>
        <p:nvSpPr>
          <p:cNvPr id="5" name="Footer Placeholder 4">
            <a:extLst>
              <a:ext uri="{FF2B5EF4-FFF2-40B4-BE49-F238E27FC236}">
                <a16:creationId xmlns:a16="http://schemas.microsoft.com/office/drawing/2014/main" id="{D950CA7F-ED1F-518A-EA89-EDE0B50573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BDD331E-0B3F-7900-188E-2F5C5A78C9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2333FA-B173-5140-8231-5185B7757E6D}" type="slidenum">
              <a:rPr lang="en-US" smtClean="0"/>
              <a:t>‹#›</a:t>
            </a:fld>
            <a:endParaRPr lang="en-US"/>
          </a:p>
        </p:txBody>
      </p:sp>
    </p:spTree>
    <p:extLst>
      <p:ext uri="{BB962C8B-B14F-4D97-AF65-F5344CB8AC3E}">
        <p14:creationId xmlns:p14="http://schemas.microsoft.com/office/powerpoint/2010/main" val="327954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5D1FB7A-3DEB-670D-AD89-2968FD7A4C32}"/>
              </a:ext>
            </a:extLst>
          </p:cNvPr>
          <p:cNvPicPr>
            <a:picLocks noChangeAspect="1"/>
          </p:cNvPicPr>
          <p:nvPr/>
        </p:nvPicPr>
        <p:blipFill>
          <a:blip r:embed="rId3"/>
          <a:srcRect t="12329" b="13841"/>
          <a:stretch>
            <a:fillRect/>
          </a:stretch>
        </p:blipFill>
        <p:spPr>
          <a:xfrm>
            <a:off x="4776354" y="883941"/>
            <a:ext cx="8091550" cy="5974059"/>
          </a:xfrm>
          <a:prstGeom prst="rect">
            <a:avLst/>
          </a:prstGeom>
        </p:spPr>
      </p:pic>
      <p:pic>
        <p:nvPicPr>
          <p:cNvPr id="1026" name="Picture 2" descr="Waymo Logo">
            <a:extLst>
              <a:ext uri="{FF2B5EF4-FFF2-40B4-BE49-F238E27FC236}">
                <a16:creationId xmlns:a16="http://schemas.microsoft.com/office/drawing/2014/main" id="{E05DD438-99CC-9720-EA36-5A9433528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378" y="425703"/>
            <a:ext cx="782903" cy="78290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AEB3031-73B3-1280-82F5-25B36391EA35}"/>
              </a:ext>
            </a:extLst>
          </p:cNvPr>
          <p:cNvSpPr txBox="1">
            <a:spLocks/>
          </p:cNvSpPr>
          <p:nvPr/>
        </p:nvSpPr>
        <p:spPr>
          <a:xfrm>
            <a:off x="598466" y="3697553"/>
            <a:ext cx="7716982" cy="14070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500" dirty="0">
                <a:latin typeface="GT Walsheim Trial Lt" pitchFamily="2" charset="77"/>
              </a:rPr>
              <a:t>Pavel Stepanov</a:t>
            </a:r>
          </a:p>
          <a:p>
            <a:pPr algn="l"/>
            <a:r>
              <a:rPr lang="en-US" sz="1500" dirty="0">
                <a:latin typeface="GT Walsheim Trial Lt" pitchFamily="2" charset="77"/>
              </a:rPr>
              <a:t>Ramses </a:t>
            </a:r>
            <a:r>
              <a:rPr lang="en-US" sz="1500" dirty="0" err="1">
                <a:latin typeface="GT Walsheim Trial Lt" pitchFamily="2" charset="77"/>
              </a:rPr>
              <a:t>Loaces</a:t>
            </a:r>
            <a:endParaRPr lang="en-US" sz="1500" dirty="0">
              <a:latin typeface="GT Walsheim Trial Lt" pitchFamily="2" charset="77"/>
            </a:endParaRPr>
          </a:p>
          <a:p>
            <a:pPr algn="l"/>
            <a:r>
              <a:rPr lang="en-US" sz="1500" dirty="0">
                <a:latin typeface="GT Walsheim Trial Lt" pitchFamily="2" charset="77"/>
              </a:rPr>
              <a:t>Justin Cabrera</a:t>
            </a:r>
          </a:p>
          <a:p>
            <a:pPr algn="l"/>
            <a:endParaRPr lang="en-US" sz="1500" dirty="0">
              <a:latin typeface="GT Walsheim Trial Lt" pitchFamily="2" charset="77"/>
            </a:endParaRPr>
          </a:p>
          <a:p>
            <a:pPr algn="l"/>
            <a:r>
              <a:rPr lang="en-US" sz="1500" b="1" dirty="0">
                <a:latin typeface="GT Walsheim Trial Lt" pitchFamily="2" charset="77"/>
              </a:rPr>
              <a:t>Department of Computer Science University of Miami </a:t>
            </a:r>
          </a:p>
          <a:p>
            <a:pPr algn="l"/>
            <a:r>
              <a:rPr lang="en-US" sz="1500" dirty="0">
                <a:latin typeface="GT Walsheim Trial Lt" pitchFamily="2" charset="77"/>
              </a:rPr>
              <a:t>CSC 642 · Spring 2026</a:t>
            </a:r>
          </a:p>
        </p:txBody>
      </p:sp>
      <p:grpSp>
        <p:nvGrpSpPr>
          <p:cNvPr id="13" name="Group 12">
            <a:extLst>
              <a:ext uri="{FF2B5EF4-FFF2-40B4-BE49-F238E27FC236}">
                <a16:creationId xmlns:a16="http://schemas.microsoft.com/office/drawing/2014/main" id="{57795B83-9678-0911-0083-8F3B03169837}"/>
              </a:ext>
            </a:extLst>
          </p:cNvPr>
          <p:cNvGrpSpPr/>
          <p:nvPr/>
        </p:nvGrpSpPr>
        <p:grpSpPr>
          <a:xfrm>
            <a:off x="-23953700" y="5718464"/>
            <a:ext cx="38232855" cy="848342"/>
            <a:chOff x="-19973883" y="5718464"/>
            <a:chExt cx="38232855" cy="848342"/>
          </a:xfrm>
        </p:grpSpPr>
        <p:sp>
          <p:nvSpPr>
            <p:cNvPr id="14" name="Rectangle 13">
              <a:extLst>
                <a:ext uri="{FF2B5EF4-FFF2-40B4-BE49-F238E27FC236}">
                  <a16:creationId xmlns:a16="http://schemas.microsoft.com/office/drawing/2014/main" id="{C122000F-D534-5D5D-8273-8D997F1C1C70}"/>
                </a:ext>
              </a:extLst>
            </p:cNvPr>
            <p:cNvSpPr/>
            <p:nvPr/>
          </p:nvSpPr>
          <p:spPr>
            <a:xfrm>
              <a:off x="-19973883" y="6039291"/>
              <a:ext cx="18842841" cy="448593"/>
            </a:xfrm>
            <a:prstGeom prst="rect">
              <a:avLst/>
            </a:prstGeom>
            <a:gradFill flip="none" rotWithShape="1">
              <a:gsLst>
                <a:gs pos="0">
                  <a:srgbClr val="0078FF"/>
                </a:gs>
                <a:gs pos="25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E237C3A-470B-B332-BD7D-02A32600164F}"/>
                </a:ext>
              </a:extLst>
            </p:cNvPr>
            <p:cNvSpPr/>
            <p:nvPr/>
          </p:nvSpPr>
          <p:spPr>
            <a:xfrm>
              <a:off x="-583869" y="6039291"/>
              <a:ext cx="18842841" cy="521842"/>
            </a:xfrm>
            <a:prstGeom prst="rect">
              <a:avLst/>
            </a:prstGeom>
            <a:gradFill flip="none" rotWithShape="1">
              <a:gsLst>
                <a:gs pos="0">
                  <a:srgbClr val="02E89F"/>
                </a:gs>
                <a:gs pos="25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D3A576C-8D2B-C063-1B54-C83F0FED4738}"/>
                </a:ext>
              </a:extLst>
            </p:cNvPr>
            <p:cNvPicPr>
              <a:picLocks noChangeAspect="1"/>
            </p:cNvPicPr>
            <p:nvPr/>
          </p:nvPicPr>
          <p:blipFill>
            <a:blip r:embed="rId5"/>
            <a:stretch>
              <a:fillRect/>
            </a:stretch>
          </p:blipFill>
          <p:spPr>
            <a:xfrm>
              <a:off x="-1678214" y="5718464"/>
              <a:ext cx="1391461" cy="848342"/>
            </a:xfrm>
            <a:prstGeom prst="rect">
              <a:avLst/>
            </a:prstGeom>
          </p:spPr>
        </p:pic>
      </p:grpSp>
      <p:pic>
        <p:nvPicPr>
          <p:cNvPr id="22" name="Picture 21">
            <a:extLst>
              <a:ext uri="{FF2B5EF4-FFF2-40B4-BE49-F238E27FC236}">
                <a16:creationId xmlns:a16="http://schemas.microsoft.com/office/drawing/2014/main" id="{0D695CD7-C942-7693-4EC1-701F711D3C24}"/>
              </a:ext>
            </a:extLst>
          </p:cNvPr>
          <p:cNvPicPr>
            <a:picLocks noChangeAspect="1"/>
          </p:cNvPicPr>
          <p:nvPr/>
        </p:nvPicPr>
        <p:blipFill>
          <a:blip r:embed="rId6"/>
          <a:stretch>
            <a:fillRect/>
          </a:stretch>
        </p:blipFill>
        <p:spPr>
          <a:xfrm>
            <a:off x="5452259" y="1848684"/>
            <a:ext cx="6739741" cy="3550528"/>
          </a:xfrm>
          <a:prstGeom prst="rect">
            <a:avLst/>
          </a:prstGeom>
        </p:spPr>
      </p:pic>
      <p:sp>
        <p:nvSpPr>
          <p:cNvPr id="2" name="Title 1">
            <a:extLst>
              <a:ext uri="{FF2B5EF4-FFF2-40B4-BE49-F238E27FC236}">
                <a16:creationId xmlns:a16="http://schemas.microsoft.com/office/drawing/2014/main" id="{3BAEE4AA-D2CA-CB0C-01DE-666FE3459549}"/>
              </a:ext>
            </a:extLst>
          </p:cNvPr>
          <p:cNvSpPr>
            <a:spLocks noGrp="1"/>
          </p:cNvSpPr>
          <p:nvPr>
            <p:ph type="ctrTitle"/>
          </p:nvPr>
        </p:nvSpPr>
        <p:spPr>
          <a:xfrm>
            <a:off x="598466" y="1208606"/>
            <a:ext cx="8091550" cy="2488947"/>
          </a:xfrm>
        </p:spPr>
        <p:txBody>
          <a:bodyPr>
            <a:noAutofit/>
          </a:bodyPr>
          <a:lstStyle/>
          <a:p>
            <a:pPr algn="l"/>
            <a:r>
              <a:rPr lang="en-US" sz="4500" b="1" dirty="0">
                <a:latin typeface="GT Walsheim Trial Rg" pitchFamily="2" charset="77"/>
              </a:rPr>
              <a:t>Unsupervised Statistical Learning </a:t>
            </a:r>
            <a:r>
              <a:rPr lang="en-US" sz="4500" dirty="0">
                <a:latin typeface="GT Walsheim Trial Rg" pitchFamily="2" charset="77"/>
              </a:rPr>
              <a:t>for Kinematic Anomaly Detection in Autonomous Driving </a:t>
            </a:r>
            <a:br>
              <a:rPr lang="en-US" sz="4500" dirty="0">
                <a:latin typeface="GT Walsheim Trial Rg" pitchFamily="2" charset="77"/>
              </a:rPr>
            </a:br>
            <a:r>
              <a:rPr lang="en-US" sz="4500" dirty="0">
                <a:latin typeface="GT Walsheim Trial Rg" pitchFamily="2" charset="77"/>
              </a:rPr>
              <a:t>Scenarios</a:t>
            </a:r>
          </a:p>
        </p:txBody>
      </p:sp>
      <p:grpSp>
        <p:nvGrpSpPr>
          <p:cNvPr id="17" name="Group 16">
            <a:extLst>
              <a:ext uri="{FF2B5EF4-FFF2-40B4-BE49-F238E27FC236}">
                <a16:creationId xmlns:a16="http://schemas.microsoft.com/office/drawing/2014/main" id="{83FDB535-1427-165E-93C9-A4D5A023E591}"/>
              </a:ext>
            </a:extLst>
          </p:cNvPr>
          <p:cNvGrpSpPr/>
          <p:nvPr/>
        </p:nvGrpSpPr>
        <p:grpSpPr>
          <a:xfrm>
            <a:off x="-23953700" y="5725161"/>
            <a:ext cx="38232855" cy="848342"/>
            <a:chOff x="-19973883" y="5718464"/>
            <a:chExt cx="38232855" cy="848342"/>
          </a:xfrm>
        </p:grpSpPr>
        <p:sp>
          <p:nvSpPr>
            <p:cNvPr id="18" name="Rectangle 17">
              <a:extLst>
                <a:ext uri="{FF2B5EF4-FFF2-40B4-BE49-F238E27FC236}">
                  <a16:creationId xmlns:a16="http://schemas.microsoft.com/office/drawing/2014/main" id="{2921809B-D47A-DEC1-B7F5-78768D45E752}"/>
                </a:ext>
              </a:extLst>
            </p:cNvPr>
            <p:cNvSpPr/>
            <p:nvPr/>
          </p:nvSpPr>
          <p:spPr>
            <a:xfrm>
              <a:off x="-19973883" y="6039291"/>
              <a:ext cx="18842841" cy="448593"/>
            </a:xfrm>
            <a:prstGeom prst="rect">
              <a:avLst/>
            </a:prstGeom>
            <a:gradFill flip="none" rotWithShape="1">
              <a:gsLst>
                <a:gs pos="0">
                  <a:srgbClr val="0078FF"/>
                </a:gs>
                <a:gs pos="25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C9F98BD-D8C1-E410-2621-003F85F715D0}"/>
                </a:ext>
              </a:extLst>
            </p:cNvPr>
            <p:cNvSpPr/>
            <p:nvPr/>
          </p:nvSpPr>
          <p:spPr>
            <a:xfrm>
              <a:off x="-583869" y="6039291"/>
              <a:ext cx="18842841" cy="521842"/>
            </a:xfrm>
            <a:prstGeom prst="rect">
              <a:avLst/>
            </a:prstGeom>
            <a:gradFill flip="none" rotWithShape="1">
              <a:gsLst>
                <a:gs pos="0">
                  <a:srgbClr val="02E89F"/>
                </a:gs>
                <a:gs pos="25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0BFCFC41-9EB1-D659-E497-418A2C10014C}"/>
                </a:ext>
              </a:extLst>
            </p:cNvPr>
            <p:cNvPicPr>
              <a:picLocks noChangeAspect="1"/>
            </p:cNvPicPr>
            <p:nvPr/>
          </p:nvPicPr>
          <p:blipFill>
            <a:blip r:embed="rId5"/>
            <a:stretch>
              <a:fillRect/>
            </a:stretch>
          </p:blipFill>
          <p:spPr>
            <a:xfrm>
              <a:off x="-1678214" y="5718464"/>
              <a:ext cx="1391461" cy="848342"/>
            </a:xfrm>
            <a:prstGeom prst="rect">
              <a:avLst/>
            </a:prstGeom>
          </p:spPr>
        </p:pic>
      </p:grpSp>
    </p:spTree>
    <p:extLst>
      <p:ext uri="{BB962C8B-B14F-4D97-AF65-F5344CB8AC3E}">
        <p14:creationId xmlns:p14="http://schemas.microsoft.com/office/powerpoint/2010/main" val="3542837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222F5-4484-C155-9F89-7296C2C279A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F1B4903-8D1E-F34D-B541-A70ABC4BAB56}"/>
              </a:ext>
            </a:extLst>
          </p:cNvPr>
          <p:cNvSpPr/>
          <p:nvPr/>
        </p:nvSpPr>
        <p:spPr>
          <a:xfrm>
            <a:off x="0" y="0"/>
            <a:ext cx="12192000" cy="1216903"/>
          </a:xfrm>
          <a:prstGeom prst="rect">
            <a:avLst/>
          </a:prstGeom>
          <a:solidFill>
            <a:srgbClr val="1D1C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922BDA73-8BAA-3D13-477D-335FE87AF2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0455" y="240158"/>
            <a:ext cx="976745" cy="9767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C1AF236-04AD-0AE9-E556-6D4627E1AC6E}"/>
              </a:ext>
            </a:extLst>
          </p:cNvPr>
          <p:cNvPicPr>
            <a:picLocks noChangeAspect="1"/>
          </p:cNvPicPr>
          <p:nvPr/>
        </p:nvPicPr>
        <p:blipFill>
          <a:blip r:embed="rId3"/>
          <a:stretch>
            <a:fillRect/>
          </a:stretch>
        </p:blipFill>
        <p:spPr>
          <a:xfrm>
            <a:off x="304800" y="728530"/>
            <a:ext cx="2926676" cy="318185"/>
          </a:xfrm>
          <a:prstGeom prst="rect">
            <a:avLst/>
          </a:prstGeom>
        </p:spPr>
      </p:pic>
      <p:sp>
        <p:nvSpPr>
          <p:cNvPr id="4" name="TextBox 3">
            <a:extLst>
              <a:ext uri="{FF2B5EF4-FFF2-40B4-BE49-F238E27FC236}">
                <a16:creationId xmlns:a16="http://schemas.microsoft.com/office/drawing/2014/main" id="{9634A259-3BB2-CBF7-7FE8-917AE124C95F}"/>
              </a:ext>
            </a:extLst>
          </p:cNvPr>
          <p:cNvSpPr txBox="1"/>
          <p:nvPr/>
        </p:nvSpPr>
        <p:spPr>
          <a:xfrm>
            <a:off x="304801" y="240158"/>
            <a:ext cx="1975556" cy="769441"/>
          </a:xfrm>
          <a:prstGeom prst="rect">
            <a:avLst/>
          </a:prstGeom>
          <a:noFill/>
        </p:spPr>
        <p:txBody>
          <a:bodyPr wrap="square" rtlCol="0">
            <a:spAutoFit/>
          </a:bodyPr>
          <a:lstStyle/>
          <a:p>
            <a:r>
              <a:rPr lang="en-US" sz="4400" dirty="0">
                <a:solidFill>
                  <a:schemeClr val="bg1"/>
                </a:solidFill>
                <a:latin typeface="Arial" panose="020B0604020202020204" pitchFamily="34" charset="0"/>
                <a:cs typeface="Arial" panose="020B0604020202020204" pitchFamily="34" charset="0"/>
              </a:rPr>
              <a:t>Intro</a:t>
            </a:r>
          </a:p>
        </p:txBody>
      </p:sp>
      <p:grpSp>
        <p:nvGrpSpPr>
          <p:cNvPr id="43" name="Group 42">
            <a:extLst>
              <a:ext uri="{FF2B5EF4-FFF2-40B4-BE49-F238E27FC236}">
                <a16:creationId xmlns:a16="http://schemas.microsoft.com/office/drawing/2014/main" id="{69E8C1AD-A99E-41A1-9A0A-254AA2D294D6}"/>
              </a:ext>
            </a:extLst>
          </p:cNvPr>
          <p:cNvGrpSpPr/>
          <p:nvPr/>
        </p:nvGrpSpPr>
        <p:grpSpPr>
          <a:xfrm>
            <a:off x="-23953700" y="5718464"/>
            <a:ext cx="38232855" cy="848342"/>
            <a:chOff x="-19973883" y="5718464"/>
            <a:chExt cx="38232855" cy="848342"/>
          </a:xfrm>
        </p:grpSpPr>
        <p:sp>
          <p:nvSpPr>
            <p:cNvPr id="44" name="Rectangle 43">
              <a:extLst>
                <a:ext uri="{FF2B5EF4-FFF2-40B4-BE49-F238E27FC236}">
                  <a16:creationId xmlns:a16="http://schemas.microsoft.com/office/drawing/2014/main" id="{BF25DD80-646F-E85A-18F3-F9A778DD27B2}"/>
                </a:ext>
              </a:extLst>
            </p:cNvPr>
            <p:cNvSpPr/>
            <p:nvPr/>
          </p:nvSpPr>
          <p:spPr>
            <a:xfrm>
              <a:off x="-19973883" y="6039291"/>
              <a:ext cx="18842841" cy="448593"/>
            </a:xfrm>
            <a:prstGeom prst="rect">
              <a:avLst/>
            </a:prstGeom>
            <a:gradFill flip="none" rotWithShape="1">
              <a:gsLst>
                <a:gs pos="0">
                  <a:srgbClr val="0078FF"/>
                </a:gs>
                <a:gs pos="25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6B4CCCF-7EAF-6B08-A957-C32FC199BDF7}"/>
                </a:ext>
              </a:extLst>
            </p:cNvPr>
            <p:cNvSpPr/>
            <p:nvPr/>
          </p:nvSpPr>
          <p:spPr>
            <a:xfrm>
              <a:off x="-583869" y="6039291"/>
              <a:ext cx="18842841" cy="521842"/>
            </a:xfrm>
            <a:prstGeom prst="rect">
              <a:avLst/>
            </a:prstGeom>
            <a:gradFill flip="none" rotWithShape="1">
              <a:gsLst>
                <a:gs pos="0">
                  <a:srgbClr val="02E89F"/>
                </a:gs>
                <a:gs pos="25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C2028E35-3CBC-20B7-C2F1-6941A940B882}"/>
                </a:ext>
              </a:extLst>
            </p:cNvPr>
            <p:cNvPicPr>
              <a:picLocks noChangeAspect="1"/>
            </p:cNvPicPr>
            <p:nvPr/>
          </p:nvPicPr>
          <p:blipFill>
            <a:blip r:embed="rId4"/>
            <a:stretch>
              <a:fillRect/>
            </a:stretch>
          </p:blipFill>
          <p:spPr>
            <a:xfrm>
              <a:off x="-1678214" y="5718464"/>
              <a:ext cx="1391461" cy="848342"/>
            </a:xfrm>
            <a:prstGeom prst="rect">
              <a:avLst/>
            </a:prstGeom>
          </p:spPr>
        </p:pic>
      </p:grpSp>
      <p:grpSp>
        <p:nvGrpSpPr>
          <p:cNvPr id="47" name="Group 46">
            <a:extLst>
              <a:ext uri="{FF2B5EF4-FFF2-40B4-BE49-F238E27FC236}">
                <a16:creationId xmlns:a16="http://schemas.microsoft.com/office/drawing/2014/main" id="{C238F647-3DEA-AFBC-F2BB-12B0631067D4}"/>
              </a:ext>
            </a:extLst>
          </p:cNvPr>
          <p:cNvGrpSpPr/>
          <p:nvPr/>
        </p:nvGrpSpPr>
        <p:grpSpPr>
          <a:xfrm>
            <a:off x="-1601700" y="5725161"/>
            <a:ext cx="38232855" cy="848342"/>
            <a:chOff x="-19973883" y="5718464"/>
            <a:chExt cx="38232855" cy="848342"/>
          </a:xfrm>
        </p:grpSpPr>
        <p:sp>
          <p:nvSpPr>
            <p:cNvPr id="48" name="Rectangle 47">
              <a:extLst>
                <a:ext uri="{FF2B5EF4-FFF2-40B4-BE49-F238E27FC236}">
                  <a16:creationId xmlns:a16="http://schemas.microsoft.com/office/drawing/2014/main" id="{9377ED31-1097-7E8A-FCD4-DABA42560159}"/>
                </a:ext>
              </a:extLst>
            </p:cNvPr>
            <p:cNvSpPr/>
            <p:nvPr/>
          </p:nvSpPr>
          <p:spPr>
            <a:xfrm>
              <a:off x="-19973883" y="6039291"/>
              <a:ext cx="18842841" cy="448593"/>
            </a:xfrm>
            <a:prstGeom prst="rect">
              <a:avLst/>
            </a:prstGeom>
            <a:gradFill flip="none" rotWithShape="1">
              <a:gsLst>
                <a:gs pos="0">
                  <a:srgbClr val="0078FF"/>
                </a:gs>
                <a:gs pos="25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C969BD0-D85E-D78E-B41C-E6168419904C}"/>
                </a:ext>
              </a:extLst>
            </p:cNvPr>
            <p:cNvSpPr/>
            <p:nvPr/>
          </p:nvSpPr>
          <p:spPr>
            <a:xfrm>
              <a:off x="-583869" y="6039291"/>
              <a:ext cx="18842841" cy="521842"/>
            </a:xfrm>
            <a:prstGeom prst="rect">
              <a:avLst/>
            </a:prstGeom>
            <a:gradFill flip="none" rotWithShape="1">
              <a:gsLst>
                <a:gs pos="0">
                  <a:srgbClr val="02E89F"/>
                </a:gs>
                <a:gs pos="25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D8C354F6-782D-BB6D-DD5E-5F5D07A42666}"/>
                </a:ext>
              </a:extLst>
            </p:cNvPr>
            <p:cNvPicPr>
              <a:picLocks noChangeAspect="1"/>
            </p:cNvPicPr>
            <p:nvPr/>
          </p:nvPicPr>
          <p:blipFill>
            <a:blip r:embed="rId4"/>
            <a:stretch>
              <a:fillRect/>
            </a:stretch>
          </p:blipFill>
          <p:spPr>
            <a:xfrm>
              <a:off x="-1678214" y="5718464"/>
              <a:ext cx="1391461" cy="848342"/>
            </a:xfrm>
            <a:prstGeom prst="rect">
              <a:avLst/>
            </a:prstGeom>
          </p:spPr>
        </p:pic>
      </p:grpSp>
    </p:spTree>
    <p:extLst>
      <p:ext uri="{BB962C8B-B14F-4D97-AF65-F5344CB8AC3E}">
        <p14:creationId xmlns:p14="http://schemas.microsoft.com/office/powerpoint/2010/main" val="42306305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4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A3ED2-DB20-28D4-7712-12D08ADDD27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6D995F4-09AD-314B-EED2-A02457632D30}"/>
              </a:ext>
            </a:extLst>
          </p:cNvPr>
          <p:cNvSpPr/>
          <p:nvPr/>
        </p:nvSpPr>
        <p:spPr>
          <a:xfrm>
            <a:off x="0" y="0"/>
            <a:ext cx="12192000" cy="1216903"/>
          </a:xfrm>
          <a:prstGeom prst="rect">
            <a:avLst/>
          </a:prstGeom>
          <a:solidFill>
            <a:srgbClr val="1D1C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aymo Logo">
            <a:extLst>
              <a:ext uri="{FF2B5EF4-FFF2-40B4-BE49-F238E27FC236}">
                <a16:creationId xmlns:a16="http://schemas.microsoft.com/office/drawing/2014/main" id="{89E30F46-EB62-9CCF-A73A-0B06CB3D3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0455" y="240158"/>
            <a:ext cx="976745" cy="9767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072AFEF-6F30-191C-2059-8EE328739EC5}"/>
              </a:ext>
            </a:extLst>
          </p:cNvPr>
          <p:cNvPicPr>
            <a:picLocks noChangeAspect="1"/>
          </p:cNvPicPr>
          <p:nvPr/>
        </p:nvPicPr>
        <p:blipFill>
          <a:blip r:embed="rId3"/>
          <a:stretch>
            <a:fillRect/>
          </a:stretch>
        </p:blipFill>
        <p:spPr>
          <a:xfrm>
            <a:off x="304800" y="728530"/>
            <a:ext cx="2926676" cy="318185"/>
          </a:xfrm>
          <a:prstGeom prst="rect">
            <a:avLst/>
          </a:prstGeom>
        </p:spPr>
      </p:pic>
      <p:sp>
        <p:nvSpPr>
          <p:cNvPr id="4" name="TextBox 3">
            <a:extLst>
              <a:ext uri="{FF2B5EF4-FFF2-40B4-BE49-F238E27FC236}">
                <a16:creationId xmlns:a16="http://schemas.microsoft.com/office/drawing/2014/main" id="{6960D35D-4207-6D6B-BB7D-62DEE45F40FA}"/>
              </a:ext>
            </a:extLst>
          </p:cNvPr>
          <p:cNvSpPr txBox="1"/>
          <p:nvPr/>
        </p:nvSpPr>
        <p:spPr>
          <a:xfrm>
            <a:off x="304801" y="240158"/>
            <a:ext cx="1798320" cy="769441"/>
          </a:xfrm>
          <a:prstGeom prst="rect">
            <a:avLst/>
          </a:prstGeom>
          <a:noFill/>
        </p:spPr>
        <p:txBody>
          <a:bodyPr wrap="square" rtlCol="0">
            <a:spAutoFit/>
          </a:bodyPr>
          <a:lstStyle/>
          <a:p>
            <a:r>
              <a:rPr lang="en-US" sz="4400" dirty="0">
                <a:solidFill>
                  <a:schemeClr val="bg1"/>
                </a:solidFill>
                <a:latin typeface="Arial" panose="020B0604020202020204" pitchFamily="34" charset="0"/>
                <a:cs typeface="Arial" panose="020B0604020202020204" pitchFamily="34" charset="0"/>
              </a:rPr>
              <a:t>Safety</a:t>
            </a:r>
          </a:p>
        </p:txBody>
      </p:sp>
      <p:sp>
        <p:nvSpPr>
          <p:cNvPr id="11" name="TextBox 10">
            <a:extLst>
              <a:ext uri="{FF2B5EF4-FFF2-40B4-BE49-F238E27FC236}">
                <a16:creationId xmlns:a16="http://schemas.microsoft.com/office/drawing/2014/main" id="{4F3390D6-4818-ED7D-DDE3-0050BF2A3C8A}"/>
              </a:ext>
            </a:extLst>
          </p:cNvPr>
          <p:cNvSpPr txBox="1"/>
          <p:nvPr/>
        </p:nvSpPr>
        <p:spPr>
          <a:xfrm>
            <a:off x="304798" y="1391749"/>
            <a:ext cx="11582401" cy="830997"/>
          </a:xfrm>
          <a:prstGeom prst="rect">
            <a:avLst/>
          </a:prstGeom>
          <a:noFill/>
        </p:spPr>
        <p:txBody>
          <a:bodyPr wrap="square" rtlCol="0">
            <a:spAutoFit/>
          </a:bodyPr>
          <a:lstStyle/>
          <a:p>
            <a:pPr algn="just"/>
            <a:r>
              <a:rPr lang="en-US" sz="1600" dirty="0">
                <a:latin typeface="Arial" panose="020B0604020202020204" pitchFamily="34" charset="0"/>
                <a:cs typeface="Arial" panose="020B0604020202020204" pitchFamily="34" charset="0"/>
              </a:rPr>
              <a:t>Waymo has positioned in self as a key technological partner in achieving Vision Zero, the collaborative campaign to help communities reach their goals of eliminating all traffic fatalities and severe injuries while increasing safe, healthy, equitable mobility for all.  </a:t>
            </a:r>
          </a:p>
        </p:txBody>
      </p:sp>
      <p:pic>
        <p:nvPicPr>
          <p:cNvPr id="33" name="Picture 32">
            <a:extLst>
              <a:ext uri="{FF2B5EF4-FFF2-40B4-BE49-F238E27FC236}">
                <a16:creationId xmlns:a16="http://schemas.microsoft.com/office/drawing/2014/main" id="{76495847-9DCE-A181-A98B-E2080F8535B4}"/>
              </a:ext>
            </a:extLst>
          </p:cNvPr>
          <p:cNvPicPr>
            <a:picLocks noChangeAspect="1"/>
          </p:cNvPicPr>
          <p:nvPr/>
        </p:nvPicPr>
        <p:blipFill>
          <a:blip r:embed="rId4"/>
          <a:stretch>
            <a:fillRect/>
          </a:stretch>
        </p:blipFill>
        <p:spPr>
          <a:xfrm>
            <a:off x="304798" y="4103218"/>
            <a:ext cx="11582401" cy="1930400"/>
          </a:xfrm>
          <a:prstGeom prst="rect">
            <a:avLst/>
          </a:prstGeom>
        </p:spPr>
      </p:pic>
      <p:pic>
        <p:nvPicPr>
          <p:cNvPr id="1029" name="Picture 1028">
            <a:extLst>
              <a:ext uri="{FF2B5EF4-FFF2-40B4-BE49-F238E27FC236}">
                <a16:creationId xmlns:a16="http://schemas.microsoft.com/office/drawing/2014/main" id="{47DA8205-0B50-5778-55B6-2BC66DE28D20}"/>
              </a:ext>
            </a:extLst>
          </p:cNvPr>
          <p:cNvPicPr>
            <a:picLocks noChangeAspect="1"/>
          </p:cNvPicPr>
          <p:nvPr/>
        </p:nvPicPr>
        <p:blipFill>
          <a:blip r:embed="rId5"/>
          <a:stretch>
            <a:fillRect/>
          </a:stretch>
        </p:blipFill>
        <p:spPr>
          <a:xfrm>
            <a:off x="7892713" y="2222746"/>
            <a:ext cx="3994486" cy="1997243"/>
          </a:xfrm>
          <a:prstGeom prst="rect">
            <a:avLst/>
          </a:prstGeom>
        </p:spPr>
      </p:pic>
      <p:pic>
        <p:nvPicPr>
          <p:cNvPr id="1031" name="Picture 1030">
            <a:extLst>
              <a:ext uri="{FF2B5EF4-FFF2-40B4-BE49-F238E27FC236}">
                <a16:creationId xmlns:a16="http://schemas.microsoft.com/office/drawing/2014/main" id="{39523B8F-17F5-35C7-189C-367414B2CBAC}"/>
              </a:ext>
            </a:extLst>
          </p:cNvPr>
          <p:cNvPicPr>
            <a:picLocks noChangeAspect="1"/>
          </p:cNvPicPr>
          <p:nvPr/>
        </p:nvPicPr>
        <p:blipFill>
          <a:blip r:embed="rId6"/>
          <a:stretch>
            <a:fillRect/>
          </a:stretch>
        </p:blipFill>
        <p:spPr>
          <a:xfrm>
            <a:off x="304798" y="2228419"/>
            <a:ext cx="3994486" cy="1997243"/>
          </a:xfrm>
          <a:prstGeom prst="rect">
            <a:avLst/>
          </a:prstGeom>
        </p:spPr>
      </p:pic>
      <p:pic>
        <p:nvPicPr>
          <p:cNvPr id="1033" name="Picture 1032">
            <a:extLst>
              <a:ext uri="{FF2B5EF4-FFF2-40B4-BE49-F238E27FC236}">
                <a16:creationId xmlns:a16="http://schemas.microsoft.com/office/drawing/2014/main" id="{5A3C5EF6-A71D-6B2F-3BB7-CEB5E3AD44C0}"/>
              </a:ext>
            </a:extLst>
          </p:cNvPr>
          <p:cNvPicPr>
            <a:picLocks noChangeAspect="1"/>
          </p:cNvPicPr>
          <p:nvPr/>
        </p:nvPicPr>
        <p:blipFill>
          <a:blip r:embed="rId7"/>
          <a:stretch>
            <a:fillRect/>
          </a:stretch>
        </p:blipFill>
        <p:spPr>
          <a:xfrm>
            <a:off x="4092403" y="2316120"/>
            <a:ext cx="3800310" cy="1997243"/>
          </a:xfrm>
          <a:prstGeom prst="rect">
            <a:avLst/>
          </a:prstGeom>
        </p:spPr>
      </p:pic>
    </p:spTree>
    <p:extLst>
      <p:ext uri="{BB962C8B-B14F-4D97-AF65-F5344CB8AC3E}">
        <p14:creationId xmlns:p14="http://schemas.microsoft.com/office/powerpoint/2010/main" val="3611673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14B08-6132-AEBF-D22D-BBC7C65E07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509C9F-CA05-4F09-18FF-9DE3BB749DFB}"/>
              </a:ext>
            </a:extLst>
          </p:cNvPr>
          <p:cNvSpPr/>
          <p:nvPr/>
        </p:nvSpPr>
        <p:spPr>
          <a:xfrm>
            <a:off x="0" y="0"/>
            <a:ext cx="12192000" cy="1216903"/>
          </a:xfrm>
          <a:prstGeom prst="rect">
            <a:avLst/>
          </a:prstGeom>
          <a:solidFill>
            <a:srgbClr val="1D1C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Waymo Logo">
            <a:extLst>
              <a:ext uri="{FF2B5EF4-FFF2-40B4-BE49-F238E27FC236}">
                <a16:creationId xmlns:a16="http://schemas.microsoft.com/office/drawing/2014/main" id="{902DC2BC-4502-3D55-8D55-902F81F69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0455" y="240158"/>
            <a:ext cx="976745" cy="9767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095A60A-3328-886A-19ED-B168F3A42C1B}"/>
              </a:ext>
            </a:extLst>
          </p:cNvPr>
          <p:cNvPicPr>
            <a:picLocks noChangeAspect="1"/>
          </p:cNvPicPr>
          <p:nvPr/>
        </p:nvPicPr>
        <p:blipFill>
          <a:blip r:embed="rId3"/>
          <a:stretch>
            <a:fillRect/>
          </a:stretch>
        </p:blipFill>
        <p:spPr>
          <a:xfrm>
            <a:off x="304800" y="728530"/>
            <a:ext cx="2926676" cy="318185"/>
          </a:xfrm>
          <a:prstGeom prst="rect">
            <a:avLst/>
          </a:prstGeom>
        </p:spPr>
      </p:pic>
      <p:sp>
        <p:nvSpPr>
          <p:cNvPr id="9" name="TextBox 8">
            <a:extLst>
              <a:ext uri="{FF2B5EF4-FFF2-40B4-BE49-F238E27FC236}">
                <a16:creationId xmlns:a16="http://schemas.microsoft.com/office/drawing/2014/main" id="{D4A3C47D-2B92-9015-DE72-0D9FFC725E03}"/>
              </a:ext>
            </a:extLst>
          </p:cNvPr>
          <p:cNvSpPr txBox="1"/>
          <p:nvPr/>
        </p:nvSpPr>
        <p:spPr>
          <a:xfrm>
            <a:off x="304800" y="240158"/>
            <a:ext cx="3352800" cy="769441"/>
          </a:xfrm>
          <a:prstGeom prst="rect">
            <a:avLst/>
          </a:prstGeom>
          <a:noFill/>
        </p:spPr>
        <p:txBody>
          <a:bodyPr wrap="square" rtlCol="0">
            <a:spAutoFit/>
          </a:bodyPr>
          <a:lstStyle/>
          <a:p>
            <a:r>
              <a:rPr lang="en-US" sz="4400" dirty="0">
                <a:solidFill>
                  <a:schemeClr val="bg1"/>
                </a:solidFill>
                <a:latin typeface="Arial" panose="020B0604020202020204" pitchFamily="34" charset="0"/>
                <a:cs typeface="Arial" panose="020B0604020202020204" pitchFamily="34" charset="0"/>
              </a:rPr>
              <a:t>Problem</a:t>
            </a:r>
          </a:p>
        </p:txBody>
      </p:sp>
      <p:pic>
        <p:nvPicPr>
          <p:cNvPr id="50" name="Picture 4">
            <a:extLst>
              <a:ext uri="{FF2B5EF4-FFF2-40B4-BE49-F238E27FC236}">
                <a16:creationId xmlns:a16="http://schemas.microsoft.com/office/drawing/2014/main" id="{4A84FE58-4D4C-2C2E-79C7-037CF88D84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0436" y="4880918"/>
            <a:ext cx="3721564" cy="1977081"/>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50E49CF1-0D04-3DF2-D621-AF0805D78E72}"/>
              </a:ext>
            </a:extLst>
          </p:cNvPr>
          <p:cNvSpPr txBox="1"/>
          <p:nvPr/>
        </p:nvSpPr>
        <p:spPr>
          <a:xfrm>
            <a:off x="1154949" y="1536020"/>
            <a:ext cx="9882102" cy="630942"/>
          </a:xfrm>
          <a:prstGeom prst="rect">
            <a:avLst/>
          </a:prstGeom>
          <a:noFill/>
        </p:spPr>
        <p:txBody>
          <a:bodyPr wrap="square">
            <a:spAutoFit/>
          </a:bodyPr>
          <a:lstStyle/>
          <a:p>
            <a:r>
              <a:rPr lang="en-US" sz="3500" dirty="0">
                <a:latin typeface="GT Walsheim Trial Rg" pitchFamily="2" charset="77"/>
              </a:rPr>
              <a:t>The Long-Tail Problem in Autonomous Driving</a:t>
            </a:r>
          </a:p>
        </p:txBody>
      </p:sp>
      <p:sp>
        <p:nvSpPr>
          <p:cNvPr id="52" name="TextBox 51">
            <a:extLst>
              <a:ext uri="{FF2B5EF4-FFF2-40B4-BE49-F238E27FC236}">
                <a16:creationId xmlns:a16="http://schemas.microsoft.com/office/drawing/2014/main" id="{25910192-06BE-1B33-DA5F-5F06A8A2926F}"/>
              </a:ext>
            </a:extLst>
          </p:cNvPr>
          <p:cNvSpPr txBox="1"/>
          <p:nvPr/>
        </p:nvSpPr>
        <p:spPr>
          <a:xfrm>
            <a:off x="1981200" y="2486079"/>
            <a:ext cx="10041577" cy="2862322"/>
          </a:xfrm>
          <a:prstGeom prst="rect">
            <a:avLst/>
          </a:prstGeom>
          <a:noFill/>
        </p:spPr>
        <p:txBody>
          <a:bodyPr wrap="square">
            <a:spAutoFit/>
          </a:bodyPr>
          <a:lstStyle/>
          <a:p>
            <a:r>
              <a:rPr lang="en-US" sz="2000" dirty="0">
                <a:latin typeface="GT Walsheim Trial Th" pitchFamily="2" charset="77"/>
              </a:rPr>
              <a:t>Most driving is routine and predictable.</a:t>
            </a:r>
          </a:p>
          <a:p>
            <a:endParaRPr lang="en-US" sz="2000" dirty="0">
              <a:latin typeface="GT Walsheim Trial Th" pitchFamily="2" charset="77"/>
            </a:endParaRPr>
          </a:p>
          <a:p>
            <a:r>
              <a:rPr lang="en-US" sz="2000" dirty="0">
                <a:latin typeface="GT Walsheim Trial Th" pitchFamily="2" charset="77"/>
              </a:rPr>
              <a:t>Safety-critical events are rare but risky:</a:t>
            </a:r>
          </a:p>
          <a:p>
            <a:endParaRPr lang="en-US" sz="2000" dirty="0">
              <a:latin typeface="GT Walsheim Trial Th" pitchFamily="2" charset="77"/>
            </a:endParaRPr>
          </a:p>
          <a:p>
            <a:r>
              <a:rPr lang="en-US" sz="2000" dirty="0">
                <a:latin typeface="GT Walsheim Trial Th" pitchFamily="2" charset="77"/>
              </a:rPr>
              <a:t>* Sudden braking or acceleration</a:t>
            </a:r>
          </a:p>
          <a:p>
            <a:r>
              <a:rPr lang="en-US" sz="2000" dirty="0">
                <a:latin typeface="GT Walsheim Trial Th" pitchFamily="2" charset="77"/>
              </a:rPr>
              <a:t>* Jaywalking pedestrians</a:t>
            </a:r>
          </a:p>
          <a:p>
            <a:r>
              <a:rPr lang="en-US" sz="2000" dirty="0">
                <a:latin typeface="GT Walsheim Trial Th" pitchFamily="2" charset="77"/>
              </a:rPr>
              <a:t>* Near-misses</a:t>
            </a:r>
          </a:p>
          <a:p>
            <a:endParaRPr lang="en-US" sz="2000" dirty="0">
              <a:latin typeface="GT Walsheim Trial Th" pitchFamily="2" charset="77"/>
            </a:endParaRPr>
          </a:p>
          <a:p>
            <a:r>
              <a:rPr lang="en-US" sz="2000" dirty="0">
                <a:latin typeface="GT Walsheim Trial Th" pitchFamily="2" charset="77"/>
              </a:rPr>
              <a:t>Anomaly data is scarce, and “danger” depends on context.</a:t>
            </a:r>
          </a:p>
        </p:txBody>
      </p:sp>
    </p:spTree>
    <p:extLst>
      <p:ext uri="{BB962C8B-B14F-4D97-AF65-F5344CB8AC3E}">
        <p14:creationId xmlns:p14="http://schemas.microsoft.com/office/powerpoint/2010/main" val="4290526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41ABA-588D-2C31-FC14-0395D3272B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3486AE-6161-CEBC-B778-A899DFFEE7FD}"/>
              </a:ext>
            </a:extLst>
          </p:cNvPr>
          <p:cNvSpPr/>
          <p:nvPr/>
        </p:nvSpPr>
        <p:spPr>
          <a:xfrm>
            <a:off x="0" y="0"/>
            <a:ext cx="12192000" cy="1216903"/>
          </a:xfrm>
          <a:prstGeom prst="rect">
            <a:avLst/>
          </a:prstGeom>
          <a:solidFill>
            <a:srgbClr val="1D1C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Waymo Logo">
            <a:extLst>
              <a:ext uri="{FF2B5EF4-FFF2-40B4-BE49-F238E27FC236}">
                <a16:creationId xmlns:a16="http://schemas.microsoft.com/office/drawing/2014/main" id="{F6675CF9-5779-AF4F-F69B-1D861BA29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0455" y="240158"/>
            <a:ext cx="976745" cy="9767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231C87A-C715-D211-A296-AEB28A2B3AF5}"/>
              </a:ext>
            </a:extLst>
          </p:cNvPr>
          <p:cNvPicPr>
            <a:picLocks noChangeAspect="1"/>
          </p:cNvPicPr>
          <p:nvPr/>
        </p:nvPicPr>
        <p:blipFill>
          <a:blip r:embed="rId3"/>
          <a:stretch>
            <a:fillRect/>
          </a:stretch>
        </p:blipFill>
        <p:spPr>
          <a:xfrm>
            <a:off x="304800" y="728530"/>
            <a:ext cx="2926676" cy="318185"/>
          </a:xfrm>
          <a:prstGeom prst="rect">
            <a:avLst/>
          </a:prstGeom>
        </p:spPr>
      </p:pic>
      <p:sp>
        <p:nvSpPr>
          <p:cNvPr id="9" name="TextBox 8">
            <a:extLst>
              <a:ext uri="{FF2B5EF4-FFF2-40B4-BE49-F238E27FC236}">
                <a16:creationId xmlns:a16="http://schemas.microsoft.com/office/drawing/2014/main" id="{069BE8B2-E0CA-1F49-8805-CC6313198618}"/>
              </a:ext>
            </a:extLst>
          </p:cNvPr>
          <p:cNvSpPr txBox="1"/>
          <p:nvPr/>
        </p:nvSpPr>
        <p:spPr>
          <a:xfrm>
            <a:off x="304800" y="240158"/>
            <a:ext cx="3352800" cy="769441"/>
          </a:xfrm>
          <a:prstGeom prst="rect">
            <a:avLst/>
          </a:prstGeom>
          <a:noFill/>
        </p:spPr>
        <p:txBody>
          <a:bodyPr wrap="square" rtlCol="0">
            <a:spAutoFit/>
          </a:bodyPr>
          <a:lstStyle/>
          <a:p>
            <a:r>
              <a:rPr lang="en-US" sz="4400" dirty="0">
                <a:solidFill>
                  <a:schemeClr val="bg1"/>
                </a:solidFill>
                <a:latin typeface="Arial" panose="020B0604020202020204" pitchFamily="34" charset="0"/>
                <a:cs typeface="Arial" panose="020B0604020202020204" pitchFamily="34" charset="0"/>
              </a:rPr>
              <a:t>Motivation</a:t>
            </a:r>
          </a:p>
        </p:txBody>
      </p:sp>
      <p:graphicFrame>
        <p:nvGraphicFramePr>
          <p:cNvPr id="2" name="Table 1">
            <a:extLst>
              <a:ext uri="{FF2B5EF4-FFF2-40B4-BE49-F238E27FC236}">
                <a16:creationId xmlns:a16="http://schemas.microsoft.com/office/drawing/2014/main" id="{6248DB7E-CDFC-ED0E-AF0F-CB70A49C59BC}"/>
              </a:ext>
            </a:extLst>
          </p:cNvPr>
          <p:cNvGraphicFramePr>
            <a:graphicFrameLocks noGrp="1"/>
          </p:cNvGraphicFramePr>
          <p:nvPr>
            <p:extLst>
              <p:ext uri="{D42A27DB-BD31-4B8C-83A1-F6EECF244321}">
                <p14:modId xmlns:p14="http://schemas.microsoft.com/office/powerpoint/2010/main" val="1414735571"/>
              </p:ext>
            </p:extLst>
          </p:nvPr>
        </p:nvGraphicFramePr>
        <p:xfrm>
          <a:off x="692778" y="3684338"/>
          <a:ext cx="10806444" cy="2348534"/>
        </p:xfrm>
        <a:graphic>
          <a:graphicData uri="http://schemas.openxmlformats.org/drawingml/2006/table">
            <a:tbl>
              <a:tblPr firstRow="1" bandRow="1">
                <a:tableStyleId>{073A0DAA-6AF3-43AB-8588-CEC1D06C72B9}</a:tableStyleId>
              </a:tblPr>
              <a:tblGrid>
                <a:gridCol w="5550583">
                  <a:extLst>
                    <a:ext uri="{9D8B030D-6E8A-4147-A177-3AD203B41FA5}">
                      <a16:colId xmlns:a16="http://schemas.microsoft.com/office/drawing/2014/main" val="1610543496"/>
                    </a:ext>
                  </a:extLst>
                </a:gridCol>
                <a:gridCol w="5255861">
                  <a:extLst>
                    <a:ext uri="{9D8B030D-6E8A-4147-A177-3AD203B41FA5}">
                      <a16:colId xmlns:a16="http://schemas.microsoft.com/office/drawing/2014/main" val="2940384537"/>
                    </a:ext>
                  </a:extLst>
                </a:gridCol>
              </a:tblGrid>
              <a:tr h="650040">
                <a:tc>
                  <a:txBody>
                    <a:bodyPr/>
                    <a:lstStyle/>
                    <a:p>
                      <a:r>
                        <a:rPr lang="en-US" sz="2500" b="0" i="0" dirty="0">
                          <a:solidFill>
                            <a:schemeClr val="bg1"/>
                          </a:solidFill>
                          <a:latin typeface="GT Walsheim Trial Rg" pitchFamily="2" charset="77"/>
                        </a:rPr>
                        <a:t>Goal 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500" b="0" i="0" dirty="0">
                          <a:solidFill>
                            <a:schemeClr val="bg1"/>
                          </a:solidFill>
                          <a:latin typeface="GT Walsheim Trial Rg" pitchFamily="2" charset="77"/>
                        </a:rPr>
                        <a:t>Goal 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220759275"/>
                  </a:ext>
                </a:extLst>
              </a:tr>
              <a:tr h="1698494">
                <a:tc>
                  <a:txBody>
                    <a:bodyPr/>
                    <a:lstStyle/>
                    <a:p>
                      <a:r>
                        <a:rPr lang="en-US" sz="2500" b="0" dirty="0">
                          <a:solidFill>
                            <a:schemeClr val="bg1"/>
                          </a:solidFill>
                        </a:rPr>
                        <a:t>Detect anomalous agents from kinematics alone — no labels</a:t>
                      </a:r>
                      <a:endParaRPr lang="en-US" sz="2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8FF"/>
                    </a:solidFill>
                  </a:tcPr>
                </a:tc>
                <a:tc>
                  <a:txBody>
                    <a:bodyPr/>
                    <a:lstStyle/>
                    <a:p>
                      <a:r>
                        <a:rPr lang="en-US" sz="2500" b="0" dirty="0">
                          <a:solidFill>
                            <a:schemeClr val="bg1"/>
                          </a:solidFill>
                        </a:rPr>
                        <a:t>Predict 5-second future displacement from current kinematic state</a:t>
                      </a:r>
                      <a:endParaRPr lang="en-US" sz="2500" b="0" i="0" dirty="0">
                        <a:solidFill>
                          <a:schemeClr val="bg1"/>
                        </a:solidFill>
                        <a:latin typeface="GT Walsheim Trial Rg" pitchFamily="2" charset="77"/>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E9A0"/>
                    </a:solidFill>
                  </a:tcPr>
                </a:tc>
                <a:extLst>
                  <a:ext uri="{0D108BD9-81ED-4DB2-BD59-A6C34878D82A}">
                    <a16:rowId xmlns:a16="http://schemas.microsoft.com/office/drawing/2014/main" val="4152326013"/>
                  </a:ext>
                </a:extLst>
              </a:tr>
            </a:tbl>
          </a:graphicData>
        </a:graphic>
      </p:graphicFrame>
      <p:sp>
        <p:nvSpPr>
          <p:cNvPr id="3" name="TextBox 2">
            <a:extLst>
              <a:ext uri="{FF2B5EF4-FFF2-40B4-BE49-F238E27FC236}">
                <a16:creationId xmlns:a16="http://schemas.microsoft.com/office/drawing/2014/main" id="{2E72D053-D708-211C-7AE6-18D65B5EACC7}"/>
              </a:ext>
            </a:extLst>
          </p:cNvPr>
          <p:cNvSpPr txBox="1"/>
          <p:nvPr/>
        </p:nvSpPr>
        <p:spPr>
          <a:xfrm>
            <a:off x="716477" y="2773553"/>
            <a:ext cx="11351164" cy="400110"/>
          </a:xfrm>
          <a:prstGeom prst="rect">
            <a:avLst/>
          </a:prstGeom>
          <a:noFill/>
        </p:spPr>
        <p:txBody>
          <a:bodyPr wrap="square">
            <a:spAutoFit/>
          </a:bodyPr>
          <a:lstStyle/>
          <a:p>
            <a:r>
              <a:rPr lang="en-US" sz="2000" dirty="0">
                <a:latin typeface="GT Walsheim Trial Lt" pitchFamily="2" charset="77"/>
              </a:rPr>
              <a:t>Unsupervised learning lets the data define normal — and flags what falls outside.</a:t>
            </a:r>
          </a:p>
        </p:txBody>
      </p:sp>
      <p:sp>
        <p:nvSpPr>
          <p:cNvPr id="6" name="TextBox 5">
            <a:extLst>
              <a:ext uri="{FF2B5EF4-FFF2-40B4-BE49-F238E27FC236}">
                <a16:creationId xmlns:a16="http://schemas.microsoft.com/office/drawing/2014/main" id="{A889FCFC-2668-2BCD-6FA4-B711E7CC3BA5}"/>
              </a:ext>
            </a:extLst>
          </p:cNvPr>
          <p:cNvSpPr txBox="1"/>
          <p:nvPr/>
        </p:nvSpPr>
        <p:spPr>
          <a:xfrm>
            <a:off x="716478" y="1457061"/>
            <a:ext cx="10782744" cy="630942"/>
          </a:xfrm>
          <a:prstGeom prst="rect">
            <a:avLst/>
          </a:prstGeom>
          <a:noFill/>
        </p:spPr>
        <p:txBody>
          <a:bodyPr wrap="square">
            <a:spAutoFit/>
          </a:bodyPr>
          <a:lstStyle/>
          <a:p>
            <a:r>
              <a:rPr lang="en-US" sz="3500" dirty="0">
                <a:latin typeface="GT Walsheim Trial Rg" pitchFamily="2" charset="77"/>
              </a:rPr>
              <a:t>The Long-Tail Problem in Autonomous Driving</a:t>
            </a:r>
          </a:p>
        </p:txBody>
      </p:sp>
    </p:spTree>
    <p:extLst>
      <p:ext uri="{BB962C8B-B14F-4D97-AF65-F5344CB8AC3E}">
        <p14:creationId xmlns:p14="http://schemas.microsoft.com/office/powerpoint/2010/main" val="1851260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315</TotalTime>
  <Words>162</Words>
  <Application>Microsoft Macintosh PowerPoint</Application>
  <PresentationFormat>Widescreen</PresentationFormat>
  <Paragraphs>29</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GT Walsheim Trial Lt</vt:lpstr>
      <vt:lpstr>GT Walsheim Trial Rg</vt:lpstr>
      <vt:lpstr>GT Walsheim Trial Th</vt:lpstr>
      <vt:lpstr>Aptos</vt:lpstr>
      <vt:lpstr>Aptos Display</vt:lpstr>
      <vt:lpstr>Arial</vt:lpstr>
      <vt:lpstr>Office Theme</vt:lpstr>
      <vt:lpstr>Unsupervised Statistical Learning for Kinematic Anomaly Detection in Autonomous Driving  Scenarios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Ramses.Loaces001</dc:creator>
  <cp:lastModifiedBy>Ramses.Loaces001</cp:lastModifiedBy>
  <cp:revision>3</cp:revision>
  <dcterms:created xsi:type="dcterms:W3CDTF">2026-04-11T16:34:23Z</dcterms:created>
  <dcterms:modified xsi:type="dcterms:W3CDTF">2026-04-11T21:49:45Z</dcterms:modified>
</cp:coreProperties>
</file>