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8" r:id="rId3"/>
    <p:sldId id="259" r:id="rId4"/>
    <p:sldId id="260" r:id="rId5"/>
    <p:sldId id="278" r:id="rId6"/>
    <p:sldId id="262" r:id="rId7"/>
    <p:sldId id="263" r:id="rId8"/>
    <p:sldId id="273" r:id="rId9"/>
    <p:sldId id="266" r:id="rId10"/>
    <p:sldId id="275" r:id="rId11"/>
    <p:sldId id="274" r:id="rId12"/>
    <p:sldId id="265" r:id="rId13"/>
    <p:sldId id="277" r:id="rId14"/>
    <p:sldId id="268" r:id="rId15"/>
    <p:sldId id="279" r:id="rId16"/>
    <p:sldId id="269" r:id="rId17"/>
    <p:sldId id="270" r:id="rId18"/>
    <p:sldId id="27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49AA0"/>
    <a:srgbClr val="0078FF"/>
    <a:srgbClr val="00E9A0"/>
    <a:srgbClr val="23233B"/>
    <a:srgbClr val="989D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45"/>
    <p:restoredTop sz="26146"/>
  </p:normalViewPr>
  <p:slideViewPr>
    <p:cSldViewPr snapToGrid="0">
      <p:cViewPr varScale="1">
        <p:scale>
          <a:sx n="32" d="100"/>
          <a:sy n="32" d="100"/>
        </p:scale>
        <p:origin x="4600" y="472"/>
      </p:cViewPr>
      <p:guideLst/>
    </p:cSldViewPr>
  </p:slideViewPr>
  <p:notesTextViewPr>
    <p:cViewPr>
      <p:scale>
        <a:sx n="225" d="100"/>
        <a:sy n="2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anov, Pavel Aleksandrovich" userId="b85f6bca-230c-483e-a25b-e13e873626fd" providerId="ADAL" clId="{AB235781-41D1-50B9-86EA-51A98A5F500A}"/>
    <pc:docChg chg="undo redo custSel addSld delSld modSld sldOrd">
      <pc:chgData name="Stepanov, Pavel Aleksandrovich" userId="b85f6bca-230c-483e-a25b-e13e873626fd" providerId="ADAL" clId="{AB235781-41D1-50B9-86EA-51A98A5F500A}" dt="2026-04-14T00:18:23.853" v="3725" actId="20577"/>
      <pc:docMkLst>
        <pc:docMk/>
      </pc:docMkLst>
      <pc:sldChg chg="modSp mod modNotesTx">
        <pc:chgData name="Stepanov, Pavel Aleksandrovich" userId="b85f6bca-230c-483e-a25b-e13e873626fd" providerId="ADAL" clId="{AB235781-41D1-50B9-86EA-51A98A5F500A}" dt="2026-04-12T21:35:41.544" v="2176" actId="2711"/>
        <pc:sldMkLst>
          <pc:docMk/>
          <pc:sldMk cId="3542837740" sldId="256"/>
        </pc:sldMkLst>
        <pc:spChg chg="mod">
          <ac:chgData name="Stepanov, Pavel Aleksandrovich" userId="b85f6bca-230c-483e-a25b-e13e873626fd" providerId="ADAL" clId="{AB235781-41D1-50B9-86EA-51A98A5F500A}" dt="2026-04-12T21:35:41.544" v="2176" actId="2711"/>
          <ac:spMkLst>
            <pc:docMk/>
            <pc:sldMk cId="3542837740" sldId="256"/>
            <ac:spMk id="2" creationId="{3BAEE4AA-D2CA-CB0C-01DE-666FE3459549}"/>
          </ac:spMkLst>
        </pc:spChg>
      </pc:sldChg>
      <pc:sldChg chg="addSp delSp modSp mod modNotesTx">
        <pc:chgData name="Stepanov, Pavel Aleksandrovich" userId="b85f6bca-230c-483e-a25b-e13e873626fd" providerId="ADAL" clId="{AB235781-41D1-50B9-86EA-51A98A5F500A}" dt="2026-04-14T00:18:23.853" v="3725" actId="20577"/>
        <pc:sldMkLst>
          <pc:docMk/>
          <pc:sldMk cId="2587833539" sldId="258"/>
        </pc:sldMkLst>
        <pc:spChg chg="mod">
          <ac:chgData name="Stepanov, Pavel Aleksandrovich" userId="b85f6bca-230c-483e-a25b-e13e873626fd" providerId="ADAL" clId="{AB235781-41D1-50B9-86EA-51A98A5F500A}" dt="2026-04-12T22:10:10.068" v="2689" actId="20577"/>
          <ac:spMkLst>
            <pc:docMk/>
            <pc:sldMk cId="2587833539" sldId="258"/>
            <ac:spMk id="2" creationId="{838A964F-48F4-B4E1-E1B0-BD8449744408}"/>
          </ac:spMkLst>
        </pc:spChg>
        <pc:spChg chg="mod">
          <ac:chgData name="Stepanov, Pavel Aleksandrovich" userId="b85f6bca-230c-483e-a25b-e13e873626fd" providerId="ADAL" clId="{AB235781-41D1-50B9-86EA-51A98A5F500A}" dt="2026-04-12T02:09:14.642" v="88" actId="1076"/>
          <ac:spMkLst>
            <pc:docMk/>
            <pc:sldMk cId="2587833539" sldId="258"/>
            <ac:spMk id="3" creationId="{FFF5F632-AB2B-5851-4C9F-220142F83551}"/>
          </ac:spMkLst>
        </pc:spChg>
        <pc:spChg chg="add mod">
          <ac:chgData name="Stepanov, Pavel Aleksandrovich" userId="b85f6bca-230c-483e-a25b-e13e873626fd" providerId="ADAL" clId="{AB235781-41D1-50B9-86EA-51A98A5F500A}" dt="2026-04-12T22:10:35.708" v="2692" actId="1076"/>
          <ac:spMkLst>
            <pc:docMk/>
            <pc:sldMk cId="2587833539" sldId="258"/>
            <ac:spMk id="7" creationId="{4418AF0A-F5B0-F1C8-D2D6-12CE961F5211}"/>
          </ac:spMkLst>
        </pc:spChg>
        <pc:picChg chg="add mod">
          <ac:chgData name="Stepanov, Pavel Aleksandrovich" userId="b85f6bca-230c-483e-a25b-e13e873626fd" providerId="ADAL" clId="{AB235781-41D1-50B9-86EA-51A98A5F500A}" dt="2026-04-12T22:10:37.883" v="2693" actId="14100"/>
          <ac:picMkLst>
            <pc:docMk/>
            <pc:sldMk cId="2587833539" sldId="258"/>
            <ac:picMk id="13" creationId="{51A4C917-F1D0-B8E8-F133-6554629EE8B7}"/>
          </ac:picMkLst>
        </pc:picChg>
      </pc:sldChg>
      <pc:sldChg chg="addSp delSp modSp mod modNotesTx">
        <pc:chgData name="Stepanov, Pavel Aleksandrovich" userId="b85f6bca-230c-483e-a25b-e13e873626fd" providerId="ADAL" clId="{AB235781-41D1-50B9-86EA-51A98A5F500A}" dt="2026-04-12T02:09:15.352" v="89" actId="478"/>
        <pc:sldMkLst>
          <pc:docMk/>
          <pc:sldMk cId="37105992" sldId="259"/>
        </pc:sldMkLst>
        <pc:spChg chg="add del">
          <ac:chgData name="Stepanov, Pavel Aleksandrovich" userId="b85f6bca-230c-483e-a25b-e13e873626fd" providerId="ADAL" clId="{AB235781-41D1-50B9-86EA-51A98A5F500A}" dt="2026-04-12T02:09:15.352" v="89" actId="478"/>
          <ac:spMkLst>
            <pc:docMk/>
            <pc:sldMk cId="37105992" sldId="259"/>
            <ac:spMk id="2" creationId="{2D7D061C-6FCC-F08D-4061-3B26691D1FFF}"/>
          </ac:spMkLst>
        </pc:spChg>
      </pc:sldChg>
      <pc:sldChg chg="modSp mod modNotesTx">
        <pc:chgData name="Stepanov, Pavel Aleksandrovich" userId="b85f6bca-230c-483e-a25b-e13e873626fd" providerId="ADAL" clId="{AB235781-41D1-50B9-86EA-51A98A5F500A}" dt="2026-04-12T20:25:48.487" v="1943" actId="20577"/>
        <pc:sldMkLst>
          <pc:docMk/>
          <pc:sldMk cId="34899088" sldId="260"/>
        </pc:sldMkLst>
        <pc:spChg chg="mod">
          <ac:chgData name="Stepanov, Pavel Aleksandrovich" userId="b85f6bca-230c-483e-a25b-e13e873626fd" providerId="ADAL" clId="{AB235781-41D1-50B9-86EA-51A98A5F500A}" dt="2026-04-12T03:10:56.989" v="313" actId="1076"/>
          <ac:spMkLst>
            <pc:docMk/>
            <pc:sldMk cId="34899088" sldId="260"/>
            <ac:spMk id="2" creationId="{568FC75A-02FA-BB25-0851-770322A46375}"/>
          </ac:spMkLst>
        </pc:spChg>
      </pc:sldChg>
      <pc:sldChg chg="addSp modSp mod modNotesTx">
        <pc:chgData name="Stepanov, Pavel Aleksandrovich" userId="b85f6bca-230c-483e-a25b-e13e873626fd" providerId="ADAL" clId="{AB235781-41D1-50B9-86EA-51A98A5F500A}" dt="2026-04-12T03:08:47.395" v="304" actId="20577"/>
        <pc:sldMkLst>
          <pc:docMk/>
          <pc:sldMk cId="1027313753" sldId="262"/>
        </pc:sldMkLst>
        <pc:spChg chg="add mod">
          <ac:chgData name="Stepanov, Pavel Aleksandrovich" userId="b85f6bca-230c-483e-a25b-e13e873626fd" providerId="ADAL" clId="{AB235781-41D1-50B9-86EA-51A98A5F500A}" dt="2026-04-12T03:07:05.363" v="297" actId="1076"/>
          <ac:spMkLst>
            <pc:docMk/>
            <pc:sldMk cId="1027313753" sldId="262"/>
            <ac:spMk id="3" creationId="{6FF11A2A-EA04-CBEA-5259-2D7D1F89B0FD}"/>
          </ac:spMkLst>
        </pc:spChg>
        <pc:spChg chg="mod">
          <ac:chgData name="Stepanov, Pavel Aleksandrovich" userId="b85f6bca-230c-483e-a25b-e13e873626fd" providerId="ADAL" clId="{AB235781-41D1-50B9-86EA-51A98A5F500A}" dt="2026-04-12T02:08:37.478" v="83" actId="1076"/>
          <ac:spMkLst>
            <pc:docMk/>
            <pc:sldMk cId="1027313753" sldId="262"/>
            <ac:spMk id="16" creationId="{F7FF29CB-B9A0-D774-8556-025972A6411F}"/>
          </ac:spMkLst>
        </pc:spChg>
        <pc:spChg chg="mod">
          <ac:chgData name="Stepanov, Pavel Aleksandrovich" userId="b85f6bca-230c-483e-a25b-e13e873626fd" providerId="ADAL" clId="{AB235781-41D1-50B9-86EA-51A98A5F500A}" dt="2026-04-12T03:05:35.452" v="277" actId="207"/>
          <ac:spMkLst>
            <pc:docMk/>
            <pc:sldMk cId="1027313753" sldId="262"/>
            <ac:spMk id="22" creationId="{758A5016-C08E-98B3-26B4-A2802863211D}"/>
          </ac:spMkLst>
        </pc:spChg>
        <pc:spChg chg="mod">
          <ac:chgData name="Stepanov, Pavel Aleksandrovich" userId="b85f6bca-230c-483e-a25b-e13e873626fd" providerId="ADAL" clId="{AB235781-41D1-50B9-86EA-51A98A5F500A}" dt="2026-04-12T02:08:41.912" v="84" actId="1076"/>
          <ac:spMkLst>
            <pc:docMk/>
            <pc:sldMk cId="1027313753" sldId="262"/>
            <ac:spMk id="25" creationId="{D08567BA-74CD-E9BD-D382-9328F41BC61C}"/>
          </ac:spMkLst>
        </pc:spChg>
      </pc:sldChg>
      <pc:sldChg chg="addSp delSp modSp mod setBg modNotesTx">
        <pc:chgData name="Stepanov, Pavel Aleksandrovich" userId="b85f6bca-230c-483e-a25b-e13e873626fd" providerId="ADAL" clId="{AB235781-41D1-50B9-86EA-51A98A5F500A}" dt="2026-04-12T03:22:09.913" v="476" actId="20577"/>
        <pc:sldMkLst>
          <pc:docMk/>
          <pc:sldMk cId="2414567693" sldId="263"/>
        </pc:sldMkLst>
        <pc:spChg chg="mod">
          <ac:chgData name="Stepanov, Pavel Aleksandrovich" userId="b85f6bca-230c-483e-a25b-e13e873626fd" providerId="ADAL" clId="{AB235781-41D1-50B9-86EA-51A98A5F500A}" dt="2026-04-12T03:19:45.517" v="461" actId="20577"/>
          <ac:spMkLst>
            <pc:docMk/>
            <pc:sldMk cId="2414567693" sldId="263"/>
            <ac:spMk id="4" creationId="{03C362FE-26C6-9E59-253C-0E8E33DFB89E}"/>
          </ac:spMkLst>
        </pc:spChg>
        <pc:spChg chg="mod">
          <ac:chgData name="Stepanov, Pavel Aleksandrovich" userId="b85f6bca-230c-483e-a25b-e13e873626fd" providerId="ADAL" clId="{AB235781-41D1-50B9-86EA-51A98A5F500A}" dt="2026-04-12T03:10:34.901" v="306" actId="207"/>
          <ac:spMkLst>
            <pc:docMk/>
            <pc:sldMk cId="2414567693" sldId="263"/>
            <ac:spMk id="8" creationId="{AA0B286F-ACC4-E15E-FE10-F81A14DF3948}"/>
          </ac:spMkLst>
        </pc:spChg>
        <pc:spChg chg="add mod">
          <ac:chgData name="Stepanov, Pavel Aleksandrovich" userId="b85f6bca-230c-483e-a25b-e13e873626fd" providerId="ADAL" clId="{AB235781-41D1-50B9-86EA-51A98A5F500A}" dt="2026-04-12T03:17:56.342" v="429" actId="167"/>
          <ac:spMkLst>
            <pc:docMk/>
            <pc:sldMk cId="2414567693" sldId="263"/>
            <ac:spMk id="11" creationId="{00515834-BC50-0B18-62CA-A70C9A9333E0}"/>
          </ac:spMkLst>
        </pc:spChg>
        <pc:spChg chg="add del mod">
          <ac:chgData name="Stepanov, Pavel Aleksandrovich" userId="b85f6bca-230c-483e-a25b-e13e873626fd" providerId="ADAL" clId="{AB235781-41D1-50B9-86EA-51A98A5F500A}" dt="2026-04-12T03:18:07.237" v="432" actId="1076"/>
          <ac:spMkLst>
            <pc:docMk/>
            <pc:sldMk cId="2414567693" sldId="263"/>
            <ac:spMk id="24" creationId="{11818D86-B172-7F3C-A000-ECBB85ED72A7}"/>
          </ac:spMkLst>
        </pc:spChg>
        <pc:graphicFrameChg chg="mod modGraphic">
          <ac:chgData name="Stepanov, Pavel Aleksandrovich" userId="b85f6bca-230c-483e-a25b-e13e873626fd" providerId="ADAL" clId="{AB235781-41D1-50B9-86EA-51A98A5F500A}" dt="2026-04-12T03:17:44.642" v="427" actId="14100"/>
          <ac:graphicFrameMkLst>
            <pc:docMk/>
            <pc:sldMk cId="2414567693" sldId="263"/>
            <ac:graphicFrameMk id="3" creationId="{6E5ED46D-9A9D-45B4-50C0-E4B617433E8C}"/>
          </ac:graphicFrameMkLst>
        </pc:graphicFrameChg>
        <pc:picChg chg="add mod">
          <ac:chgData name="Stepanov, Pavel Aleksandrovich" userId="b85f6bca-230c-483e-a25b-e13e873626fd" providerId="ADAL" clId="{AB235781-41D1-50B9-86EA-51A98A5F500A}" dt="2026-04-12T03:13:42.851" v="347" actId="1076"/>
          <ac:picMkLst>
            <pc:docMk/>
            <pc:sldMk cId="2414567693" sldId="263"/>
            <ac:picMk id="13" creationId="{9505BAAA-21BA-2316-4D5C-506901CAEEDA}"/>
          </ac:picMkLst>
        </pc:picChg>
        <pc:picChg chg="add mod">
          <ac:chgData name="Stepanov, Pavel Aleksandrovich" userId="b85f6bca-230c-483e-a25b-e13e873626fd" providerId="ADAL" clId="{AB235781-41D1-50B9-86EA-51A98A5F500A}" dt="2026-04-12T03:12:15.097" v="332"/>
          <ac:picMkLst>
            <pc:docMk/>
            <pc:sldMk cId="2414567693" sldId="263"/>
            <ac:picMk id="14" creationId="{0AB81574-B623-A466-0C44-7AD8EF55DE3E}"/>
          </ac:picMkLst>
        </pc:picChg>
      </pc:sldChg>
      <pc:sldChg chg="addSp delSp mod modNotesTx">
        <pc:chgData name="Stepanov, Pavel Aleksandrovich" userId="b85f6bca-230c-483e-a25b-e13e873626fd" providerId="ADAL" clId="{AB235781-41D1-50B9-86EA-51A98A5F500A}" dt="2026-04-12T02:44:57.589" v="213" actId="113"/>
        <pc:sldMkLst>
          <pc:docMk/>
          <pc:sldMk cId="1500307707" sldId="265"/>
        </pc:sldMkLst>
        <pc:spChg chg="add del">
          <ac:chgData name="Stepanov, Pavel Aleksandrovich" userId="b85f6bca-230c-483e-a25b-e13e873626fd" providerId="ADAL" clId="{AB235781-41D1-50B9-86EA-51A98A5F500A}" dt="2026-04-12T02:06:19.498" v="78" actId="478"/>
          <ac:spMkLst>
            <pc:docMk/>
            <pc:sldMk cId="1500307707" sldId="265"/>
            <ac:spMk id="24" creationId="{6E917537-92A5-6E9F-7D52-B229CEB05CFC}"/>
          </ac:spMkLst>
        </pc:spChg>
      </pc:sldChg>
      <pc:sldChg chg="modNotesTx">
        <pc:chgData name="Stepanov, Pavel Aleksandrovich" userId="b85f6bca-230c-483e-a25b-e13e873626fd" providerId="ADAL" clId="{AB235781-41D1-50B9-86EA-51A98A5F500A}" dt="2026-04-12T20:34:14.511" v="1956" actId="313"/>
        <pc:sldMkLst>
          <pc:docMk/>
          <pc:sldMk cId="3511431320" sldId="266"/>
        </pc:sldMkLst>
      </pc:sldChg>
      <pc:sldChg chg="addSp delSp modSp mod setBg modNotesTx">
        <pc:chgData name="Stepanov, Pavel Aleksandrovich" userId="b85f6bca-230c-483e-a25b-e13e873626fd" providerId="ADAL" clId="{AB235781-41D1-50B9-86EA-51A98A5F500A}" dt="2026-04-12T23:32:21.736" v="3724" actId="20577"/>
        <pc:sldMkLst>
          <pc:docMk/>
          <pc:sldMk cId="3183023199" sldId="268"/>
        </pc:sldMkLst>
        <pc:spChg chg="mod">
          <ac:chgData name="Stepanov, Pavel Aleksandrovich" userId="b85f6bca-230c-483e-a25b-e13e873626fd" providerId="ADAL" clId="{AB235781-41D1-50B9-86EA-51A98A5F500A}" dt="2026-04-12T21:55:43.322" v="2262" actId="1076"/>
          <ac:spMkLst>
            <pc:docMk/>
            <pc:sldMk cId="3183023199" sldId="268"/>
            <ac:spMk id="3" creationId="{B627A361-7570-7601-C26C-091F1FFDB3EB}"/>
          </ac:spMkLst>
        </pc:spChg>
        <pc:spChg chg="mod">
          <ac:chgData name="Stepanov, Pavel Aleksandrovich" userId="b85f6bca-230c-483e-a25b-e13e873626fd" providerId="ADAL" clId="{AB235781-41D1-50B9-86EA-51A98A5F500A}" dt="2026-04-12T20:22:02.310" v="1937" actId="20577"/>
          <ac:spMkLst>
            <pc:docMk/>
            <pc:sldMk cId="3183023199" sldId="268"/>
            <ac:spMk id="4" creationId="{E991148E-C7B3-AF37-6FBE-DB2712014BBC}"/>
          </ac:spMkLst>
        </pc:spChg>
        <pc:spChg chg="mod">
          <ac:chgData name="Stepanov, Pavel Aleksandrovich" userId="b85f6bca-230c-483e-a25b-e13e873626fd" providerId="ADAL" clId="{AB235781-41D1-50B9-86EA-51A98A5F500A}" dt="2026-04-12T22:02:22.400" v="2486" actId="207"/>
          <ac:spMkLst>
            <pc:docMk/>
            <pc:sldMk cId="3183023199" sldId="268"/>
            <ac:spMk id="6" creationId="{9987A699-1DBC-7AF5-4AE6-520309D6C5D0}"/>
          </ac:spMkLst>
        </pc:spChg>
        <pc:spChg chg="mod">
          <ac:chgData name="Stepanov, Pavel Aleksandrovich" userId="b85f6bca-230c-483e-a25b-e13e873626fd" providerId="ADAL" clId="{AB235781-41D1-50B9-86EA-51A98A5F500A}" dt="2026-04-12T21:55:40.832" v="2260" actId="207"/>
          <ac:spMkLst>
            <pc:docMk/>
            <pc:sldMk cId="3183023199" sldId="268"/>
            <ac:spMk id="8" creationId="{04DB3658-EC7A-F6E3-8994-CDBC3FB25E31}"/>
          </ac:spMkLst>
        </pc:spChg>
        <pc:spChg chg="mod">
          <ac:chgData name="Stepanov, Pavel Aleksandrovich" userId="b85f6bca-230c-483e-a25b-e13e873626fd" providerId="ADAL" clId="{AB235781-41D1-50B9-86EA-51A98A5F500A}" dt="2026-04-12T21:59:38.810" v="2368" actId="166"/>
          <ac:spMkLst>
            <pc:docMk/>
            <pc:sldMk cId="3183023199" sldId="268"/>
            <ac:spMk id="10" creationId="{10ADED70-C2D4-D9B7-45D7-22A69B85F0AB}"/>
          </ac:spMkLst>
        </pc:spChg>
        <pc:graphicFrameChg chg="mod modGraphic">
          <ac:chgData name="Stepanov, Pavel Aleksandrovich" userId="b85f6bca-230c-483e-a25b-e13e873626fd" providerId="ADAL" clId="{AB235781-41D1-50B9-86EA-51A98A5F500A}" dt="2026-04-12T23:32:21.736" v="3724" actId="20577"/>
          <ac:graphicFrameMkLst>
            <pc:docMk/>
            <pc:sldMk cId="3183023199" sldId="268"/>
            <ac:graphicFrameMk id="9" creationId="{A62909D0-5DBE-A4D8-895C-489D7175BA94}"/>
          </ac:graphicFrameMkLst>
        </pc:graphicFrameChg>
        <pc:picChg chg="add mod">
          <ac:chgData name="Stepanov, Pavel Aleksandrovich" userId="b85f6bca-230c-483e-a25b-e13e873626fd" providerId="ADAL" clId="{AB235781-41D1-50B9-86EA-51A98A5F500A}" dt="2026-04-12T21:58:04.304" v="2350"/>
          <ac:picMkLst>
            <pc:docMk/>
            <pc:sldMk cId="3183023199" sldId="268"/>
            <ac:picMk id="11" creationId="{DD146674-4974-5DC0-D8D1-4C8DFDEC4D6E}"/>
          </ac:picMkLst>
        </pc:picChg>
        <pc:picChg chg="add mod">
          <ac:chgData name="Stepanov, Pavel Aleksandrovich" userId="b85f6bca-230c-483e-a25b-e13e873626fd" providerId="ADAL" clId="{AB235781-41D1-50B9-86EA-51A98A5F500A}" dt="2026-04-12T22:00:44.972" v="2480" actId="14100"/>
          <ac:picMkLst>
            <pc:docMk/>
            <pc:sldMk cId="3183023199" sldId="268"/>
            <ac:picMk id="3076" creationId="{CE496754-C1BC-C491-2F8F-84FEC1B25B1D}"/>
          </ac:picMkLst>
        </pc:picChg>
      </pc:sldChg>
      <pc:sldChg chg="delSp modSp mod modNotesTx">
        <pc:chgData name="Stepanov, Pavel Aleksandrovich" userId="b85f6bca-230c-483e-a25b-e13e873626fd" providerId="ADAL" clId="{AB235781-41D1-50B9-86EA-51A98A5F500A}" dt="2026-04-12T23:28:31.215" v="3706" actId="20577"/>
        <pc:sldMkLst>
          <pc:docMk/>
          <pc:sldMk cId="1235929803" sldId="269"/>
        </pc:sldMkLst>
      </pc:sldChg>
      <pc:sldChg chg="modNotesTx">
        <pc:chgData name="Stepanov, Pavel Aleksandrovich" userId="b85f6bca-230c-483e-a25b-e13e873626fd" providerId="ADAL" clId="{AB235781-41D1-50B9-86EA-51A98A5F500A}" dt="2026-04-12T22:29:39.532" v="2717" actId="20577"/>
        <pc:sldMkLst>
          <pc:docMk/>
          <pc:sldMk cId="133968869" sldId="270"/>
        </pc:sldMkLst>
      </pc:sldChg>
      <pc:sldChg chg="modSp mod modNotesTx">
        <pc:chgData name="Stepanov, Pavel Aleksandrovich" userId="b85f6bca-230c-483e-a25b-e13e873626fd" providerId="ADAL" clId="{AB235781-41D1-50B9-86EA-51A98A5F500A}" dt="2026-04-12T03:29:50.591" v="555" actId="1076"/>
        <pc:sldMkLst>
          <pc:docMk/>
          <pc:sldMk cId="480666757" sldId="271"/>
        </pc:sldMkLst>
        <pc:spChg chg="mod">
          <ac:chgData name="Stepanov, Pavel Aleksandrovich" userId="b85f6bca-230c-483e-a25b-e13e873626fd" providerId="ADAL" clId="{AB235781-41D1-50B9-86EA-51A98A5F500A}" dt="2026-04-12T03:29:50.591" v="555" actId="1076"/>
          <ac:spMkLst>
            <pc:docMk/>
            <pc:sldMk cId="480666757" sldId="271"/>
            <ac:spMk id="19" creationId="{7AAD4915-0FC5-A636-D1C9-48442BD8C637}"/>
          </ac:spMkLst>
        </pc:spChg>
      </pc:sldChg>
      <pc:sldChg chg="addSp delSp modSp add mod setBg">
        <pc:chgData name="Stepanov, Pavel Aleksandrovich" userId="b85f6bca-230c-483e-a25b-e13e873626fd" providerId="ADAL" clId="{AB235781-41D1-50B9-86EA-51A98A5F500A}" dt="2026-04-12T03:20:28.396" v="474" actId="1076"/>
        <pc:sldMkLst>
          <pc:docMk/>
          <pc:sldMk cId="1281361301" sldId="273"/>
        </pc:sldMkLst>
        <pc:spChg chg="mod">
          <ac:chgData name="Stepanov, Pavel Aleksandrovich" userId="b85f6bca-230c-483e-a25b-e13e873626fd" providerId="ADAL" clId="{AB235781-41D1-50B9-86EA-51A98A5F500A}" dt="2026-04-12T03:19:37.455" v="452" actId="20577"/>
          <ac:spMkLst>
            <pc:docMk/>
            <pc:sldMk cId="1281361301" sldId="273"/>
            <ac:spMk id="4" creationId="{3BC7CBD6-37D5-6E4F-C6C3-1A6035A75370}"/>
          </ac:spMkLst>
        </pc:spChg>
        <pc:spChg chg="add mod">
          <ac:chgData name="Stepanov, Pavel Aleksandrovich" userId="b85f6bca-230c-483e-a25b-e13e873626fd" providerId="ADAL" clId="{AB235781-41D1-50B9-86EA-51A98A5F500A}" dt="2026-04-12T03:20:28.396" v="474" actId="1076"/>
          <ac:spMkLst>
            <pc:docMk/>
            <pc:sldMk cId="1281361301" sldId="273"/>
            <ac:spMk id="6" creationId="{B02F38D1-095A-4D26-04B1-8A6E8A730D5B}"/>
          </ac:spMkLst>
        </pc:spChg>
        <pc:spChg chg="mod">
          <ac:chgData name="Stepanov, Pavel Aleksandrovich" userId="b85f6bca-230c-483e-a25b-e13e873626fd" providerId="ADAL" clId="{AB235781-41D1-50B9-86EA-51A98A5F500A}" dt="2026-04-12T03:20:00.882" v="464" actId="166"/>
          <ac:spMkLst>
            <pc:docMk/>
            <pc:sldMk cId="1281361301" sldId="273"/>
            <ac:spMk id="11" creationId="{FAECF00B-BAAD-8062-AE21-7865670210D8}"/>
          </ac:spMkLst>
        </pc:spChg>
        <pc:picChg chg="add mod">
          <ac:chgData name="Stepanov, Pavel Aleksandrovich" userId="b85f6bca-230c-483e-a25b-e13e873626fd" providerId="ADAL" clId="{AB235781-41D1-50B9-86EA-51A98A5F500A}" dt="2026-04-12T03:19:24.909" v="439" actId="1076"/>
          <ac:picMkLst>
            <pc:docMk/>
            <pc:sldMk cId="1281361301" sldId="273"/>
            <ac:picMk id="5" creationId="{4512D806-F24A-215A-2C44-C03E07EBCB16}"/>
          </ac:picMkLst>
        </pc:picChg>
      </pc:sldChg>
      <pc:sldChg chg="addSp delSp modSp add mod ord setBg delAnim modAnim modNotesTx">
        <pc:chgData name="Stepanov, Pavel Aleksandrovich" userId="b85f6bca-230c-483e-a25b-e13e873626fd" providerId="ADAL" clId="{AB235781-41D1-50B9-86EA-51A98A5F500A}" dt="2026-04-12T21:54:42.174" v="2257" actId="167"/>
        <pc:sldMkLst>
          <pc:docMk/>
          <pc:sldMk cId="1496617165" sldId="274"/>
        </pc:sldMkLst>
        <pc:spChg chg="mod">
          <ac:chgData name="Stepanov, Pavel Aleksandrovich" userId="b85f6bca-230c-483e-a25b-e13e873626fd" providerId="ADAL" clId="{AB235781-41D1-50B9-86EA-51A98A5F500A}" dt="2026-04-12T03:36:39.884" v="661" actId="20577"/>
          <ac:spMkLst>
            <pc:docMk/>
            <pc:sldMk cId="1496617165" sldId="274"/>
            <ac:spMk id="4" creationId="{D068BB2A-2BF4-D499-63C2-18ED22A68DDF}"/>
          </ac:spMkLst>
        </pc:spChg>
        <pc:spChg chg="add mod">
          <ac:chgData name="Stepanov, Pavel Aleksandrovich" userId="b85f6bca-230c-483e-a25b-e13e873626fd" providerId="ADAL" clId="{AB235781-41D1-50B9-86EA-51A98A5F500A}" dt="2026-04-12T03:31:48.390" v="594"/>
          <ac:spMkLst>
            <pc:docMk/>
            <pc:sldMk cId="1496617165" sldId="274"/>
            <ac:spMk id="30" creationId="{6DBEBBE8-6803-3642-6AA6-7DCBC34416EC}"/>
          </ac:spMkLst>
        </pc:spChg>
        <pc:spChg chg="add mod">
          <ac:chgData name="Stepanov, Pavel Aleksandrovich" userId="b85f6bca-230c-483e-a25b-e13e873626fd" providerId="ADAL" clId="{AB235781-41D1-50B9-86EA-51A98A5F500A}" dt="2026-04-12T03:42:10.276" v="1808" actId="14861"/>
          <ac:spMkLst>
            <pc:docMk/>
            <pc:sldMk cId="1496617165" sldId="274"/>
            <ac:spMk id="31" creationId="{E787502F-A997-C061-BE0E-398BFE0692AB}"/>
          </ac:spMkLst>
        </pc:spChg>
        <pc:spChg chg="add mod">
          <ac:chgData name="Stepanov, Pavel Aleksandrovich" userId="b85f6bca-230c-483e-a25b-e13e873626fd" providerId="ADAL" clId="{AB235781-41D1-50B9-86EA-51A98A5F500A}" dt="2026-04-12T03:40:58.760" v="1793" actId="20577"/>
          <ac:spMkLst>
            <pc:docMk/>
            <pc:sldMk cId="1496617165" sldId="274"/>
            <ac:spMk id="32" creationId="{0C1AB1E6-4C86-63ED-C89C-77D2FEE4A479}"/>
          </ac:spMkLst>
        </pc:spChg>
        <pc:spChg chg="add mod">
          <ac:chgData name="Stepanov, Pavel Aleksandrovich" userId="b85f6bca-230c-483e-a25b-e13e873626fd" providerId="ADAL" clId="{AB235781-41D1-50B9-86EA-51A98A5F500A}" dt="2026-04-12T03:34:47.510" v="631" actId="207"/>
          <ac:spMkLst>
            <pc:docMk/>
            <pc:sldMk cId="1496617165" sldId="274"/>
            <ac:spMk id="33" creationId="{7330EC70-9658-A443-DCDE-8C47EE86272F}"/>
          </ac:spMkLst>
        </pc:spChg>
        <pc:spChg chg="add mod">
          <ac:chgData name="Stepanov, Pavel Aleksandrovich" userId="b85f6bca-230c-483e-a25b-e13e873626fd" providerId="ADAL" clId="{AB235781-41D1-50B9-86EA-51A98A5F500A}" dt="2026-04-12T03:44:47.248" v="1816" actId="1076"/>
          <ac:spMkLst>
            <pc:docMk/>
            <pc:sldMk cId="1496617165" sldId="274"/>
            <ac:spMk id="34" creationId="{95DE4947-F175-5201-BD87-FF1152160D95}"/>
          </ac:spMkLst>
        </pc:spChg>
        <pc:spChg chg="add mod">
          <ac:chgData name="Stepanov, Pavel Aleksandrovich" userId="b85f6bca-230c-483e-a25b-e13e873626fd" providerId="ADAL" clId="{AB235781-41D1-50B9-86EA-51A98A5F500A}" dt="2026-04-12T03:44:47.248" v="1816" actId="1076"/>
          <ac:spMkLst>
            <pc:docMk/>
            <pc:sldMk cId="1496617165" sldId="274"/>
            <ac:spMk id="35" creationId="{7BD2ED18-CBE8-5F66-C531-81261F606558}"/>
          </ac:spMkLst>
        </pc:spChg>
        <pc:spChg chg="add mod">
          <ac:chgData name="Stepanov, Pavel Aleksandrovich" userId="b85f6bca-230c-483e-a25b-e13e873626fd" providerId="ADAL" clId="{AB235781-41D1-50B9-86EA-51A98A5F500A}" dt="2026-04-12T03:44:47.248" v="1816" actId="1076"/>
          <ac:spMkLst>
            <pc:docMk/>
            <pc:sldMk cId="1496617165" sldId="274"/>
            <ac:spMk id="36" creationId="{BE6938C7-E41E-AF99-D609-5DD46D479AFD}"/>
          </ac:spMkLst>
        </pc:spChg>
        <pc:spChg chg="add mod">
          <ac:chgData name="Stepanov, Pavel Aleksandrovich" userId="b85f6bca-230c-483e-a25b-e13e873626fd" providerId="ADAL" clId="{AB235781-41D1-50B9-86EA-51A98A5F500A}" dt="2026-04-12T03:44:50.285" v="1817" actId="1076"/>
          <ac:spMkLst>
            <pc:docMk/>
            <pc:sldMk cId="1496617165" sldId="274"/>
            <ac:spMk id="38" creationId="{35653914-5516-D471-49D4-302D753CCDC5}"/>
          </ac:spMkLst>
        </pc:spChg>
        <pc:spChg chg="add mod">
          <ac:chgData name="Stepanov, Pavel Aleksandrovich" userId="b85f6bca-230c-483e-a25b-e13e873626fd" providerId="ADAL" clId="{AB235781-41D1-50B9-86EA-51A98A5F500A}" dt="2026-04-12T21:54:42.174" v="2257" actId="167"/>
          <ac:spMkLst>
            <pc:docMk/>
            <pc:sldMk cId="1496617165" sldId="274"/>
            <ac:spMk id="39" creationId="{80715815-A9DD-AC16-9198-1892B94617AB}"/>
          </ac:spMkLst>
        </pc:spChg>
        <pc:spChg chg="add mod">
          <ac:chgData name="Stepanov, Pavel Aleksandrovich" userId="b85f6bca-230c-483e-a25b-e13e873626fd" providerId="ADAL" clId="{AB235781-41D1-50B9-86EA-51A98A5F500A}" dt="2026-04-12T03:41:15.313" v="1797" actId="1076"/>
          <ac:spMkLst>
            <pc:docMk/>
            <pc:sldMk cId="1496617165" sldId="274"/>
            <ac:spMk id="42" creationId="{EFFF4DA0-5C43-90A9-DD8F-7D02A9CF7D46}"/>
          </ac:spMkLst>
        </pc:spChg>
      </pc:sldChg>
      <pc:sldChg chg="addSp delSp modSp add mod ord setBg modNotesTx">
        <pc:chgData name="Stepanov, Pavel Aleksandrovich" userId="b85f6bca-230c-483e-a25b-e13e873626fd" providerId="ADAL" clId="{AB235781-41D1-50B9-86EA-51A98A5F500A}" dt="2026-04-12T22:03:31.142" v="2559" actId="478"/>
        <pc:sldMkLst>
          <pc:docMk/>
          <pc:sldMk cId="2335691973" sldId="275"/>
        </pc:sldMkLst>
      </pc:sldChg>
      <pc:sldChg chg="addSp delSp modSp mod modAnim modNotesTx">
        <pc:chgData name="Stepanov, Pavel Aleksandrovich" userId="b85f6bca-230c-483e-a25b-e13e873626fd" providerId="ADAL" clId="{AB235781-41D1-50B9-86EA-51A98A5F500A}" dt="2026-04-12T22:37:16.881" v="3413" actId="20577"/>
        <pc:sldMkLst>
          <pc:docMk/>
          <pc:sldMk cId="112141385" sldId="277"/>
        </pc:sldMkLst>
        <pc:spChg chg="mod">
          <ac:chgData name="Stepanov, Pavel Aleksandrovich" userId="b85f6bca-230c-483e-a25b-e13e873626fd" providerId="ADAL" clId="{AB235781-41D1-50B9-86EA-51A98A5F500A}" dt="2026-04-12T20:18:31.708" v="1863" actId="1076"/>
          <ac:spMkLst>
            <pc:docMk/>
            <pc:sldMk cId="112141385" sldId="277"/>
            <ac:spMk id="3" creationId="{5FA9EB90-2595-709F-AE1E-7A588079B5FD}"/>
          </ac:spMkLst>
        </pc:spChg>
        <pc:spChg chg="mod">
          <ac:chgData name="Stepanov, Pavel Aleksandrovich" userId="b85f6bca-230c-483e-a25b-e13e873626fd" providerId="ADAL" clId="{AB235781-41D1-50B9-86EA-51A98A5F500A}" dt="2026-04-12T20:20:09.694" v="1905" actId="20577"/>
          <ac:spMkLst>
            <pc:docMk/>
            <pc:sldMk cId="112141385" sldId="277"/>
            <ac:spMk id="4" creationId="{2CD54BCC-4244-9833-FB50-3B0FBEE3DF14}"/>
          </ac:spMkLst>
        </pc:spChg>
        <pc:spChg chg="mod">
          <ac:chgData name="Stepanov, Pavel Aleksandrovich" userId="b85f6bca-230c-483e-a25b-e13e873626fd" providerId="ADAL" clId="{AB235781-41D1-50B9-86EA-51A98A5F500A}" dt="2026-04-12T20:17:57.671" v="1852" actId="1076"/>
          <ac:spMkLst>
            <pc:docMk/>
            <pc:sldMk cId="112141385" sldId="277"/>
            <ac:spMk id="5" creationId="{5D162B93-3E74-0313-0A57-03992CB51ABF}"/>
          </ac:spMkLst>
        </pc:spChg>
        <pc:spChg chg="mod">
          <ac:chgData name="Stepanov, Pavel Aleksandrovich" userId="b85f6bca-230c-483e-a25b-e13e873626fd" providerId="ADAL" clId="{AB235781-41D1-50B9-86EA-51A98A5F500A}" dt="2026-04-12T20:18:35.005" v="1864" actId="20577"/>
          <ac:spMkLst>
            <pc:docMk/>
            <pc:sldMk cId="112141385" sldId="277"/>
            <ac:spMk id="8" creationId="{E76462B7-FBB5-3D19-59DF-2E5C7B79B139}"/>
          </ac:spMkLst>
        </pc:spChg>
        <pc:spChg chg="add mod">
          <ac:chgData name="Stepanov, Pavel Aleksandrovich" userId="b85f6bca-230c-483e-a25b-e13e873626fd" providerId="ADAL" clId="{AB235781-41D1-50B9-86EA-51A98A5F500A}" dt="2026-04-12T20:21:00.170" v="1934" actId="1036"/>
          <ac:spMkLst>
            <pc:docMk/>
            <pc:sldMk cId="112141385" sldId="277"/>
            <ac:spMk id="12" creationId="{9535B06F-8008-C722-40D2-666914885251}"/>
          </ac:spMkLst>
        </pc:spChg>
        <pc:spChg chg="add mod">
          <ac:chgData name="Stepanov, Pavel Aleksandrovich" userId="b85f6bca-230c-483e-a25b-e13e873626fd" providerId="ADAL" clId="{AB235781-41D1-50B9-86EA-51A98A5F500A}" dt="2026-04-12T20:21:00.170" v="1934" actId="1036"/>
          <ac:spMkLst>
            <pc:docMk/>
            <pc:sldMk cId="112141385" sldId="277"/>
            <ac:spMk id="14" creationId="{86652012-79AD-0CAC-E831-0F320A523F40}"/>
          </ac:spMkLst>
        </pc:spChg>
        <pc:spChg chg="add mod">
          <ac:chgData name="Stepanov, Pavel Aleksandrovich" userId="b85f6bca-230c-483e-a25b-e13e873626fd" providerId="ADAL" clId="{AB235781-41D1-50B9-86EA-51A98A5F500A}" dt="2026-04-12T20:21:00.170" v="1934" actId="1036"/>
          <ac:spMkLst>
            <pc:docMk/>
            <pc:sldMk cId="112141385" sldId="277"/>
            <ac:spMk id="16" creationId="{4629228F-858D-AA5C-8007-A8B9B8684B58}"/>
          </ac:spMkLst>
        </pc:spChg>
        <pc:picChg chg="mod">
          <ac:chgData name="Stepanov, Pavel Aleksandrovich" userId="b85f6bca-230c-483e-a25b-e13e873626fd" providerId="ADAL" clId="{AB235781-41D1-50B9-86EA-51A98A5F500A}" dt="2026-04-12T20:21:00.170" v="1934" actId="1036"/>
          <ac:picMkLst>
            <pc:docMk/>
            <pc:sldMk cId="112141385" sldId="277"/>
            <ac:picMk id="6" creationId="{3666306E-6EBB-B987-E57F-971F7BB48AFC}"/>
          </ac:picMkLst>
        </pc:picChg>
        <pc:picChg chg="add mod">
          <ac:chgData name="Stepanov, Pavel Aleksandrovich" userId="b85f6bca-230c-483e-a25b-e13e873626fd" providerId="ADAL" clId="{AB235781-41D1-50B9-86EA-51A98A5F500A}" dt="2026-04-12T20:21:00.170" v="1934" actId="1036"/>
          <ac:picMkLst>
            <pc:docMk/>
            <pc:sldMk cId="112141385" sldId="277"/>
            <ac:picMk id="7" creationId="{397DFF8F-298C-1C62-04AA-18596E28FB0E}"/>
          </ac:picMkLst>
        </pc:picChg>
        <pc:picChg chg="add mod">
          <ac:chgData name="Stepanov, Pavel Aleksandrovich" userId="b85f6bca-230c-483e-a25b-e13e873626fd" providerId="ADAL" clId="{AB235781-41D1-50B9-86EA-51A98A5F500A}" dt="2026-04-12T20:21:00.170" v="1934" actId="1036"/>
          <ac:picMkLst>
            <pc:docMk/>
            <pc:sldMk cId="112141385" sldId="277"/>
            <ac:picMk id="9" creationId="{AD551C60-C50B-074F-86A4-EE34867F2268}"/>
          </ac:picMkLst>
        </pc:picChg>
      </pc:sldChg>
      <pc:sldChg chg="addSp delSp modSp add mod setBg modNotesTx">
        <pc:chgData name="Stepanov, Pavel Aleksandrovich" userId="b85f6bca-230c-483e-a25b-e13e873626fd" providerId="ADAL" clId="{AB235781-41D1-50B9-86EA-51A98A5F500A}" dt="2026-04-12T21:33:26.880" v="2166" actId="255"/>
        <pc:sldMkLst>
          <pc:docMk/>
          <pc:sldMk cId="65819400" sldId="278"/>
        </pc:sldMkLst>
        <pc:spChg chg="mod">
          <ac:chgData name="Stepanov, Pavel Aleksandrovich" userId="b85f6bca-230c-483e-a25b-e13e873626fd" providerId="ADAL" clId="{AB235781-41D1-50B9-86EA-51A98A5F500A}" dt="2026-04-12T21:32:10.931" v="2162" actId="1076"/>
          <ac:spMkLst>
            <pc:docMk/>
            <pc:sldMk cId="65819400" sldId="278"/>
            <ac:spMk id="2" creationId="{CE7C23C2-07A2-6551-4D7A-7CAD3813BAFD}"/>
          </ac:spMkLst>
        </pc:spChg>
        <pc:spChg chg="mod">
          <ac:chgData name="Stepanov, Pavel Aleksandrovich" userId="b85f6bca-230c-483e-a25b-e13e873626fd" providerId="ADAL" clId="{AB235781-41D1-50B9-86EA-51A98A5F500A}" dt="2026-04-12T21:27:05.327" v="2073" actId="20577"/>
          <ac:spMkLst>
            <pc:docMk/>
            <pc:sldMk cId="65819400" sldId="278"/>
            <ac:spMk id="4" creationId="{7447FA41-D2A4-5935-55F7-1678A5C7A587}"/>
          </ac:spMkLst>
        </pc:spChg>
        <pc:spChg chg="add mod">
          <ac:chgData name="Stepanov, Pavel Aleksandrovich" userId="b85f6bca-230c-483e-a25b-e13e873626fd" providerId="ADAL" clId="{AB235781-41D1-50B9-86EA-51A98A5F500A}" dt="2026-04-12T21:33:26.880" v="2166" actId="255"/>
          <ac:spMkLst>
            <pc:docMk/>
            <pc:sldMk cId="65819400" sldId="278"/>
            <ac:spMk id="7" creationId="{6695EFDF-8AB6-08EB-7AFA-148A3C9AA947}"/>
          </ac:spMkLst>
        </pc:spChg>
        <pc:spChg chg="mod">
          <ac:chgData name="Stepanov, Pavel Aleksandrovich" userId="b85f6bca-230c-483e-a25b-e13e873626fd" providerId="ADAL" clId="{AB235781-41D1-50B9-86EA-51A98A5F500A}" dt="2026-04-12T21:27:11.554" v="2090" actId="20577"/>
          <ac:spMkLst>
            <pc:docMk/>
            <pc:sldMk cId="65819400" sldId="278"/>
            <ac:spMk id="8" creationId="{8099D2D1-8A7A-E9DC-B982-E5E62EB44692}"/>
          </ac:spMkLst>
        </pc:spChg>
        <pc:picChg chg="add mod">
          <ac:chgData name="Stepanov, Pavel Aleksandrovich" userId="b85f6bca-230c-483e-a25b-e13e873626fd" providerId="ADAL" clId="{AB235781-41D1-50B9-86EA-51A98A5F500A}" dt="2026-04-12T21:32:10.931" v="2162" actId="1076"/>
          <ac:picMkLst>
            <pc:docMk/>
            <pc:sldMk cId="65819400" sldId="278"/>
            <ac:picMk id="10" creationId="{4674F6F5-0500-E260-D9C5-C1D86C9D33C0}"/>
          </ac:picMkLst>
        </pc:picChg>
      </pc:sldChg>
      <pc:sldChg chg="addSp delSp modSp add mod modNotesTx">
        <pc:chgData name="Stepanov, Pavel Aleksandrovich" userId="b85f6bca-230c-483e-a25b-e13e873626fd" providerId="ADAL" clId="{AB235781-41D1-50B9-86EA-51A98A5F500A}" dt="2026-04-12T22:34:22.532" v="2783" actId="20577"/>
        <pc:sldMkLst>
          <pc:docMk/>
          <pc:sldMk cId="4138064207" sldId="279"/>
        </pc:sldMkLst>
        <pc:spChg chg="mod">
          <ac:chgData name="Stepanov, Pavel Aleksandrovich" userId="b85f6bca-230c-483e-a25b-e13e873626fd" providerId="ADAL" clId="{AB235781-41D1-50B9-86EA-51A98A5F500A}" dt="2026-04-12T21:14:39.348" v="2048" actId="1076"/>
          <ac:spMkLst>
            <pc:docMk/>
            <pc:sldMk cId="4138064207" sldId="279"/>
            <ac:spMk id="3" creationId="{FF4AF94C-0773-77DB-1B7C-2D304FF74F26}"/>
          </ac:spMkLst>
        </pc:spChg>
        <pc:spChg chg="mod">
          <ac:chgData name="Stepanov, Pavel Aleksandrovich" userId="b85f6bca-230c-483e-a25b-e13e873626fd" providerId="ADAL" clId="{AB235781-41D1-50B9-86EA-51A98A5F500A}" dt="2026-04-12T21:12:51.245" v="2028" actId="20577"/>
          <ac:spMkLst>
            <pc:docMk/>
            <pc:sldMk cId="4138064207" sldId="279"/>
            <ac:spMk id="4" creationId="{068EB0DE-023A-9C52-A501-AC311867AE39}"/>
          </ac:spMkLst>
        </pc:spChg>
        <pc:spChg chg="mod">
          <ac:chgData name="Stepanov, Pavel Aleksandrovich" userId="b85f6bca-230c-483e-a25b-e13e873626fd" providerId="ADAL" clId="{AB235781-41D1-50B9-86EA-51A98A5F500A}" dt="2026-04-12T21:14:37.398" v="2047" actId="1076"/>
          <ac:spMkLst>
            <pc:docMk/>
            <pc:sldMk cId="4138064207" sldId="279"/>
            <ac:spMk id="5" creationId="{23014322-0FFA-AD5B-FC05-70B8FB1B24BB}"/>
          </ac:spMkLst>
        </pc:spChg>
        <pc:spChg chg="mod">
          <ac:chgData name="Stepanov, Pavel Aleksandrovich" userId="b85f6bca-230c-483e-a25b-e13e873626fd" providerId="ADAL" clId="{AB235781-41D1-50B9-86EA-51A98A5F500A}" dt="2026-04-12T21:14:22.351" v="2045" actId="20577"/>
          <ac:spMkLst>
            <pc:docMk/>
            <pc:sldMk cId="4138064207" sldId="279"/>
            <ac:spMk id="8" creationId="{4A551462-89FB-F1C4-6F2C-D42F45F6A825}"/>
          </ac:spMkLst>
        </pc:spChg>
        <pc:picChg chg="add mod">
          <ac:chgData name="Stepanov, Pavel Aleksandrovich" userId="b85f6bca-230c-483e-a25b-e13e873626fd" providerId="ADAL" clId="{AB235781-41D1-50B9-86EA-51A98A5F500A}" dt="2026-04-12T21:15:36.897" v="2057" actId="1076"/>
          <ac:picMkLst>
            <pc:docMk/>
            <pc:sldMk cId="4138064207" sldId="279"/>
            <ac:picMk id="11" creationId="{DDAB66D0-654C-044F-CADE-8BF836BB2919}"/>
          </ac:picMkLst>
        </pc:picChg>
        <pc:picChg chg="add mod">
          <ac:chgData name="Stepanov, Pavel Aleksandrovich" userId="b85f6bca-230c-483e-a25b-e13e873626fd" providerId="ADAL" clId="{AB235781-41D1-50B9-86EA-51A98A5F500A}" dt="2026-04-12T21:15:34.763" v="2056" actId="1076"/>
          <ac:picMkLst>
            <pc:docMk/>
            <pc:sldMk cId="4138064207" sldId="279"/>
            <ac:picMk id="13" creationId="{8A0ED9C7-6786-5F0D-DD10-5352934C07E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E8E3E3-B2E7-C649-9FF9-E9813C9F5CC9}" type="datetimeFigureOut">
              <a:rPr lang="en-US" smtClean="0"/>
              <a:t>4/13/26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F43537-14D9-9349-AA70-B1088F1298F1}" type="slidenum">
              <a:rPr lang="en-US" smtClean="0"/>
              <a:t>‹#›</a:t>
            </a:fld>
            <a:endParaRPr lang="en-US"/>
          </a:p>
        </p:txBody>
      </p:sp>
    </p:spTree>
    <p:extLst>
      <p:ext uri="{BB962C8B-B14F-4D97-AF65-F5344CB8AC3E}">
        <p14:creationId xmlns:p14="http://schemas.microsoft.com/office/powerpoint/2010/main" val="140855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PAVEL:</a:t>
            </a:r>
          </a:p>
          <a:p>
            <a:endParaRPr lang="en-US" dirty="0"/>
          </a:p>
          <a:p>
            <a:r>
              <a:rPr lang="en-US" sz="1200" b="0" i="0" kern="1200" dirty="0">
                <a:solidFill>
                  <a:schemeClr val="tx1"/>
                </a:solidFill>
                <a:effectLst/>
                <a:latin typeface="+mn-lt"/>
                <a:ea typeface="+mn-ea"/>
                <a:cs typeface="+mn-cs"/>
              </a:rPr>
              <a:t>Good afternoon, everyone. My name is Pavel Stepanov, and I'm here with my teammates Ramses </a:t>
            </a:r>
            <a:r>
              <a:rPr lang="en-US" sz="1200" b="0" i="0" kern="1200" dirty="0" err="1">
                <a:solidFill>
                  <a:schemeClr val="tx1"/>
                </a:solidFill>
                <a:effectLst/>
                <a:latin typeface="+mn-lt"/>
                <a:ea typeface="+mn-ea"/>
                <a:cs typeface="+mn-cs"/>
              </a:rPr>
              <a:t>Loaces</a:t>
            </a:r>
            <a:r>
              <a:rPr lang="en-US" sz="1200" b="0" i="0" kern="1200" dirty="0">
                <a:solidFill>
                  <a:schemeClr val="tx1"/>
                </a:solidFill>
                <a:effectLst/>
                <a:latin typeface="+mn-lt"/>
                <a:ea typeface="+mn-ea"/>
                <a:cs typeface="+mn-cs"/>
              </a:rPr>
              <a:t> and Justin Cabrera. Today we're presenting our research on unsupervised kinematic anomaly detection in autonomous driving.</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Here's the core question that drives our work: </a:t>
            </a:r>
            <a:r>
              <a:rPr lang="en-US" sz="1200" b="1" i="0" kern="1200" dirty="0">
                <a:solidFill>
                  <a:schemeClr val="tx1"/>
                </a:solidFill>
                <a:effectLst/>
                <a:latin typeface="+mn-lt"/>
                <a:ea typeface="+mn-ea"/>
                <a:cs typeface="+mn-cs"/>
              </a:rPr>
              <a:t>How does an autonomous vehicle recognize that something unusual is happening on the road — without anyone ever labeling what "unusual" looks like?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That's the problem we tackle. Let's get into it.</a:t>
            </a:r>
          </a:p>
          <a:p>
            <a:endParaRPr lang="en-US" dirty="0"/>
          </a:p>
        </p:txBody>
      </p:sp>
      <p:sp>
        <p:nvSpPr>
          <p:cNvPr id="4" name="Slide Number Placeholder 3"/>
          <p:cNvSpPr>
            <a:spLocks noGrp="1"/>
          </p:cNvSpPr>
          <p:nvPr>
            <p:ph type="sldNum" sz="quarter" idx="5"/>
          </p:nvPr>
        </p:nvSpPr>
        <p:spPr/>
        <p:txBody>
          <a:bodyPr/>
          <a:lstStyle/>
          <a:p>
            <a:fld id="{B3F43537-14D9-9349-AA70-B1088F1298F1}" type="slidenum">
              <a:rPr lang="en-US" smtClean="0"/>
              <a:t>1</a:t>
            </a:fld>
            <a:endParaRPr lang="en-US"/>
          </a:p>
        </p:txBody>
      </p:sp>
    </p:spTree>
    <p:extLst>
      <p:ext uri="{BB962C8B-B14F-4D97-AF65-F5344CB8AC3E}">
        <p14:creationId xmlns:p14="http://schemas.microsoft.com/office/powerpoint/2010/main" val="4903266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PAVEL: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sz="1200" b="0" i="0" kern="1200" dirty="0">
                <a:solidFill>
                  <a:schemeClr val="tx1"/>
                </a:solidFill>
                <a:effectLst/>
                <a:latin typeface="+mn-lt"/>
                <a:ea typeface="+mn-ea"/>
                <a:cs typeface="+mn-cs"/>
              </a:rPr>
              <a:t>Autonomous vehicles are getting very good at handling the everyday: steady highway cruising, predictable lane-following, routine intersections. But safety-critical incidents live in the </a:t>
            </a:r>
            <a:r>
              <a:rPr lang="en-US" sz="1200" b="1" i="0" kern="1200" dirty="0">
                <a:solidFill>
                  <a:schemeClr val="tx1"/>
                </a:solidFill>
                <a:effectLst/>
                <a:latin typeface="+mn-lt"/>
                <a:ea typeface="+mn-ea"/>
                <a:cs typeface="+mn-cs"/>
              </a:rPr>
              <a:t>long tail</a:t>
            </a:r>
            <a:r>
              <a:rPr lang="en-US" sz="1200" b="0" i="0" kern="1200" dirty="0">
                <a:solidFill>
                  <a:schemeClr val="tx1"/>
                </a:solidFill>
                <a:effectLst/>
                <a:latin typeface="+mn-lt"/>
                <a:ea typeface="+mn-ea"/>
                <a:cs typeface="+mn-cs"/>
              </a:rPr>
              <a:t> of driving distributions — sudden braking, aggressive lane changes, a pedestrian running into the street.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challenge is that these events are rare by definition, so </a:t>
            </a:r>
            <a:r>
              <a:rPr lang="en-US" sz="1200" b="1" i="0" kern="1200" dirty="0">
                <a:solidFill>
                  <a:schemeClr val="tx1"/>
                </a:solidFill>
                <a:effectLst/>
                <a:latin typeface="+mn-lt"/>
                <a:ea typeface="+mn-ea"/>
                <a:cs typeface="+mn-cs"/>
              </a:rPr>
              <a:t>labeled examples are scarce</a:t>
            </a:r>
            <a:r>
              <a:rPr lang="en-US" sz="1200" b="0" i="0" kern="1200" dirty="0">
                <a:solidFill>
                  <a:schemeClr val="tx1"/>
                </a:solidFill>
                <a:effectLst/>
                <a:latin typeface="+mn-lt"/>
                <a:ea typeface="+mn-ea"/>
                <a:cs typeface="+mn-cs"/>
              </a:rPr>
              <a:t>. You can't train a supervised classifier without labels. And the definition of "dangerous" is subjective — a 30 km/h speed is fine on a highway, alarming in a crosswalk.</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is exactly where </a:t>
            </a:r>
            <a:r>
              <a:rPr lang="en-US" sz="1200" b="1" i="0" kern="1200" dirty="0">
                <a:solidFill>
                  <a:schemeClr val="tx1"/>
                </a:solidFill>
                <a:effectLst/>
                <a:latin typeface="+mn-lt"/>
                <a:ea typeface="+mn-ea"/>
                <a:cs typeface="+mn-cs"/>
              </a:rPr>
              <a:t>unsupervised learning</a:t>
            </a:r>
            <a:r>
              <a:rPr lang="en-US" sz="1200" b="0" i="0" kern="1200" dirty="0">
                <a:solidFill>
                  <a:schemeClr val="tx1"/>
                </a:solidFill>
                <a:effectLst/>
                <a:latin typeface="+mn-lt"/>
                <a:ea typeface="+mn-ea"/>
                <a:cs typeface="+mn-cs"/>
              </a:rPr>
              <a:t> shines: we don't need labels. We let the data tell us what's normal, and then flag what falls outside that.</a:t>
            </a:r>
            <a:br>
              <a:rPr lang="en-US" sz="1200" b="0" i="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B3F43537-14D9-9349-AA70-B1088F1298F1}" type="slidenum">
              <a:rPr lang="en-US" smtClean="0"/>
              <a:t>2</a:t>
            </a:fld>
            <a:endParaRPr lang="en-US"/>
          </a:p>
        </p:txBody>
      </p:sp>
    </p:spTree>
    <p:extLst>
      <p:ext uri="{BB962C8B-B14F-4D97-AF65-F5344CB8AC3E}">
        <p14:creationId xmlns:p14="http://schemas.microsoft.com/office/powerpoint/2010/main" val="37437593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PAVEL:</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We had two concrete goals:</a:t>
            </a:r>
          </a:p>
          <a:p>
            <a:r>
              <a:rPr lang="en-US" sz="1200" b="0" i="0" kern="1200" dirty="0">
                <a:solidFill>
                  <a:schemeClr val="tx1"/>
                </a:solidFill>
                <a:effectLst/>
                <a:latin typeface="+mn-lt"/>
                <a:ea typeface="+mn-ea"/>
                <a:cs typeface="+mn-cs"/>
              </a:rPr>
              <a:t>Detect anomalous motion patterns from kinematic signals alone — no human annotation.</a:t>
            </a:r>
          </a:p>
          <a:p>
            <a:r>
              <a:rPr lang="en-US" sz="1200" b="0" i="0" kern="1200" dirty="0">
                <a:solidFill>
                  <a:schemeClr val="tx1"/>
                </a:solidFill>
                <a:effectLst/>
                <a:latin typeface="+mn-lt"/>
                <a:ea typeface="+mn-ea"/>
                <a:cs typeface="+mn-cs"/>
              </a:rPr>
              <a:t>Predict where an agent will be in 5 seconds using only its current kinematic state.</a:t>
            </a:r>
          </a:p>
          <a:p>
            <a:r>
              <a:rPr lang="en-US" sz="1200" b="0" i="0" kern="1200" dirty="0">
                <a:solidFill>
                  <a:schemeClr val="tx1"/>
                </a:solidFill>
                <a:effectLst/>
                <a:latin typeface="+mn-lt"/>
                <a:ea typeface="+mn-ea"/>
                <a:cs typeface="+mn-cs"/>
              </a:rPr>
              <a:t>Both are essential for an AV that needs to proactively plan around unexpected behavior.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B3F43537-14D9-9349-AA70-B1088F1298F1}" type="slidenum">
              <a:rPr lang="en-US" smtClean="0"/>
              <a:t>3</a:t>
            </a:fld>
            <a:endParaRPr lang="en-US"/>
          </a:p>
        </p:txBody>
      </p:sp>
    </p:spTree>
    <p:extLst>
      <p:ext uri="{BB962C8B-B14F-4D97-AF65-F5344CB8AC3E}">
        <p14:creationId xmlns:p14="http://schemas.microsoft.com/office/powerpoint/2010/main" val="883293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33BA6-799C-731E-A259-2AB9FEB748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A192FD-D26D-BA07-FC46-C4C0D35265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D326B3-1493-C9B5-85AE-AF2D9FB43035}"/>
              </a:ext>
            </a:extLst>
          </p:cNvPr>
          <p:cNvSpPr>
            <a:spLocks noGrp="1"/>
          </p:cNvSpPr>
          <p:nvPr>
            <p:ph type="body" idx="1"/>
          </p:nvPr>
        </p:nvSpPr>
        <p:spPr/>
        <p:txBody>
          <a:bodyPr/>
          <a:lstStyle/>
          <a:p>
            <a:r>
              <a:rPr lang="en-US" b="1" dirty="0"/>
              <a:t>RAMSES:</a:t>
            </a:r>
            <a:br>
              <a:rPr lang="en-US" dirty="0"/>
            </a:br>
            <a:br>
              <a:rPr lang="en-US" dirty="0"/>
            </a:br>
            <a:r>
              <a:rPr lang="en-US" sz="1200" b="1" kern="1200" dirty="0">
                <a:solidFill>
                  <a:schemeClr val="tx1"/>
                </a:solidFill>
                <a:effectLst/>
                <a:latin typeface="+mn-lt"/>
                <a:ea typeface="+mn-ea"/>
                <a:cs typeface="+mn-cs"/>
              </a:rPr>
              <a:t>1. </a:t>
            </a:r>
            <a:r>
              <a:rPr lang="en-US" sz="1200" kern="1200" dirty="0">
                <a:solidFill>
                  <a:schemeClr val="tx1"/>
                </a:solidFill>
                <a:effectLst/>
                <a:latin typeface="+mn-lt"/>
                <a:ea typeface="+mn-ea"/>
                <a:cs typeface="+mn-cs"/>
              </a:rPr>
              <a:t>Looking at the current landscape, the industry is heavily focused on </a:t>
            </a:r>
            <a:r>
              <a:rPr lang="en-US" sz="1200" b="1" kern="1200" dirty="0">
                <a:solidFill>
                  <a:schemeClr val="tx1"/>
                </a:solidFill>
                <a:effectLst/>
                <a:latin typeface="+mn-lt"/>
                <a:ea typeface="+mn-ea"/>
                <a:cs typeface="+mn-cs"/>
              </a:rPr>
              <a:t>Deep Learning </a:t>
            </a:r>
            <a:r>
              <a:rPr lang="en-US" sz="1200" kern="1200" dirty="0">
                <a:solidFill>
                  <a:schemeClr val="tx1"/>
                </a:solidFill>
                <a:effectLst/>
                <a:latin typeface="+mn-lt"/>
                <a:ea typeface="+mn-ea"/>
                <a:cs typeface="+mn-cs"/>
              </a:rPr>
              <a:t>specifically LSTMs and Transformers. They’re accurate, but they have two major flaws for our goals: they’re 'black boxes' and they require massive amounts of labeled data. We wanted a method that was more transparent and didn't rely on human-labeled examples.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2. </a:t>
            </a:r>
            <a:r>
              <a:rPr lang="en-US" sz="1200" kern="1200" dirty="0">
                <a:solidFill>
                  <a:schemeClr val="tx1"/>
                </a:solidFill>
                <a:effectLst/>
                <a:latin typeface="+mn-lt"/>
                <a:ea typeface="+mn-ea"/>
                <a:cs typeface="+mn-cs"/>
              </a:rPr>
              <a:t>We then explored unsupervised options like the </a:t>
            </a:r>
            <a:r>
              <a:rPr lang="en-US" sz="1200" b="1" kern="1200" dirty="0">
                <a:solidFill>
                  <a:schemeClr val="tx1"/>
                </a:solidFill>
                <a:effectLst/>
                <a:latin typeface="+mn-lt"/>
                <a:ea typeface="+mn-ea"/>
                <a:cs typeface="+mn-cs"/>
              </a:rPr>
              <a:t>One-Class SVM</a:t>
            </a:r>
            <a:r>
              <a:rPr lang="en-US" sz="1200" kern="1200" dirty="0">
                <a:solidFill>
                  <a:schemeClr val="tx1"/>
                </a:solidFill>
                <a:effectLst/>
                <a:latin typeface="+mn-lt"/>
                <a:ea typeface="+mn-ea"/>
                <a:cs typeface="+mn-cs"/>
              </a:rPr>
              <a:t>. While it doesn’t need labels, it’s incredibly finicky. It tries to draw a tight boundary around 'normal' data, but if your tuning is even slightly off, the model fails. It’s too sensitive for the varied environments we see in the Waymo dataset.</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3. </a:t>
            </a:r>
            <a:r>
              <a:rPr lang="en-US" sz="1200" kern="1200" dirty="0">
                <a:solidFill>
                  <a:schemeClr val="tx1"/>
                </a:solidFill>
                <a:effectLst/>
                <a:latin typeface="+mn-lt"/>
                <a:ea typeface="+mn-ea"/>
                <a:cs typeface="+mn-cs"/>
              </a:rPr>
              <a:t>That led us to our core approach: the </a:t>
            </a:r>
            <a:r>
              <a:rPr lang="en-US" sz="1200" b="1" kern="1200" dirty="0">
                <a:solidFill>
                  <a:schemeClr val="tx1"/>
                </a:solidFill>
                <a:effectLst/>
                <a:latin typeface="+mn-lt"/>
                <a:ea typeface="+mn-ea"/>
                <a:cs typeface="+mn-cs"/>
              </a:rPr>
              <a:t>Isolation Forest</a:t>
            </a:r>
            <a:r>
              <a:rPr lang="en-US" sz="1200" kern="1200" dirty="0">
                <a:solidFill>
                  <a:schemeClr val="tx1"/>
                </a:solidFill>
                <a:effectLst/>
                <a:latin typeface="+mn-lt"/>
                <a:ea typeface="+mn-ea"/>
                <a:cs typeface="+mn-cs"/>
              </a:rPr>
              <a:t>. The logic is simple: </a:t>
            </a:r>
            <a:r>
              <a:rPr lang="en-US" sz="1200" b="1" kern="1200" dirty="0">
                <a:solidFill>
                  <a:schemeClr val="tx1"/>
                </a:solidFill>
                <a:effectLst/>
                <a:latin typeface="+mn-lt"/>
                <a:ea typeface="+mn-ea"/>
                <a:cs typeface="+mn-cs"/>
              </a:rPr>
              <a:t>Anomalies are 'few and different.'</a:t>
            </a:r>
            <a:r>
              <a:rPr lang="en-US" sz="1200" kern="1200" dirty="0">
                <a:solidFill>
                  <a:schemeClr val="tx1"/>
                </a:solidFill>
                <a:effectLst/>
                <a:latin typeface="+mn-lt"/>
                <a:ea typeface="+mn-ea"/>
                <a:cs typeface="+mn-cs"/>
              </a:rPr>
              <a:t> Think of it this way: if you randomly split the data, an outlier is 'easy to corner.' It takes fewer steps to isolate a reckless lane change than it does to isolate a car driving at the speed limit. We use this 'path length' to generate a score—the shorter the path, the higher the likelihood of an anomaly.</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4. </a:t>
            </a:r>
            <a:r>
              <a:rPr lang="en-US" sz="1200" kern="1200" dirty="0">
                <a:solidFill>
                  <a:schemeClr val="tx1"/>
                </a:solidFill>
                <a:effectLst/>
                <a:latin typeface="+mn-lt"/>
                <a:ea typeface="+mn-ea"/>
                <a:cs typeface="+mn-cs"/>
              </a:rPr>
              <a:t>Ultimately, we’re filling a major gap. While everyone else is building complex prediction pipelines, we are proving that </a:t>
            </a:r>
            <a:r>
              <a:rPr lang="en-US" sz="1200" b="1" kern="1200" dirty="0">
                <a:solidFill>
                  <a:schemeClr val="tx1"/>
                </a:solidFill>
                <a:effectLst/>
                <a:latin typeface="+mn-lt"/>
                <a:ea typeface="+mn-ea"/>
                <a:cs typeface="+mn-cs"/>
              </a:rPr>
              <a:t>interpretable, statistical baselines</a:t>
            </a:r>
            <a:r>
              <a:rPr lang="en-US" sz="1200" kern="1200" dirty="0">
                <a:solidFill>
                  <a:schemeClr val="tx1"/>
                </a:solidFill>
                <a:effectLst/>
                <a:latin typeface="+mn-lt"/>
                <a:ea typeface="+mn-ea"/>
                <a:cs typeface="+mn-cs"/>
              </a:rPr>
              <a:t> can effectively capture the 1% of incidents that actually matter.</a:t>
            </a:r>
          </a:p>
          <a:p>
            <a:endParaRPr lang="en-US" dirty="0"/>
          </a:p>
        </p:txBody>
      </p:sp>
      <p:sp>
        <p:nvSpPr>
          <p:cNvPr id="4" name="Slide Number Placeholder 3">
            <a:extLst>
              <a:ext uri="{FF2B5EF4-FFF2-40B4-BE49-F238E27FC236}">
                <a16:creationId xmlns:a16="http://schemas.microsoft.com/office/drawing/2014/main" id="{D5FE157B-A1DC-1D23-F336-5D207EB556BF}"/>
              </a:ext>
            </a:extLst>
          </p:cNvPr>
          <p:cNvSpPr>
            <a:spLocks noGrp="1"/>
          </p:cNvSpPr>
          <p:nvPr>
            <p:ph type="sldNum" sz="quarter" idx="5"/>
          </p:nvPr>
        </p:nvSpPr>
        <p:spPr/>
        <p:txBody>
          <a:bodyPr/>
          <a:lstStyle/>
          <a:p>
            <a:fld id="{B3F43537-14D9-9349-AA70-B1088F1298F1}" type="slidenum">
              <a:rPr lang="en-US" smtClean="0"/>
              <a:t>4</a:t>
            </a:fld>
            <a:endParaRPr lang="en-US"/>
          </a:p>
        </p:txBody>
      </p:sp>
    </p:spTree>
    <p:extLst>
      <p:ext uri="{BB962C8B-B14F-4D97-AF65-F5344CB8AC3E}">
        <p14:creationId xmlns:p14="http://schemas.microsoft.com/office/powerpoint/2010/main" val="36089522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DDECF-9F84-6067-3E6E-EE2D1ECFB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23B045-2154-AF22-65EF-6378D5BD9D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09E51C-D96C-F1C4-5A91-183A4BD5B551}"/>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RAMSES:</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Our project addresses the challenge of identifying rare, high-risk driving events. We grounded our work in the </a:t>
            </a:r>
            <a:r>
              <a:rPr lang="en-US" sz="1200" b="1" kern="1200" dirty="0">
                <a:solidFill>
                  <a:schemeClr val="tx1"/>
                </a:solidFill>
                <a:effectLst/>
                <a:latin typeface="+mn-lt"/>
                <a:ea typeface="+mn-ea"/>
                <a:cs typeface="+mn-cs"/>
              </a:rPr>
              <a:t>Pimentel [1]</a:t>
            </a:r>
            <a:r>
              <a:rPr lang="en-US" sz="1200" kern="1200" dirty="0">
                <a:solidFill>
                  <a:schemeClr val="tx1"/>
                </a:solidFill>
                <a:effectLst/>
                <a:latin typeface="+mn-lt"/>
                <a:ea typeface="+mn-ea"/>
                <a:cs typeface="+mn-cs"/>
              </a:rPr>
              <a:t> and </a:t>
            </a:r>
            <a:r>
              <a:rPr lang="en-US" sz="1200" b="1" kern="1200" dirty="0" err="1">
                <a:solidFill>
                  <a:schemeClr val="tx1"/>
                </a:solidFill>
                <a:effectLst/>
                <a:latin typeface="+mn-lt"/>
                <a:ea typeface="+mn-ea"/>
                <a:cs typeface="+mn-cs"/>
              </a:rPr>
              <a:t>Schölkopf</a:t>
            </a:r>
            <a:r>
              <a:rPr lang="en-US" sz="1200" b="1" kern="1200" dirty="0">
                <a:solidFill>
                  <a:schemeClr val="tx1"/>
                </a:solidFill>
                <a:effectLst/>
                <a:latin typeface="+mn-lt"/>
                <a:ea typeface="+mn-ea"/>
                <a:cs typeface="+mn-cs"/>
              </a:rPr>
              <a:t> [4]</a:t>
            </a:r>
            <a:r>
              <a:rPr lang="en-US" sz="1200" kern="1200" dirty="0">
                <a:solidFill>
                  <a:schemeClr val="tx1"/>
                </a:solidFill>
                <a:effectLst/>
                <a:latin typeface="+mn-lt"/>
                <a:ea typeface="+mn-ea"/>
                <a:cs typeface="+mn-cs"/>
              </a:rPr>
              <a:t> frameworks for novelty detection, which allow us to model 'normal' driving without needing a labeled database of every possible crash scenario.</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 find these incidents efficiently, we utilized the </a:t>
            </a:r>
            <a:r>
              <a:rPr lang="en-US" sz="1200" b="1" kern="1200" dirty="0">
                <a:solidFill>
                  <a:schemeClr val="tx1"/>
                </a:solidFill>
                <a:effectLst/>
                <a:latin typeface="+mn-lt"/>
                <a:ea typeface="+mn-ea"/>
                <a:cs typeface="+mn-cs"/>
              </a:rPr>
              <a:t>Isolation Forest [3]</a:t>
            </a:r>
            <a:r>
              <a:rPr lang="en-US" sz="1200" kern="1200" dirty="0">
                <a:solidFill>
                  <a:schemeClr val="tx1"/>
                </a:solidFill>
                <a:effectLst/>
                <a:latin typeface="+mn-lt"/>
                <a:ea typeface="+mn-ea"/>
                <a:cs typeface="+mn-cs"/>
              </a:rPr>
              <a:t> method—it’s conceptually powerful because it assumes anomalies are easier to 'separate' from the pack than normal data is to define.</a:t>
            </a:r>
          </a:p>
          <a:p>
            <a:r>
              <a:rPr lang="en-US" sz="1200" kern="1200" dirty="0">
                <a:solidFill>
                  <a:schemeClr val="tx1"/>
                </a:solidFill>
                <a:effectLst/>
                <a:latin typeface="+mn-lt"/>
                <a:ea typeface="+mn-ea"/>
                <a:cs typeface="+mn-cs"/>
              </a:rPr>
              <a:t>We tested this logic against the </a:t>
            </a:r>
            <a:r>
              <a:rPr lang="en-US" sz="1200" b="1" kern="1200" dirty="0">
                <a:solidFill>
                  <a:schemeClr val="tx1"/>
                </a:solidFill>
                <a:effectLst/>
                <a:latin typeface="+mn-lt"/>
                <a:ea typeface="+mn-ea"/>
                <a:cs typeface="+mn-cs"/>
              </a:rPr>
              <a:t>Waymo Open Motion Dataset [6]</a:t>
            </a:r>
            <a:r>
              <a:rPr lang="en-US" sz="1200" kern="1200" dirty="0">
                <a:solidFill>
                  <a:schemeClr val="tx1"/>
                </a:solidFill>
                <a:effectLst/>
                <a:latin typeface="+mn-lt"/>
                <a:ea typeface="+mn-ea"/>
                <a:cs typeface="+mn-cs"/>
              </a:rPr>
              <a:t>, specifically targeting the 'long-tail' scenarios described in Waymo’s core research [2, 5]. By combining these established statistical methods with Waymo's real-world sensor data, we successfully isolated anomalies based on kinematic extremes in speed, yaw, and acceleration."</a:t>
            </a:r>
          </a:p>
        </p:txBody>
      </p:sp>
      <p:sp>
        <p:nvSpPr>
          <p:cNvPr id="4" name="Slide Number Placeholder 3">
            <a:extLst>
              <a:ext uri="{FF2B5EF4-FFF2-40B4-BE49-F238E27FC236}">
                <a16:creationId xmlns:a16="http://schemas.microsoft.com/office/drawing/2014/main" id="{85386789-00F0-5EB2-6B35-0A8215685A67}"/>
              </a:ext>
            </a:extLst>
          </p:cNvPr>
          <p:cNvSpPr>
            <a:spLocks noGrp="1"/>
          </p:cNvSpPr>
          <p:nvPr>
            <p:ph type="sldNum" sz="quarter" idx="5"/>
          </p:nvPr>
        </p:nvSpPr>
        <p:spPr/>
        <p:txBody>
          <a:bodyPr/>
          <a:lstStyle/>
          <a:p>
            <a:fld id="{B3F43537-14D9-9349-AA70-B1088F1298F1}" type="slidenum">
              <a:rPr lang="en-US" smtClean="0"/>
              <a:t>5</a:t>
            </a:fld>
            <a:endParaRPr lang="en-US"/>
          </a:p>
        </p:txBody>
      </p:sp>
    </p:spTree>
    <p:extLst>
      <p:ext uri="{BB962C8B-B14F-4D97-AF65-F5344CB8AC3E}">
        <p14:creationId xmlns:p14="http://schemas.microsoft.com/office/powerpoint/2010/main" val="6013471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2D3C5-3FEB-3A4F-47FB-AE62785081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52FA19-FDDE-6941-34C7-7A5313F9F1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01B0FE-524B-62AB-F469-BCFF9F39A3FF}"/>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PAVEL: </a:t>
            </a:r>
          </a:p>
          <a:p>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We work with the </a:t>
            </a:r>
            <a:r>
              <a:rPr lang="en-US" sz="1200" b="1" i="0" kern="1200" dirty="0">
                <a:solidFill>
                  <a:schemeClr val="tx1"/>
                </a:solidFill>
                <a:effectLst/>
                <a:latin typeface="+mn-lt"/>
                <a:ea typeface="+mn-ea"/>
                <a:cs typeface="+mn-cs"/>
              </a:rPr>
              <a:t>Waymo Open Motion Dataset v1.3.1</a:t>
            </a:r>
            <a:r>
              <a:rPr lang="en-US" sz="1200" b="0" i="0" kern="1200" dirty="0">
                <a:solidFill>
                  <a:schemeClr val="tx1"/>
                </a:solidFill>
                <a:effectLst/>
                <a:latin typeface="+mn-lt"/>
                <a:ea typeface="+mn-ea"/>
                <a:cs typeface="+mn-cs"/>
              </a:rPr>
              <a:t> — one of the largest real-world AV datasets available publicly. It provides 20 Hz object tracks over 20-second urban driving segments, with rich metadata: agent type (vehicle, pedestrian, cyclist), bounding boxes, interaction flags, and traffic signals.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Our pipeline has two stages. </a:t>
            </a:r>
          </a:p>
          <a:p>
            <a:r>
              <a:rPr lang="en-US" sz="1200" b="0" i="0" kern="1200" dirty="0">
                <a:solidFill>
                  <a:schemeClr val="tx1"/>
                </a:solidFill>
                <a:effectLst/>
                <a:latin typeface="+mn-lt"/>
                <a:ea typeface="+mn-ea"/>
                <a:cs typeface="+mn-cs"/>
              </a:rPr>
              <a:t>First, Python running in Google </a:t>
            </a:r>
            <a:r>
              <a:rPr lang="en-US" sz="1200" b="0" i="0" kern="1200" dirty="0" err="1">
                <a:solidFill>
                  <a:schemeClr val="tx1"/>
                </a:solidFill>
                <a:effectLst/>
                <a:latin typeface="+mn-lt"/>
                <a:ea typeface="+mn-ea"/>
                <a:cs typeface="+mn-cs"/>
              </a:rPr>
              <a:t>Colab</a:t>
            </a:r>
            <a:r>
              <a:rPr lang="en-US" sz="1200" b="0" i="0" kern="1200" dirty="0">
                <a:solidFill>
                  <a:schemeClr val="tx1"/>
                </a:solidFill>
                <a:effectLst/>
                <a:latin typeface="+mn-lt"/>
                <a:ea typeface="+mn-ea"/>
                <a:cs typeface="+mn-cs"/>
              </a:rPr>
              <a:t> pulls raw </a:t>
            </a:r>
            <a:r>
              <a:rPr lang="en-US" sz="1200" b="0" i="0" kern="1200" dirty="0" err="1">
                <a:solidFill>
                  <a:schemeClr val="tx1"/>
                </a:solidFill>
                <a:effectLst/>
                <a:latin typeface="+mn-lt"/>
                <a:ea typeface="+mn-ea"/>
                <a:cs typeface="+mn-cs"/>
              </a:rPr>
              <a:t>TFRecord</a:t>
            </a:r>
            <a:r>
              <a:rPr lang="en-US" sz="1200" b="0" i="0" kern="1200" dirty="0">
                <a:solidFill>
                  <a:schemeClr val="tx1"/>
                </a:solidFill>
                <a:effectLst/>
                <a:latin typeface="+mn-lt"/>
                <a:ea typeface="+mn-ea"/>
                <a:cs typeface="+mn-cs"/>
              </a:rPr>
              <a:t> shards from Waymo's Google Cloud Storage bucket and extracts a tabular feature set for over </a:t>
            </a:r>
            <a:r>
              <a:rPr lang="en-US" sz="1200" b="1" i="0" kern="1200" dirty="0">
                <a:solidFill>
                  <a:schemeClr val="tx1"/>
                </a:solidFill>
                <a:effectLst/>
                <a:latin typeface="+mn-lt"/>
                <a:ea typeface="+mn-ea"/>
                <a:cs typeface="+mn-cs"/>
              </a:rPr>
              <a:t>18,000 agents</a:t>
            </a:r>
            <a:r>
              <a:rPr lang="en-US" sz="1200" b="0" i="0" kern="1200" dirty="0">
                <a:solidFill>
                  <a:schemeClr val="tx1"/>
                </a:solidFill>
                <a:effectLst/>
                <a:latin typeface="+mn-lt"/>
                <a:ea typeface="+mn-ea"/>
                <a:cs typeface="+mn-cs"/>
              </a:rPr>
              <a:t> across hundreds of scenarios.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We extract the kinematic state at the prediction moment: speed, acceleration, yaw rate, velocity components, and the future 5-second displacement.</a:t>
            </a:r>
          </a:p>
          <a:p>
            <a:r>
              <a:rPr lang="en-US" sz="1200" b="0" i="0" kern="1200" dirty="0">
                <a:solidFill>
                  <a:schemeClr val="tx1"/>
                </a:solidFill>
                <a:effectLst/>
                <a:latin typeface="+mn-lt"/>
                <a:ea typeface="+mn-ea"/>
                <a:cs typeface="+mn-cs"/>
              </a:rPr>
              <a:t>That CSV then flows into R, where all statistical modeling happens.</a:t>
            </a:r>
          </a:p>
          <a:p>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two analyses use different preprocessing. For anomaly detection, we apply the strictest filter: valid sensor frames only, stationary agents removed, and complete cases across all kinematic and geometric features — leaving </a:t>
            </a:r>
            <a:r>
              <a:rPr lang="en-US" sz="1200" b="1" i="0" kern="1200" dirty="0">
                <a:solidFill>
                  <a:schemeClr val="tx1"/>
                </a:solidFill>
                <a:effectLst/>
                <a:latin typeface="+mn-lt"/>
                <a:ea typeface="+mn-ea"/>
                <a:cs typeface="+mn-cs"/>
              </a:rPr>
              <a:t>4,538 moving agents</a:t>
            </a:r>
            <a:r>
              <a:rPr lang="en-US" sz="1200" b="0" i="0" kern="1200" dirty="0">
                <a:solidFill>
                  <a:schemeClr val="tx1"/>
                </a:solidFill>
                <a:effectLst/>
                <a:latin typeface="+mn-lt"/>
                <a:ea typeface="+mn-ea"/>
                <a:cs typeface="+mn-cs"/>
              </a:rPr>
              <a:t>. For regression, the goal is different — we actually want to compare behavior with and without stationary agents — so we start from a more permissive filter: NA removal only, no speed cutoff. That gives us </a:t>
            </a:r>
            <a:r>
              <a:rPr lang="en-US" sz="1200" b="1" i="0" kern="1200" dirty="0">
                <a:solidFill>
                  <a:schemeClr val="tx1"/>
                </a:solidFill>
                <a:effectLst/>
                <a:latin typeface="+mn-lt"/>
                <a:ea typeface="+mn-ea"/>
                <a:cs typeface="+mn-cs"/>
              </a:rPr>
              <a:t>6,614 agents</a:t>
            </a:r>
            <a:r>
              <a:rPr lang="en-US" sz="1200" b="0" i="0" kern="1200" dirty="0">
                <a:solidFill>
                  <a:schemeClr val="tx1"/>
                </a:solidFill>
                <a:effectLst/>
                <a:latin typeface="+mn-lt"/>
                <a:ea typeface="+mn-ea"/>
                <a:cs typeface="+mn-cs"/>
              </a:rPr>
              <a:t> including stationary ones, which we then split into two conditions for the comparison.</a:t>
            </a:r>
          </a:p>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F8B9A26-5242-35EF-0A62-D2FFEE71044A}"/>
              </a:ext>
            </a:extLst>
          </p:cNvPr>
          <p:cNvSpPr>
            <a:spLocks noGrp="1"/>
          </p:cNvSpPr>
          <p:nvPr>
            <p:ph type="sldNum" sz="quarter" idx="5"/>
          </p:nvPr>
        </p:nvSpPr>
        <p:spPr/>
        <p:txBody>
          <a:bodyPr/>
          <a:lstStyle/>
          <a:p>
            <a:fld id="{B3F43537-14D9-9349-AA70-B1088F1298F1}" type="slidenum">
              <a:rPr lang="en-US" smtClean="0"/>
              <a:t>6</a:t>
            </a:fld>
            <a:endParaRPr lang="en-US"/>
          </a:p>
        </p:txBody>
      </p:sp>
    </p:spTree>
    <p:extLst>
      <p:ext uri="{BB962C8B-B14F-4D97-AF65-F5344CB8AC3E}">
        <p14:creationId xmlns:p14="http://schemas.microsoft.com/office/powerpoint/2010/main" val="9747602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79AC3-393A-5A2D-1973-BF3DCE1FD7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C20D3D-0E43-090B-FAE3-D108BC0345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C87135-0BCC-C812-6A52-B3B04D5853C4}"/>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JUSTIN:</a:t>
            </a:r>
          </a:p>
          <a:p>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Before diving into the models, let me give you a feel for what this data actually looks like.</a:t>
            </a:r>
          </a:p>
          <a:p>
            <a:r>
              <a:rPr lang="en-US" sz="1200" b="0" i="0" kern="1200" dirty="0">
                <a:solidFill>
                  <a:schemeClr val="tx1"/>
                </a:solidFill>
                <a:effectLst/>
                <a:latin typeface="+mn-lt"/>
                <a:ea typeface="+mn-ea"/>
                <a:cs typeface="+mn-cs"/>
              </a:rPr>
              <a:t>In terms of composition: vehicles make up roughly 70% of the dataset, pedestrians around 25%, and cyclists about 5%. The Waymo self-driving car — the SDC — is excluded from all analysis. This class imbalance matters: it affects the anomaly distribution and how we interpret per-class statistics.</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[Point to correlation heatmap]</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heatmap here shows Pearson correlations across all kinematic features. The key finding: </a:t>
            </a:r>
            <a:r>
              <a:rPr lang="en-US" sz="1200" b="1" i="0" kern="1200" dirty="0">
                <a:solidFill>
                  <a:schemeClr val="tx1"/>
                </a:solidFill>
                <a:effectLst/>
                <a:latin typeface="+mn-lt"/>
                <a:ea typeface="+mn-ea"/>
                <a:cs typeface="+mn-cs"/>
              </a:rPr>
              <a:t>yaw rate is essentially uncorrelated with everything else</a:t>
            </a:r>
            <a:r>
              <a:rPr lang="en-US" sz="1200" b="0" i="0" kern="1200" dirty="0">
                <a:solidFill>
                  <a:schemeClr val="tx1"/>
                </a:solidFill>
                <a:effectLst/>
                <a:latin typeface="+mn-lt"/>
                <a:ea typeface="+mn-ea"/>
                <a:cs typeface="+mn-cs"/>
              </a:rPr>
              <a:t> — |r| ≤ 0.09 across the board. Length and width are nearly redundant at r ≈ 0.97. Speed and length share a weak positive relationship.</a:t>
            </a:r>
          </a:p>
          <a:p>
            <a:r>
              <a:rPr lang="en-US" sz="1200" b="0" i="0" kern="1200" dirty="0">
                <a:solidFill>
                  <a:schemeClr val="tx1"/>
                </a:solidFill>
                <a:effectLst/>
                <a:latin typeface="+mn-lt"/>
                <a:ea typeface="+mn-ea"/>
                <a:cs typeface="+mn-cs"/>
              </a:rPr>
              <a:t>This independence of yaw rate is not a nuisance — it's exactly what makes it a strong discriminating feature for anomaly detection. It carries information no other variable does. You'll see why that matters in the next slide.</a:t>
            </a:r>
          </a:p>
          <a:p>
            <a:r>
              <a:rPr lang="en-US" sz="1200" b="0" i="0" kern="1200" dirty="0">
                <a:solidFill>
                  <a:schemeClr val="tx1"/>
                </a:solidFill>
                <a:effectLst/>
                <a:latin typeface="+mn-lt"/>
                <a:ea typeface="+mn-ea"/>
                <a:cs typeface="+mn-cs"/>
              </a:rPr>
              <a:t>One last note on Waymo's behavioral flags: </a:t>
            </a:r>
            <a:r>
              <a:rPr lang="en-US" sz="1200" b="0" i="0" kern="1200" dirty="0" err="1">
                <a:solidFill>
                  <a:schemeClr val="tx1"/>
                </a:solidFill>
                <a:effectLst/>
                <a:latin typeface="+mn-lt"/>
                <a:ea typeface="+mn-ea"/>
                <a:cs typeface="+mn-cs"/>
              </a:rPr>
              <a:t>IsInteractive</a:t>
            </a:r>
            <a:r>
              <a:rPr lang="en-US" sz="1200" b="0" i="0" kern="1200" dirty="0">
                <a:solidFill>
                  <a:schemeClr val="tx1"/>
                </a:solidFill>
                <a:effectLst/>
                <a:latin typeface="+mn-lt"/>
                <a:ea typeface="+mn-ea"/>
                <a:cs typeface="+mn-cs"/>
              </a:rPr>
              <a:t> marks agents relevant to the AV's immediate planning — nearby vehicles at intersections. It is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a safety-incident label. That distinction will matter when we look at the results.</a:t>
            </a:r>
          </a:p>
          <a:p>
            <a:endParaRPr lang="en-US" sz="1200" b="0"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167D6A2-A29A-65B1-E032-EB76B41CF4BD}"/>
              </a:ext>
            </a:extLst>
          </p:cNvPr>
          <p:cNvSpPr>
            <a:spLocks noGrp="1"/>
          </p:cNvSpPr>
          <p:nvPr>
            <p:ph type="sldNum" sz="quarter" idx="5"/>
          </p:nvPr>
        </p:nvSpPr>
        <p:spPr/>
        <p:txBody>
          <a:bodyPr/>
          <a:lstStyle/>
          <a:p>
            <a:fld id="{B3F43537-14D9-9349-AA70-B1088F1298F1}" type="slidenum">
              <a:rPr lang="en-US" smtClean="0"/>
              <a:t>7</a:t>
            </a:fld>
            <a:endParaRPr lang="en-US"/>
          </a:p>
        </p:txBody>
      </p:sp>
    </p:spTree>
    <p:extLst>
      <p:ext uri="{BB962C8B-B14F-4D97-AF65-F5344CB8AC3E}">
        <p14:creationId xmlns:p14="http://schemas.microsoft.com/office/powerpoint/2010/main" val="13366317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09FF3-0E1E-B595-DAB1-1FA74AC77A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3A3788-FE25-11BE-4F0E-38D803CBA1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E121FB-12F1-FD40-7BB7-77FE142C8838}"/>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JUSTIN:</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[Point to speed distribution histogram]</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Here's the speed distribution across all three agent types. One thing stands out immediately: vehicles appear </a:t>
            </a:r>
            <a:r>
              <a:rPr lang="en-US" sz="1200" b="0" i="1" kern="1200" dirty="0">
                <a:solidFill>
                  <a:schemeClr val="tx1"/>
                </a:solidFill>
                <a:effectLst/>
                <a:latin typeface="+mn-lt"/>
                <a:ea typeface="+mn-ea"/>
                <a:cs typeface="+mn-cs"/>
              </a:rPr>
              <a:t>slower</a:t>
            </a:r>
            <a:r>
              <a:rPr lang="en-US" sz="1200" b="0" i="0" kern="1200" dirty="0">
                <a:solidFill>
                  <a:schemeClr val="tx1"/>
                </a:solidFill>
                <a:effectLst/>
                <a:latin typeface="+mn-lt"/>
                <a:ea typeface="+mn-ea"/>
                <a:cs typeface="+mn-cs"/>
              </a:rPr>
              <a:t> than cyclists in the raw data — which seems wrong. It's entirely because a large fraction of vehicles are stopped at intersections. Once you filter to moving agents only, the expected ordering snaps back: vehicles fastest, then cyclists, then pedestrians. That's an important preprocessing consideration we carry into both models. </a:t>
            </a:r>
          </a:p>
          <a:p>
            <a:endParaRPr lang="en-US"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DC55008-2FD4-A8DF-2215-50EE4970E143}"/>
              </a:ext>
            </a:extLst>
          </p:cNvPr>
          <p:cNvSpPr>
            <a:spLocks noGrp="1"/>
          </p:cNvSpPr>
          <p:nvPr>
            <p:ph type="sldNum" sz="quarter" idx="5"/>
          </p:nvPr>
        </p:nvSpPr>
        <p:spPr/>
        <p:txBody>
          <a:bodyPr/>
          <a:lstStyle/>
          <a:p>
            <a:fld id="{B3F43537-14D9-9349-AA70-B1088F1298F1}" type="slidenum">
              <a:rPr lang="en-US" smtClean="0"/>
              <a:t>8</a:t>
            </a:fld>
            <a:endParaRPr lang="en-US"/>
          </a:p>
        </p:txBody>
      </p:sp>
    </p:spTree>
    <p:extLst>
      <p:ext uri="{BB962C8B-B14F-4D97-AF65-F5344CB8AC3E}">
        <p14:creationId xmlns:p14="http://schemas.microsoft.com/office/powerpoint/2010/main" val="20278057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6F447-6712-10CC-B836-ECC08ADB1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B7EA59-FF18-6101-C3B9-A9E808FEE4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2F3CF9-8F06-1FBD-581A-29A668F3B3D2}"/>
              </a:ext>
            </a:extLst>
          </p:cNvPr>
          <p:cNvSpPr>
            <a:spLocks noGrp="1"/>
          </p:cNvSpPr>
          <p:nvPr>
            <p:ph type="body" idx="1"/>
          </p:nvPr>
        </p:nvSpPr>
        <p:spPr/>
        <p:txBody>
          <a:bodyPr/>
          <a:lstStyle/>
          <a:p>
            <a:r>
              <a:rPr lang="en-US" b="1" dirty="0"/>
              <a:t>JUSTIN: </a:t>
            </a:r>
          </a:p>
          <a:p>
            <a:endParaRPr lang="en-US" b="0" dirty="0"/>
          </a:p>
          <a:p>
            <a:r>
              <a:rPr lang="en-US" b="0" dirty="0"/>
              <a:t>These results gave us some confidence in the intuition behind our starting data (vehicles moving faster than pedestrians) </a:t>
            </a:r>
          </a:p>
        </p:txBody>
      </p:sp>
      <p:sp>
        <p:nvSpPr>
          <p:cNvPr id="4" name="Slide Number Placeholder 3">
            <a:extLst>
              <a:ext uri="{FF2B5EF4-FFF2-40B4-BE49-F238E27FC236}">
                <a16:creationId xmlns:a16="http://schemas.microsoft.com/office/drawing/2014/main" id="{83AF3720-730E-9476-95AA-C800296916AA}"/>
              </a:ext>
            </a:extLst>
          </p:cNvPr>
          <p:cNvSpPr>
            <a:spLocks noGrp="1"/>
          </p:cNvSpPr>
          <p:nvPr>
            <p:ph type="sldNum" sz="quarter" idx="5"/>
          </p:nvPr>
        </p:nvSpPr>
        <p:spPr/>
        <p:txBody>
          <a:bodyPr/>
          <a:lstStyle/>
          <a:p>
            <a:fld id="{B3F43537-14D9-9349-AA70-B1088F1298F1}" type="slidenum">
              <a:rPr lang="en-US" smtClean="0"/>
              <a:t>9</a:t>
            </a:fld>
            <a:endParaRPr lang="en-US"/>
          </a:p>
        </p:txBody>
      </p:sp>
    </p:spTree>
    <p:extLst>
      <p:ext uri="{BB962C8B-B14F-4D97-AF65-F5344CB8AC3E}">
        <p14:creationId xmlns:p14="http://schemas.microsoft.com/office/powerpoint/2010/main" val="13706366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0AF17-5D57-3135-9694-BFFB1173D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63BDF3-386D-9B62-67DF-8145C047C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FB4307-CB10-3FBC-C4E0-5EBECD168CAD}"/>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RAMSES:</a:t>
            </a:r>
            <a:br>
              <a:rPr lang="en-US" sz="1200" b="1" i="0" kern="1200" dirty="0">
                <a:solidFill>
                  <a:schemeClr val="tx1"/>
                </a:solidFill>
                <a:effectLst/>
                <a:latin typeface="+mn-lt"/>
                <a:ea typeface="+mn-ea"/>
                <a:cs typeface="+mn-cs"/>
              </a:rPr>
            </a:br>
            <a:br>
              <a:rPr lang="en-US" sz="1200" b="1"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Our anomaly detection pipeline has two layers — and as Justin just showed, the choice of yaw rate as a key feature comes directly from that correlation analysis.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FEE4EBB-B245-C7B5-5352-0464414B2A76}"/>
              </a:ext>
            </a:extLst>
          </p:cNvPr>
          <p:cNvSpPr>
            <a:spLocks noGrp="1"/>
          </p:cNvSpPr>
          <p:nvPr>
            <p:ph type="sldNum" sz="quarter" idx="5"/>
          </p:nvPr>
        </p:nvSpPr>
        <p:spPr/>
        <p:txBody>
          <a:bodyPr/>
          <a:lstStyle/>
          <a:p>
            <a:fld id="{B3F43537-14D9-9349-AA70-B1088F1298F1}" type="slidenum">
              <a:rPr lang="en-US" smtClean="0"/>
              <a:t>10</a:t>
            </a:fld>
            <a:endParaRPr lang="en-US"/>
          </a:p>
        </p:txBody>
      </p:sp>
    </p:spTree>
    <p:extLst>
      <p:ext uri="{BB962C8B-B14F-4D97-AF65-F5344CB8AC3E}">
        <p14:creationId xmlns:p14="http://schemas.microsoft.com/office/powerpoint/2010/main" val="33229722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BEA3E-06DB-7D22-39C5-B99A1C2050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F8906C-208B-2B45-49E4-6E74B7AFCA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7EAD65-BBAB-152F-B1EA-F4449C084236}"/>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RAMSES:</a:t>
            </a:r>
            <a:br>
              <a:rPr lang="en-US" sz="1200" b="1" i="0" kern="1200" dirty="0">
                <a:solidFill>
                  <a:schemeClr val="tx1"/>
                </a:solidFill>
                <a:effectLst/>
                <a:latin typeface="+mn-lt"/>
                <a:ea typeface="+mn-ea"/>
                <a:cs typeface="+mn-cs"/>
              </a:rPr>
            </a:br>
            <a:br>
              <a:rPr lang="en-US" sz="1200" b="1"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Layer 1: Isolation Forest.</a:t>
            </a:r>
            <a:r>
              <a:rPr lang="en-US" sz="1200" b="0" i="0" kern="1200" dirty="0">
                <a:solidFill>
                  <a:schemeClr val="tx1"/>
                </a:solidFill>
                <a:effectLst/>
                <a:latin typeface="+mn-lt"/>
                <a:ea typeface="+mn-ea"/>
                <a:cs typeface="+mn-cs"/>
              </a:rPr>
              <a:t> We fit 100 trees on Speed, Acceleration, and </a:t>
            </a:r>
            <a:r>
              <a:rPr lang="en-US" sz="1200" b="0" i="0" kern="1200" dirty="0" err="1">
                <a:solidFill>
                  <a:schemeClr val="tx1"/>
                </a:solidFill>
                <a:effectLst/>
                <a:latin typeface="+mn-lt"/>
                <a:ea typeface="+mn-ea"/>
                <a:cs typeface="+mn-cs"/>
              </a:rPr>
              <a:t>YawRate</a:t>
            </a:r>
            <a:r>
              <a:rPr lang="en-US" sz="1200" b="0" i="0" kern="1200" dirty="0">
                <a:solidFill>
                  <a:schemeClr val="tx1"/>
                </a:solidFill>
                <a:effectLst/>
                <a:latin typeface="+mn-lt"/>
                <a:ea typeface="+mn-ea"/>
                <a:cs typeface="+mn-cs"/>
              </a:rPr>
              <a:t>. Each agent receives an anomaly score between 0 and 1. We threshold at the 99th percentile — flagging </a:t>
            </a:r>
            <a:r>
              <a:rPr lang="en-US" sz="1200" b="1" i="0" kern="1200" dirty="0">
                <a:solidFill>
                  <a:schemeClr val="tx1"/>
                </a:solidFill>
                <a:effectLst/>
                <a:latin typeface="+mn-lt"/>
                <a:ea typeface="+mn-ea"/>
                <a:cs typeface="+mn-cs"/>
              </a:rPr>
              <a:t>46 agents</a:t>
            </a:r>
            <a:r>
              <a:rPr lang="en-US" sz="1200" b="0" i="0" kern="1200" dirty="0">
                <a:solidFill>
                  <a:schemeClr val="tx1"/>
                </a:solidFill>
                <a:effectLst/>
                <a:latin typeface="+mn-lt"/>
                <a:ea typeface="+mn-ea"/>
                <a:cs typeface="+mn-cs"/>
              </a:rPr>
              <a:t> out of 4,538 as anomalous.</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Layer 2: Statistical Validation.</a:t>
            </a:r>
            <a:r>
              <a:rPr lang="en-US" sz="1200" b="0" i="0" kern="1200" dirty="0">
                <a:solidFill>
                  <a:schemeClr val="tx1"/>
                </a:solidFill>
                <a:effectLst/>
                <a:latin typeface="+mn-lt"/>
                <a:ea typeface="+mn-ea"/>
                <a:cs typeface="+mn-cs"/>
              </a:rPr>
              <a:t> We build a contingency table of agent type versus anomaly status and run </a:t>
            </a:r>
            <a:r>
              <a:rPr lang="en-US" sz="1200" b="1" i="0" kern="1200" dirty="0">
                <a:solidFill>
                  <a:schemeClr val="tx1"/>
                </a:solidFill>
                <a:effectLst/>
                <a:latin typeface="+mn-lt"/>
                <a:ea typeface="+mn-ea"/>
                <a:cs typeface="+mn-cs"/>
              </a:rPr>
              <a:t>Fisher's Exact Test</a:t>
            </a:r>
            <a:r>
              <a:rPr lang="en-US" sz="1200" b="0" i="0" kern="1200" dirty="0">
                <a:solidFill>
                  <a:schemeClr val="tx1"/>
                </a:solidFill>
                <a:effectLst/>
                <a:latin typeface="+mn-lt"/>
                <a:ea typeface="+mn-ea"/>
                <a:cs typeface="+mn-cs"/>
              </a:rPr>
              <a:t> with Monte Carlo simulation. Result: </a:t>
            </a:r>
            <a:r>
              <a:rPr lang="en-US" sz="1200" b="1" i="0" kern="1200" dirty="0">
                <a:solidFill>
                  <a:schemeClr val="tx1"/>
                </a:solidFill>
                <a:effectLst/>
                <a:latin typeface="+mn-lt"/>
                <a:ea typeface="+mn-ea"/>
                <a:cs typeface="+mn-cs"/>
              </a:rPr>
              <a:t>p = 0.0005</a:t>
            </a:r>
            <a:r>
              <a:rPr lang="en-US" sz="1200" b="0" i="0" kern="1200" dirty="0">
                <a:solidFill>
                  <a:schemeClr val="tx1"/>
                </a:solidFill>
                <a:effectLst/>
                <a:latin typeface="+mn-lt"/>
                <a:ea typeface="+mn-ea"/>
                <a:cs typeface="+mn-cs"/>
              </a:rPr>
              <a:t>. The anomalies are not uniformly distributed — certain agent types are disproportionately flagged. That's signal, not noise.</a:t>
            </a:r>
          </a:p>
          <a:p>
            <a:endParaRPr lang="en-US"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2C363D12-FD3B-A151-A3F6-8EB192E32BFD}"/>
              </a:ext>
            </a:extLst>
          </p:cNvPr>
          <p:cNvSpPr>
            <a:spLocks noGrp="1"/>
          </p:cNvSpPr>
          <p:nvPr>
            <p:ph type="sldNum" sz="quarter" idx="5"/>
          </p:nvPr>
        </p:nvSpPr>
        <p:spPr/>
        <p:txBody>
          <a:bodyPr/>
          <a:lstStyle/>
          <a:p>
            <a:fld id="{B3F43537-14D9-9349-AA70-B1088F1298F1}" type="slidenum">
              <a:rPr lang="en-US" smtClean="0"/>
              <a:t>11</a:t>
            </a:fld>
            <a:endParaRPr lang="en-US"/>
          </a:p>
        </p:txBody>
      </p:sp>
    </p:spTree>
    <p:extLst>
      <p:ext uri="{BB962C8B-B14F-4D97-AF65-F5344CB8AC3E}">
        <p14:creationId xmlns:p14="http://schemas.microsoft.com/office/powerpoint/2010/main" val="2933257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29456-C286-4321-7859-378BCA9E0C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D96865-A89D-917A-A07B-28DF55B8A5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237BE1-4981-EB9C-876B-086A2D65DF0D}"/>
              </a:ext>
            </a:extLst>
          </p:cNvPr>
          <p:cNvSpPr>
            <a:spLocks noGrp="1"/>
          </p:cNvSpPr>
          <p:nvPr>
            <p:ph type="body" idx="1"/>
          </p:nvPr>
        </p:nvSpPr>
        <p:spPr/>
        <p:txBody>
          <a:bodyPr/>
          <a:lstStyle/>
          <a:p>
            <a:r>
              <a:rPr lang="en-US" b="1" dirty="0"/>
              <a:t>JUSTIN:</a:t>
            </a:r>
            <a:br>
              <a:rPr lang="en-US" dirty="0"/>
            </a:br>
            <a:br>
              <a:rPr lang="en-US" dirty="0"/>
            </a:br>
            <a:r>
              <a:rPr lang="en-US" sz="1200" b="0" i="0" kern="1200" dirty="0">
                <a:solidFill>
                  <a:schemeClr val="tx1"/>
                </a:solidFill>
                <a:effectLst/>
                <a:latin typeface="+mn-lt"/>
                <a:ea typeface="+mn-ea"/>
                <a:cs typeface="+mn-cs"/>
              </a:rPr>
              <a:t>For motion forecasting we use a linear regression model predicting </a:t>
            </a:r>
            <a:r>
              <a:rPr lang="en-US" sz="1200" b="1" i="0" kern="1200" dirty="0">
                <a:solidFill>
                  <a:schemeClr val="tx1"/>
                </a:solidFill>
                <a:effectLst/>
                <a:latin typeface="+mn-lt"/>
                <a:ea typeface="+mn-ea"/>
                <a:cs typeface="+mn-cs"/>
              </a:rPr>
              <a:t>5-second future displacement</a:t>
            </a:r>
            <a:r>
              <a:rPr lang="en-US" sz="1200" b="0" i="0" kern="1200" dirty="0">
                <a:solidFill>
                  <a:schemeClr val="tx1"/>
                </a:solidFill>
                <a:effectLst/>
                <a:latin typeface="+mn-lt"/>
                <a:ea typeface="+mn-ea"/>
                <a:cs typeface="+mn-cs"/>
              </a:rPr>
              <a:t> from the full kinematic state: speed, acceleration, yaw rate, and the signed velocity components Vx and Vy.</a:t>
            </a:r>
          </a:p>
          <a:p>
            <a:r>
              <a:rPr lang="en-US" sz="1200" b="0" i="0" kern="1200" dirty="0">
                <a:solidFill>
                  <a:schemeClr val="tx1"/>
                </a:solidFill>
                <a:effectLst/>
                <a:latin typeface="+mn-lt"/>
                <a:ea typeface="+mn-ea"/>
                <a:cs typeface="+mn-cs"/>
              </a:rPr>
              <a:t>We evaluate under </a:t>
            </a:r>
            <a:r>
              <a:rPr lang="en-US" sz="1200" b="1" i="0" kern="1200" dirty="0">
                <a:solidFill>
                  <a:schemeClr val="tx1"/>
                </a:solidFill>
                <a:effectLst/>
                <a:latin typeface="+mn-lt"/>
                <a:ea typeface="+mn-ea"/>
                <a:cs typeface="+mn-cs"/>
              </a:rPr>
              <a:t>two conditions</a:t>
            </a:r>
            <a:r>
              <a:rPr lang="en-US" sz="1200" b="0" i="0" kern="1200" dirty="0">
                <a:solidFill>
                  <a:schemeClr val="tx1"/>
                </a:solidFill>
                <a:effectLst/>
                <a:latin typeface="+mn-lt"/>
                <a:ea typeface="+mn-ea"/>
                <a:cs typeface="+mn-cs"/>
              </a:rPr>
              <a:t> — intentionally. </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Condition A includes all agents: moving and stationary.</a:t>
            </a:r>
          </a:p>
          <a:p>
            <a:r>
              <a:rPr lang="en-US" sz="1200" b="1" i="0" kern="1200" dirty="0">
                <a:solidFill>
                  <a:schemeClr val="tx1"/>
                </a:solidFill>
                <a:effectLst/>
                <a:latin typeface="+mn-lt"/>
                <a:ea typeface="+mn-ea"/>
                <a:cs typeface="+mn-cs"/>
              </a:rPr>
              <a:t>Condition B restricts to moving agents only, giving us 3,196 observations.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Stationary agents have near-zero displacement — trivially easy to predict and likely to inflate R-squared. The two-condition design lets us directly measure that inflation.</a:t>
            </a:r>
          </a:p>
          <a:p>
            <a:r>
              <a:rPr lang="en-US" sz="1200" b="0" i="0" kern="1200" dirty="0">
                <a:solidFill>
                  <a:schemeClr val="tx1"/>
                </a:solidFill>
                <a:effectLst/>
                <a:latin typeface="+mn-lt"/>
                <a:ea typeface="+mn-ea"/>
                <a:cs typeface="+mn-cs"/>
              </a:rPr>
              <a:t>Both models were trained with 5-fold cross-validation and evaluated on a held-out 20% test set.</a:t>
            </a:r>
          </a:p>
          <a:p>
            <a:endParaRPr lang="en-US" dirty="0"/>
          </a:p>
        </p:txBody>
      </p:sp>
      <p:sp>
        <p:nvSpPr>
          <p:cNvPr id="4" name="Slide Number Placeholder 3">
            <a:extLst>
              <a:ext uri="{FF2B5EF4-FFF2-40B4-BE49-F238E27FC236}">
                <a16:creationId xmlns:a16="http://schemas.microsoft.com/office/drawing/2014/main" id="{82EF3F42-363B-0EC8-0F83-79FA967945F2}"/>
              </a:ext>
            </a:extLst>
          </p:cNvPr>
          <p:cNvSpPr>
            <a:spLocks noGrp="1"/>
          </p:cNvSpPr>
          <p:nvPr>
            <p:ph type="sldNum" sz="quarter" idx="5"/>
          </p:nvPr>
        </p:nvSpPr>
        <p:spPr/>
        <p:txBody>
          <a:bodyPr/>
          <a:lstStyle/>
          <a:p>
            <a:fld id="{B3F43537-14D9-9349-AA70-B1088F1298F1}" type="slidenum">
              <a:rPr lang="en-US" smtClean="0"/>
              <a:t>12</a:t>
            </a:fld>
            <a:endParaRPr lang="en-US"/>
          </a:p>
        </p:txBody>
      </p:sp>
    </p:spTree>
    <p:extLst>
      <p:ext uri="{BB962C8B-B14F-4D97-AF65-F5344CB8AC3E}">
        <p14:creationId xmlns:p14="http://schemas.microsoft.com/office/powerpoint/2010/main" val="24275237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DA0FC-3281-EB3A-478E-D06180E75B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2C9DB-DF2A-1CB4-01F0-5AEB4292F2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ED56F8-CC48-9461-9FD6-1583F9141FB3}"/>
              </a:ext>
            </a:extLst>
          </p:cNvPr>
          <p:cNvSpPr>
            <a:spLocks noGrp="1"/>
          </p:cNvSpPr>
          <p:nvPr>
            <p:ph type="body" idx="1"/>
          </p:nvPr>
        </p:nvSpPr>
        <p:spPr/>
        <p:txBody>
          <a:bodyPr/>
          <a:lstStyle/>
          <a:p>
            <a:r>
              <a:rPr lang="en-US" b="1" dirty="0"/>
              <a:t>JUSTIN:</a:t>
            </a:r>
            <a:br>
              <a:rPr lang="en-US" b="1" dirty="0"/>
            </a:br>
            <a:endParaRPr lang="en-US" b="1" dirty="0"/>
          </a:p>
          <a:p>
            <a:r>
              <a:rPr lang="en-US" b="1" dirty="0"/>
              <a:t>Lets look at a couple scenarios.  </a:t>
            </a:r>
          </a:p>
          <a:p>
            <a:endParaRPr lang="en-US" b="1" dirty="0"/>
          </a:p>
          <a:p>
            <a:r>
              <a:rPr lang="en-US" b="1" dirty="0"/>
              <a:t>The 1% </a:t>
            </a:r>
            <a:r>
              <a:rPr lang="en-US" b="1" dirty="0" err="1"/>
              <a:t>Anomlous</a:t>
            </a:r>
            <a:r>
              <a:rPr lang="en-US" b="1" dirty="0"/>
              <a:t> events identified 46 </a:t>
            </a:r>
            <a:r>
              <a:rPr lang="en-US" b="1" dirty="0" err="1"/>
              <a:t>anomolyous</a:t>
            </a:r>
            <a:r>
              <a:rPr lang="en-US" b="1" dirty="0"/>
              <a:t> agents, over about 22 scenarios. When running the actual scenarios, identifying the anomaly as a red dot, we see that most of the </a:t>
            </a:r>
            <a:r>
              <a:rPr lang="en-US" b="1" dirty="0" err="1"/>
              <a:t>insances</a:t>
            </a:r>
            <a:r>
              <a:rPr lang="en-US" b="1" dirty="0"/>
              <a:t> appear as the sensor artifact does. We propose that the </a:t>
            </a:r>
            <a:r>
              <a:rPr lang="en-US" b="1" dirty="0" err="1"/>
              <a:t>anomolyous</a:t>
            </a:r>
            <a:r>
              <a:rPr lang="en-US" b="1" dirty="0"/>
              <a:t> events identified are machine defaults that do not necessarily capture </a:t>
            </a:r>
            <a:r>
              <a:rPr lang="en-US" b="1" dirty="0" err="1"/>
              <a:t>geniuine</a:t>
            </a:r>
            <a:r>
              <a:rPr lang="en-US" b="1" dirty="0"/>
              <a:t> vehicle safety cases, but it captures a significant instance – a sensor artifact when measuring the environment.</a:t>
            </a:r>
          </a:p>
          <a:p>
            <a:br>
              <a:rPr lang="en-US" b="1" dirty="0"/>
            </a:br>
            <a:r>
              <a:rPr lang="en-US" sz="1200" b="0" i="0" kern="1200" dirty="0">
                <a:solidFill>
                  <a:schemeClr val="tx1"/>
                </a:solidFill>
                <a:effectLst/>
                <a:latin typeface="+mn-lt"/>
                <a:ea typeface="+mn-ea"/>
                <a:cs typeface="+mn-cs"/>
              </a:rPr>
              <a:t>There's one more detail worth highlighting: </a:t>
            </a:r>
            <a:r>
              <a:rPr lang="en-US" sz="1200" b="1" i="0" kern="1200" dirty="0">
                <a:solidFill>
                  <a:schemeClr val="tx1"/>
                </a:solidFill>
                <a:effectLst/>
                <a:latin typeface="+mn-lt"/>
                <a:ea typeface="+mn-ea"/>
                <a:cs typeface="+mn-cs"/>
              </a:rPr>
              <a:t>none of the top anomalies carry an </a:t>
            </a:r>
            <a:r>
              <a:rPr lang="en-US" sz="1200" b="1" i="0" kern="1200" dirty="0" err="1">
                <a:solidFill>
                  <a:schemeClr val="tx1"/>
                </a:solidFill>
                <a:effectLst/>
                <a:latin typeface="+mn-lt"/>
                <a:ea typeface="+mn-ea"/>
                <a:cs typeface="+mn-cs"/>
              </a:rPr>
              <a:t>IsInteractive</a:t>
            </a:r>
            <a:r>
              <a:rPr lang="en-US" sz="1200" b="1" i="0" kern="1200" dirty="0">
                <a:solidFill>
                  <a:schemeClr val="tx1"/>
                </a:solidFill>
                <a:effectLst/>
                <a:latin typeface="+mn-lt"/>
                <a:ea typeface="+mn-ea"/>
                <a:cs typeface="+mn-cs"/>
              </a:rPr>
              <a:t> flag from Waymo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IsInteractive</a:t>
            </a:r>
            <a:r>
              <a:rPr lang="en-US" sz="1200" b="0" i="0" kern="1200" dirty="0">
                <a:solidFill>
                  <a:schemeClr val="tx1"/>
                </a:solidFill>
                <a:effectLst/>
                <a:latin typeface="+mn-lt"/>
                <a:ea typeface="+mn-ea"/>
                <a:cs typeface="+mn-cs"/>
              </a:rPr>
              <a:t> marks agents that are safety-relevant to the AV's immediate planning. Our most extreme kinematic outliers — the 180 km/h vehicle, the ±31 rad/s artifacts — were not flagged by Waymo as planning-relevant. We'll come back to what that means in discussion, but it's an important caveat to carry into the results.</a:t>
            </a:r>
          </a:p>
        </p:txBody>
      </p:sp>
      <p:sp>
        <p:nvSpPr>
          <p:cNvPr id="4" name="Slide Number Placeholder 3">
            <a:extLst>
              <a:ext uri="{FF2B5EF4-FFF2-40B4-BE49-F238E27FC236}">
                <a16:creationId xmlns:a16="http://schemas.microsoft.com/office/drawing/2014/main" id="{C8F029A8-55BD-C087-AA15-7B586F513BDA}"/>
              </a:ext>
            </a:extLst>
          </p:cNvPr>
          <p:cNvSpPr>
            <a:spLocks noGrp="1"/>
          </p:cNvSpPr>
          <p:nvPr>
            <p:ph type="sldNum" sz="quarter" idx="5"/>
          </p:nvPr>
        </p:nvSpPr>
        <p:spPr/>
        <p:txBody>
          <a:bodyPr/>
          <a:lstStyle/>
          <a:p>
            <a:fld id="{B3F43537-14D9-9349-AA70-B1088F1298F1}" type="slidenum">
              <a:rPr lang="en-US" smtClean="0"/>
              <a:t>13</a:t>
            </a:fld>
            <a:endParaRPr lang="en-US"/>
          </a:p>
        </p:txBody>
      </p:sp>
    </p:spTree>
    <p:extLst>
      <p:ext uri="{BB962C8B-B14F-4D97-AF65-F5344CB8AC3E}">
        <p14:creationId xmlns:p14="http://schemas.microsoft.com/office/powerpoint/2010/main" val="4551869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0974E-7575-A76B-8A9B-8D5F9228FC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482245-A6C3-FFCE-6DE5-F2A8BEFA5F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53F5C7-CDE7-D571-7B51-2A786C35585C}"/>
              </a:ext>
            </a:extLst>
          </p:cNvPr>
          <p:cNvSpPr>
            <a:spLocks noGrp="1"/>
          </p:cNvSpPr>
          <p:nvPr>
            <p:ph type="body" idx="1"/>
          </p:nvPr>
        </p:nvSpPr>
        <p:spPr/>
        <p:txBody>
          <a:bodyPr/>
          <a:lstStyle/>
          <a:p>
            <a:r>
              <a:rPr lang="en-US" b="1" dirty="0"/>
              <a:t>PAVEL:</a:t>
            </a:r>
          </a:p>
          <a:p>
            <a:endParaRPr lang="en-US" dirty="0"/>
          </a:p>
          <a:p>
            <a:r>
              <a:rPr lang="en-US" sz="1200" b="0" i="0" kern="1200" dirty="0">
                <a:solidFill>
                  <a:schemeClr val="tx1"/>
                </a:solidFill>
                <a:effectLst/>
                <a:latin typeface="+mn-lt"/>
                <a:ea typeface="+mn-ea"/>
                <a:cs typeface="+mn-cs"/>
              </a:rPr>
              <a:t>For motion prediction: with stationary agents included, test RMSE </a:t>
            </a:r>
            <a:r>
              <a:rPr lang="en-US" sz="1200" b="1" i="0" kern="1200" dirty="0">
                <a:solidFill>
                  <a:schemeClr val="tx1"/>
                </a:solidFill>
                <a:effectLst/>
                <a:latin typeface="+mn-lt"/>
                <a:ea typeface="+mn-ea"/>
                <a:cs typeface="+mn-cs"/>
              </a:rPr>
              <a:t>7.44 meters</a:t>
            </a:r>
            <a:r>
              <a:rPr lang="en-US" sz="1200" b="0" i="0" kern="1200" dirty="0">
                <a:solidFill>
                  <a:schemeClr val="tx1"/>
                </a:solidFill>
                <a:effectLst/>
                <a:latin typeface="+mn-lt"/>
                <a:ea typeface="+mn-ea"/>
                <a:cs typeface="+mn-cs"/>
              </a:rPr>
              <a:t>, R-squared </a:t>
            </a:r>
            <a:r>
              <a:rPr lang="en-US" sz="1200" b="1" i="0" kern="1200" dirty="0">
                <a:solidFill>
                  <a:schemeClr val="tx1"/>
                </a:solidFill>
                <a:effectLst/>
                <a:latin typeface="+mn-lt"/>
                <a:ea typeface="+mn-ea"/>
                <a:cs typeface="+mn-cs"/>
              </a:rPr>
              <a:t>0.880</a:t>
            </a:r>
            <a:r>
              <a:rPr lang="en-US" sz="1200" b="0" i="0" kern="1200" dirty="0">
                <a:solidFill>
                  <a:schemeClr val="tx1"/>
                </a:solidFill>
                <a:effectLst/>
                <a:latin typeface="+mn-lt"/>
                <a:ea typeface="+mn-ea"/>
                <a:cs typeface="+mn-cs"/>
              </a:rPr>
              <a:t>. Remove stationary agents and RMSE jumps to </a:t>
            </a:r>
            <a:r>
              <a:rPr lang="en-US" sz="1200" b="1" i="0" kern="1200" dirty="0">
                <a:solidFill>
                  <a:schemeClr val="tx1"/>
                </a:solidFill>
                <a:effectLst/>
                <a:latin typeface="+mn-lt"/>
                <a:ea typeface="+mn-ea"/>
                <a:cs typeface="+mn-cs"/>
              </a:rPr>
              <a:t>13.15 meters</a:t>
            </a:r>
            <a:r>
              <a:rPr lang="en-US" sz="1200" b="0" i="0" kern="1200" dirty="0">
                <a:solidFill>
                  <a:schemeClr val="tx1"/>
                </a:solidFill>
                <a:effectLst/>
                <a:latin typeface="+mn-lt"/>
                <a:ea typeface="+mn-ea"/>
                <a:cs typeface="+mn-cs"/>
              </a:rPr>
              <a:t>, R-squared drops to </a:t>
            </a:r>
            <a:r>
              <a:rPr lang="en-US" sz="1200" b="1" i="0" kern="1200" dirty="0">
                <a:solidFill>
                  <a:schemeClr val="tx1"/>
                </a:solidFill>
                <a:effectLst/>
                <a:latin typeface="+mn-lt"/>
                <a:ea typeface="+mn-ea"/>
                <a:cs typeface="+mn-cs"/>
              </a:rPr>
              <a:t>0.728</a:t>
            </a:r>
            <a:r>
              <a:rPr lang="en-US" sz="1200" b="0" i="0" kern="1200" dirty="0">
                <a:solidFill>
                  <a:schemeClr val="tx1"/>
                </a:solidFill>
                <a:effectLst/>
                <a:latin typeface="+mn-lt"/>
                <a:ea typeface="+mn-ea"/>
                <a:cs typeface="+mn-cs"/>
              </a:rPr>
              <a:t>. </a:t>
            </a:r>
          </a:p>
        </p:txBody>
      </p:sp>
      <p:sp>
        <p:nvSpPr>
          <p:cNvPr id="4" name="Slide Number Placeholder 3">
            <a:extLst>
              <a:ext uri="{FF2B5EF4-FFF2-40B4-BE49-F238E27FC236}">
                <a16:creationId xmlns:a16="http://schemas.microsoft.com/office/drawing/2014/main" id="{389F4370-24B7-A7F4-9539-CBBB55DED659}"/>
              </a:ext>
            </a:extLst>
          </p:cNvPr>
          <p:cNvSpPr>
            <a:spLocks noGrp="1"/>
          </p:cNvSpPr>
          <p:nvPr>
            <p:ph type="sldNum" sz="quarter" idx="5"/>
          </p:nvPr>
        </p:nvSpPr>
        <p:spPr/>
        <p:txBody>
          <a:bodyPr/>
          <a:lstStyle/>
          <a:p>
            <a:fld id="{B3F43537-14D9-9349-AA70-B1088F1298F1}" type="slidenum">
              <a:rPr lang="en-US" smtClean="0"/>
              <a:t>14</a:t>
            </a:fld>
            <a:endParaRPr lang="en-US"/>
          </a:p>
        </p:txBody>
      </p:sp>
    </p:spTree>
    <p:extLst>
      <p:ext uri="{BB962C8B-B14F-4D97-AF65-F5344CB8AC3E}">
        <p14:creationId xmlns:p14="http://schemas.microsoft.com/office/powerpoint/2010/main" val="38624934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8FE4A-1760-7115-BACB-4372B79D0E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8ED50E-37DE-FCA3-BAF5-A69F3D1152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A62302-14AC-B0F7-EBAF-5AD59807A2E1}"/>
              </a:ext>
            </a:extLst>
          </p:cNvPr>
          <p:cNvSpPr>
            <a:spLocks noGrp="1"/>
          </p:cNvSpPr>
          <p:nvPr>
            <p:ph type="body" idx="1"/>
          </p:nvPr>
        </p:nvSpPr>
        <p:spPr/>
        <p:txBody>
          <a:bodyPr/>
          <a:lstStyle/>
          <a:p>
            <a:r>
              <a:rPr lang="en-US" b="1" dirty="0"/>
              <a:t>JUSTIN:</a:t>
            </a:r>
          </a:p>
          <a:p>
            <a:endParaRPr lang="en-US" dirty="0"/>
          </a:p>
          <a:p>
            <a:r>
              <a:rPr lang="en-US" sz="1200" kern="1200" dirty="0">
                <a:solidFill>
                  <a:schemeClr val="tx1"/>
                </a:solidFill>
                <a:effectLst/>
                <a:latin typeface="+mn-lt"/>
                <a:ea typeface="+mn-ea"/>
                <a:cs typeface="+mn-cs"/>
              </a:rPr>
              <a:t>The standardized beta coefficients give us the feature importance for the regression — and the picture could not be clearer. Speed dominates with </a:t>
            </a:r>
            <a:r>
              <a:rPr lang="el-GR" sz="1200" kern="1200" dirty="0">
                <a:solidFill>
                  <a:schemeClr val="tx1"/>
                </a:solidFill>
                <a:effectLst/>
                <a:latin typeface="+mn-lt"/>
                <a:ea typeface="+mn-ea"/>
                <a:cs typeface="+mn-cs"/>
              </a:rPr>
              <a:t>β ≈ 0.95, </a:t>
            </a:r>
            <a:r>
              <a:rPr lang="en-US" sz="1200" kern="1200" dirty="0">
                <a:solidFill>
                  <a:schemeClr val="tx1"/>
                </a:solidFill>
                <a:effectLst/>
                <a:latin typeface="+mn-lt"/>
                <a:ea typeface="+mn-ea"/>
                <a:cs typeface="+mn-cs"/>
              </a:rPr>
              <a:t>essentially the entire predictive signal.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anomaly detection story is structurally different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Isolation Forest doesn't assign importance to individual features the way a regression does — it works by randomly selecting features and split values across 100 trees, mixing over Speed, Acceleration, and </a:t>
            </a:r>
            <a:r>
              <a:rPr lang="en-US" sz="1200" kern="1200" dirty="0" err="1">
                <a:solidFill>
                  <a:schemeClr val="tx1"/>
                </a:solidFill>
                <a:effectLst/>
                <a:latin typeface="+mn-lt"/>
                <a:ea typeface="+mn-ea"/>
                <a:cs typeface="+mn-cs"/>
              </a:rPr>
              <a:t>YawRate</a:t>
            </a:r>
            <a:r>
              <a:rPr lang="en-US" sz="1200" kern="1200" dirty="0">
                <a:solidFill>
                  <a:schemeClr val="tx1"/>
                </a:solidFill>
                <a:effectLst/>
                <a:latin typeface="+mn-lt"/>
                <a:ea typeface="+mn-ea"/>
                <a:cs typeface="+mn-cs"/>
              </a:rPr>
              <a:t> in different combinations every time.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It's the joint structure across the full kinematic space that determined what got isolated.</a:t>
            </a:r>
          </a:p>
          <a:p>
            <a:endParaRPr lang="en-US" dirty="0"/>
          </a:p>
        </p:txBody>
      </p:sp>
      <p:sp>
        <p:nvSpPr>
          <p:cNvPr id="4" name="Slide Number Placeholder 3">
            <a:extLst>
              <a:ext uri="{FF2B5EF4-FFF2-40B4-BE49-F238E27FC236}">
                <a16:creationId xmlns:a16="http://schemas.microsoft.com/office/drawing/2014/main" id="{7AD6E1A8-3590-CF91-2CD1-51BDC64FC77F}"/>
              </a:ext>
            </a:extLst>
          </p:cNvPr>
          <p:cNvSpPr>
            <a:spLocks noGrp="1"/>
          </p:cNvSpPr>
          <p:nvPr>
            <p:ph type="sldNum" sz="quarter" idx="5"/>
          </p:nvPr>
        </p:nvSpPr>
        <p:spPr/>
        <p:txBody>
          <a:bodyPr/>
          <a:lstStyle/>
          <a:p>
            <a:fld id="{B3F43537-14D9-9349-AA70-B1088F1298F1}" type="slidenum">
              <a:rPr lang="en-US" smtClean="0"/>
              <a:t>15</a:t>
            </a:fld>
            <a:endParaRPr lang="en-US"/>
          </a:p>
        </p:txBody>
      </p:sp>
    </p:spTree>
    <p:extLst>
      <p:ext uri="{BB962C8B-B14F-4D97-AF65-F5344CB8AC3E}">
        <p14:creationId xmlns:p14="http://schemas.microsoft.com/office/powerpoint/2010/main" val="2638547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07FC6-B445-F0AB-4976-5ACB26E6DD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ADE358-5E58-B511-0F9E-30A67414C0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239F3E-A388-74E6-431B-3E3B0C05448C}"/>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RAMSES:</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1. The Reality Check: Outliers ≠ Crashes (40s)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Before the takeaways, there’s a really important nuance to address. Statistically, our model performed great—the p-values and AUC numbers are strong. However, when we looked at our top 20 'anomalies,' they didn't match Waymo's internal safety flags.  This showed us that </a:t>
            </a:r>
            <a:r>
              <a:rPr lang="en-US" sz="1200" b="1" kern="1200" dirty="0">
                <a:solidFill>
                  <a:schemeClr val="tx1"/>
                </a:solidFill>
                <a:effectLst/>
                <a:latin typeface="+mn-lt"/>
                <a:ea typeface="+mn-ea"/>
                <a:cs typeface="+mn-cs"/>
              </a:rPr>
              <a:t>A kinematic outlier is not always a safety incident.</a:t>
            </a:r>
            <a:r>
              <a:rPr lang="en-US" sz="1200" kern="1200" dirty="0">
                <a:solidFill>
                  <a:schemeClr val="tx1"/>
                </a:solidFill>
                <a:effectLst/>
                <a:latin typeface="+mn-lt"/>
                <a:ea typeface="+mn-ea"/>
                <a:cs typeface="+mn-cs"/>
              </a:rPr>
              <a:t> Our model did find extreme speeds and sensor glitches that would normally go unnoticed. </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2. Takeaway 1: Unsupervised Learning is Legitimate (30s)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first big takeaway is that </a:t>
            </a:r>
            <a:r>
              <a:rPr lang="en-US" sz="1200" b="1" kern="1200" dirty="0">
                <a:solidFill>
                  <a:schemeClr val="tx1"/>
                </a:solidFill>
                <a:effectLst/>
                <a:latin typeface="+mn-lt"/>
                <a:ea typeface="+mn-ea"/>
                <a:cs typeface="+mn-cs"/>
              </a:rPr>
              <a:t>unsupervised detection actually works.</a:t>
            </a:r>
            <a:r>
              <a:rPr lang="en-US" sz="1200" kern="1200" dirty="0">
                <a:solidFill>
                  <a:schemeClr val="tx1"/>
                </a:solidFill>
                <a:effectLst/>
                <a:latin typeface="+mn-lt"/>
                <a:ea typeface="+mn-ea"/>
                <a:cs typeface="+mn-cs"/>
              </a:rPr>
              <a:t> We don’t need human labels to find structure in the chaos. Even after filtering out stationary agents, our model identified some genuine behavior anomalies with extreme acceleration erratic </a:t>
            </a:r>
            <a:r>
              <a:rPr lang="en-US" sz="1200" kern="1200" dirty="0" err="1">
                <a:solidFill>
                  <a:schemeClr val="tx1"/>
                </a:solidFill>
                <a:effectLst/>
                <a:latin typeface="+mn-lt"/>
                <a:ea typeface="+mn-ea"/>
                <a:cs typeface="+mn-cs"/>
              </a:rPr>
              <a:t>manevering</a:t>
            </a:r>
            <a:r>
              <a:rPr lang="en-US" sz="1200" kern="1200" dirty="0">
                <a:solidFill>
                  <a:schemeClr val="tx1"/>
                </a:solidFill>
                <a:effectLst/>
                <a:latin typeface="+mn-lt"/>
                <a:ea typeface="+mn-ea"/>
                <a:cs typeface="+mn-cs"/>
              </a:rPr>
              <a:t> – plus a significant pattern of sensor artifacts that would have gone unnoticed otherwise.</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3. Takeaway 2: Don't Trust "Inflated" Numbers (30s)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second takeaway is a warning for other researchers: </a:t>
            </a:r>
            <a:r>
              <a:rPr lang="en-US" sz="1200" b="1" kern="1200" dirty="0">
                <a:solidFill>
                  <a:schemeClr val="tx1"/>
                </a:solidFill>
                <a:effectLst/>
                <a:latin typeface="+mn-lt"/>
                <a:ea typeface="+mn-ea"/>
                <a:cs typeface="+mn-cs"/>
              </a:rPr>
              <a:t>Dataset composition is everything.</a:t>
            </a:r>
            <a:r>
              <a:rPr lang="en-US" sz="1200" kern="1200" dirty="0">
                <a:solidFill>
                  <a:schemeClr val="tx1"/>
                </a:solidFill>
                <a:effectLst/>
                <a:latin typeface="+mn-lt"/>
                <a:ea typeface="+mn-ea"/>
                <a:cs typeface="+mn-cs"/>
              </a:rPr>
              <a:t> When we removed parked or stationary cars, our performance  dropped significantly. This tells us that many models look good only because they are 'cheating' by correctly identifying easy, parked cars. Our score on moving agents is the </a:t>
            </a:r>
            <a:r>
              <a:rPr lang="en-US" sz="1200" b="1" kern="1200" dirty="0">
                <a:solidFill>
                  <a:schemeClr val="tx1"/>
                </a:solidFill>
                <a:effectLst/>
                <a:latin typeface="+mn-lt"/>
                <a:ea typeface="+mn-ea"/>
                <a:cs typeface="+mn-cs"/>
              </a:rPr>
              <a:t>honest number</a:t>
            </a:r>
            <a:r>
              <a:rPr lang="en-US" sz="1200" kern="1200" dirty="0">
                <a:solidFill>
                  <a:schemeClr val="tx1"/>
                </a:solidFill>
                <a:effectLst/>
                <a:latin typeface="+mn-lt"/>
                <a:ea typeface="+mn-ea"/>
                <a:cs typeface="+mn-cs"/>
              </a:rPr>
              <a:t> for how this works in a real, dynamic environment.</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4. The Bottom Line &amp; Limits (20s)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 wrap up, we have some limitations we only looked at single snapshots and we used a linear model for a non-linear world. But by filling this gap with a simple statistical baseline, we've created a transparent way to audit how 'normal' or </a:t>
            </a:r>
            <a:r>
              <a:rPr lang="en-US" sz="1200" kern="1200" dirty="0" err="1">
                <a:solidFill>
                  <a:schemeClr val="tx1"/>
                </a:solidFill>
                <a:effectLst/>
                <a:latin typeface="+mn-lt"/>
                <a:ea typeface="+mn-ea"/>
                <a:cs typeface="+mn-cs"/>
              </a:rPr>
              <a:t>anomolus</a:t>
            </a:r>
            <a:r>
              <a:rPr lang="en-US" sz="1200" kern="1200" dirty="0">
                <a:solidFill>
                  <a:schemeClr val="tx1"/>
                </a:solidFill>
                <a:effectLst/>
                <a:latin typeface="+mn-lt"/>
                <a:ea typeface="+mn-ea"/>
                <a:cs typeface="+mn-cs"/>
              </a:rPr>
              <a:t>' an agent is behaving.</a:t>
            </a:r>
          </a:p>
        </p:txBody>
      </p:sp>
      <p:sp>
        <p:nvSpPr>
          <p:cNvPr id="4" name="Slide Number Placeholder 3">
            <a:extLst>
              <a:ext uri="{FF2B5EF4-FFF2-40B4-BE49-F238E27FC236}">
                <a16:creationId xmlns:a16="http://schemas.microsoft.com/office/drawing/2014/main" id="{5E855AEE-73AB-1783-0D2F-7103A8414119}"/>
              </a:ext>
            </a:extLst>
          </p:cNvPr>
          <p:cNvSpPr>
            <a:spLocks noGrp="1"/>
          </p:cNvSpPr>
          <p:nvPr>
            <p:ph type="sldNum" sz="quarter" idx="5"/>
          </p:nvPr>
        </p:nvSpPr>
        <p:spPr/>
        <p:txBody>
          <a:bodyPr/>
          <a:lstStyle/>
          <a:p>
            <a:fld id="{B3F43537-14D9-9349-AA70-B1088F1298F1}" type="slidenum">
              <a:rPr lang="en-US" smtClean="0"/>
              <a:t>16</a:t>
            </a:fld>
            <a:endParaRPr lang="en-US"/>
          </a:p>
        </p:txBody>
      </p:sp>
    </p:spTree>
    <p:extLst>
      <p:ext uri="{BB962C8B-B14F-4D97-AF65-F5344CB8AC3E}">
        <p14:creationId xmlns:p14="http://schemas.microsoft.com/office/powerpoint/2010/main" val="15305823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6FE7B-6849-61F2-7989-1C9996269B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DC3D6F-CDC3-0D7D-3B9A-57570428CA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8073AC-BACC-955B-B633-1C324E325E43}"/>
              </a:ext>
            </a:extLst>
          </p:cNvPr>
          <p:cNvSpPr>
            <a:spLocks noGrp="1"/>
          </p:cNvSpPr>
          <p:nvPr>
            <p:ph type="body" idx="1"/>
          </p:nvPr>
        </p:nvSpPr>
        <p:spPr/>
        <p:txBody>
          <a:bodyPr/>
          <a:lstStyle/>
          <a:p>
            <a:r>
              <a:rPr lang="en-US" b="1" dirty="0"/>
              <a:t>PAVEL:</a:t>
            </a:r>
            <a:br>
              <a:rPr lang="en-US" b="1" dirty="0"/>
            </a:br>
            <a:endParaRPr lang="en-US" b="1" dirty="0"/>
          </a:p>
          <a:p>
            <a:r>
              <a:rPr lang="en-US" sz="1200" b="0" i="0" kern="1200" dirty="0">
                <a:solidFill>
                  <a:schemeClr val="tx1"/>
                </a:solidFill>
                <a:effectLst/>
                <a:latin typeface="+mn-lt"/>
                <a:ea typeface="+mn-ea"/>
                <a:cs typeface="+mn-cs"/>
              </a:rPr>
              <a:t>To summarize: we built a two-stage statistical pipeline for autonomous driving data.</a:t>
            </a:r>
          </a:p>
          <a:p>
            <a:r>
              <a:rPr lang="en-US" sz="1200" b="0" i="0" kern="1200" dirty="0">
                <a:solidFill>
                  <a:schemeClr val="tx1"/>
                </a:solidFill>
                <a:effectLst/>
                <a:latin typeface="+mn-lt"/>
                <a:ea typeface="+mn-ea"/>
                <a:cs typeface="+mn-cs"/>
              </a:rPr>
              <a:t>Stage one: Isolation Forest detects kinematic anomalies unsupervised. Fisher's Exact Test validates them at p &lt; 0.001. And manual inspection reveals both genuine extreme events and a systematic sensor artifact that only became visible through the anomaly detection step.</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Stage two: Linear regression predicts 5-second displacement with R-squared of 0.88 — a strong classical baseline.</a:t>
            </a:r>
          </a:p>
          <a:p>
            <a:r>
              <a:rPr lang="en-US" sz="1200" b="0" i="0" kern="1200" dirty="0">
                <a:solidFill>
                  <a:schemeClr val="tx1"/>
                </a:solidFill>
                <a:effectLst/>
                <a:latin typeface="+mn-lt"/>
                <a:ea typeface="+mn-ea"/>
                <a:cs typeface="+mn-cs"/>
              </a:rPr>
              <a:t>The result: </a:t>
            </a:r>
            <a:r>
              <a:rPr lang="en-US" sz="1200" b="1" i="0" kern="1200" dirty="0">
                <a:solidFill>
                  <a:schemeClr val="tx1"/>
                </a:solidFill>
                <a:effectLst/>
                <a:latin typeface="+mn-lt"/>
                <a:ea typeface="+mn-ea"/>
                <a:cs typeface="+mn-cs"/>
              </a:rPr>
              <a:t>interpretable, reproducible statistical methods can deliver meaningful safety-relevant insights from large-scale real-world AV data</a:t>
            </a:r>
            <a:r>
              <a:rPr lang="en-US" sz="1200" b="0" i="0" kern="1200" dirty="0">
                <a:solidFill>
                  <a:schemeClr val="tx1"/>
                </a:solidFill>
                <a:effectLst/>
                <a:latin typeface="+mn-lt"/>
                <a:ea typeface="+mn-ea"/>
                <a:cs typeface="+mn-cs"/>
              </a:rPr>
              <a:t>, without any deep learning — and with the important caveat that interpreting those insights requires understanding what each model is and isn't measuring.</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For future work, three extensions:</a:t>
            </a:r>
          </a:p>
          <a:p>
            <a:r>
              <a:rPr lang="en-US" sz="1200" b="0" i="0" kern="1200" dirty="0">
                <a:solidFill>
                  <a:schemeClr val="tx1"/>
                </a:solidFill>
                <a:effectLst/>
                <a:latin typeface="+mn-lt"/>
                <a:ea typeface="+mn-ea"/>
                <a:cs typeface="+mn-cs"/>
              </a:rPr>
              <a:t>Filter yaw rate at |yaw| &lt; 10 rad/s before anomaly detection, to remove the sensor artifact and surface more meaningful behavioral anomalies.</a:t>
            </a:r>
          </a:p>
          <a:p>
            <a:r>
              <a:rPr lang="en-US" sz="1200" b="0" i="0" kern="1200" dirty="0">
                <a:solidFill>
                  <a:schemeClr val="tx1"/>
                </a:solidFill>
                <a:effectLst/>
                <a:latin typeface="+mn-lt"/>
                <a:ea typeface="+mn-ea"/>
                <a:cs typeface="+mn-cs"/>
              </a:rPr>
              <a:t>Validate flagged agents against Waymo's </a:t>
            </a:r>
            <a:r>
              <a:rPr lang="en-US" sz="1200" b="0" i="0" kern="1200" dirty="0" err="1">
                <a:solidFill>
                  <a:schemeClr val="tx1"/>
                </a:solidFill>
                <a:effectLst/>
                <a:latin typeface="+mn-lt"/>
                <a:ea typeface="+mn-ea"/>
                <a:cs typeface="+mn-cs"/>
              </a:rPr>
              <a:t>IsInteractive</a:t>
            </a:r>
            <a:r>
              <a:rPr lang="en-US" sz="1200" b="0" i="0" kern="1200" dirty="0">
                <a:solidFill>
                  <a:schemeClr val="tx1"/>
                </a:solidFill>
                <a:effectLst/>
                <a:latin typeface="+mn-lt"/>
                <a:ea typeface="+mn-ea"/>
                <a:cs typeface="+mn-cs"/>
              </a:rPr>
              <a:t> flag as a soft reference label, with appropriate caveats about what that flag actually represents.</a:t>
            </a:r>
          </a:p>
          <a:p>
            <a:r>
              <a:rPr lang="en-US" sz="1200" b="0" i="0" kern="1200" dirty="0">
                <a:solidFill>
                  <a:schemeClr val="tx1"/>
                </a:solidFill>
                <a:effectLst/>
                <a:latin typeface="+mn-lt"/>
                <a:ea typeface="+mn-ea"/>
                <a:cs typeface="+mn-cs"/>
              </a:rPr>
              <a:t>Apply the pipeline to the full dataset — not just 300 scenarios — to get a richer tail of genuine high-speed events.</a:t>
            </a:r>
          </a:p>
          <a:p>
            <a:r>
              <a:rPr lang="en-US" sz="1200" b="0" i="0" kern="1200" dirty="0">
                <a:solidFill>
                  <a:schemeClr val="tx1"/>
                </a:solidFill>
                <a:effectLst/>
                <a:latin typeface="+mn-lt"/>
                <a:ea typeface="+mn-ea"/>
                <a:cs typeface="+mn-cs"/>
              </a:rPr>
              <a:t>Our full code is open-source on GitHub.</a:t>
            </a:r>
          </a:p>
          <a:p>
            <a:r>
              <a:rPr lang="en-US" sz="1200" b="0" i="0" kern="1200" dirty="0">
                <a:solidFill>
                  <a:schemeClr val="tx1"/>
                </a:solidFill>
                <a:effectLst/>
                <a:latin typeface="+mn-lt"/>
                <a:ea typeface="+mn-ea"/>
                <a:cs typeface="+mn-cs"/>
              </a:rPr>
              <a:t>Thank you — we're happy to take questions.</a:t>
            </a:r>
          </a:p>
          <a:p>
            <a:endParaRPr lang="en-US" b="1" dirty="0"/>
          </a:p>
        </p:txBody>
      </p:sp>
      <p:sp>
        <p:nvSpPr>
          <p:cNvPr id="4" name="Slide Number Placeholder 3">
            <a:extLst>
              <a:ext uri="{FF2B5EF4-FFF2-40B4-BE49-F238E27FC236}">
                <a16:creationId xmlns:a16="http://schemas.microsoft.com/office/drawing/2014/main" id="{7FDE5603-34A3-CE6F-9867-E919FEB194E0}"/>
              </a:ext>
            </a:extLst>
          </p:cNvPr>
          <p:cNvSpPr>
            <a:spLocks noGrp="1"/>
          </p:cNvSpPr>
          <p:nvPr>
            <p:ph type="sldNum" sz="quarter" idx="5"/>
          </p:nvPr>
        </p:nvSpPr>
        <p:spPr/>
        <p:txBody>
          <a:bodyPr/>
          <a:lstStyle/>
          <a:p>
            <a:fld id="{B3F43537-14D9-9349-AA70-B1088F1298F1}" type="slidenum">
              <a:rPr lang="en-US" smtClean="0"/>
              <a:t>17</a:t>
            </a:fld>
            <a:endParaRPr lang="en-US"/>
          </a:p>
        </p:txBody>
      </p:sp>
    </p:spTree>
    <p:extLst>
      <p:ext uri="{BB962C8B-B14F-4D97-AF65-F5344CB8AC3E}">
        <p14:creationId xmlns:p14="http://schemas.microsoft.com/office/powerpoint/2010/main" val="29600176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1FF43-9781-F26A-41BC-8EFD5E3E29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0D2121-4831-F4DE-0C29-F4CE4B867C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44BDD2-F0CB-D890-0723-D43703CBD560}"/>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Q: Why Isolation Forest and not One-Class SVM?</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Isolation Forest scales better to our dataset size (~4,500 agents) and requires no kernel tuning. One-Class SVM is sensitive to the nu hyperparameter and the kernel choice; IF is more robust out of the box and interpretable via feature importance.</a:t>
            </a:r>
          </a:p>
          <a:p>
            <a:r>
              <a:rPr lang="en-US" sz="1200" b="1" i="0" kern="1200" dirty="0">
                <a:solidFill>
                  <a:schemeClr val="tx1"/>
                </a:solidFill>
                <a:effectLst/>
                <a:latin typeface="+mn-lt"/>
                <a:ea typeface="+mn-ea"/>
                <a:cs typeface="+mn-cs"/>
              </a:rPr>
              <a:t>Q: The 99th percentile threshold — isn't that arbitrary?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It's a design choice, yes. We chose 1% to ensure only the most extreme kinematic outliers are flagged. The Fisher test validates that this threshold produces statistically meaningful, non-random groups. A lower threshold would give more recall at the cost of precision.</a:t>
            </a:r>
          </a:p>
          <a:p>
            <a:r>
              <a:rPr lang="en-US" sz="1200" b="1" i="0" kern="1200" dirty="0">
                <a:solidFill>
                  <a:schemeClr val="tx1"/>
                </a:solidFill>
                <a:effectLst/>
                <a:latin typeface="+mn-lt"/>
                <a:ea typeface="+mn-ea"/>
                <a:cs typeface="+mn-cs"/>
              </a:rPr>
              <a:t>Q: None of the top 20 were </a:t>
            </a:r>
            <a:r>
              <a:rPr lang="en-US" sz="1200" b="1" i="0" kern="1200" dirty="0" err="1">
                <a:solidFill>
                  <a:schemeClr val="tx1"/>
                </a:solidFill>
                <a:effectLst/>
                <a:latin typeface="+mn-lt"/>
                <a:ea typeface="+mn-ea"/>
                <a:cs typeface="+mn-cs"/>
              </a:rPr>
              <a:t>IsInteractive</a:t>
            </a:r>
            <a:r>
              <a:rPr lang="en-US" sz="1200" b="1" i="0" kern="1200" dirty="0">
                <a:solidFill>
                  <a:schemeClr val="tx1"/>
                </a:solidFill>
                <a:effectLst/>
                <a:latin typeface="+mn-lt"/>
                <a:ea typeface="+mn-ea"/>
                <a:cs typeface="+mn-cs"/>
              </a:rPr>
              <a:t> — does that mean the results are useless?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No — it means we're measuring something different from what </a:t>
            </a:r>
            <a:r>
              <a:rPr lang="en-US" sz="1200" b="0" i="0" kern="1200" dirty="0" err="1">
                <a:solidFill>
                  <a:schemeClr val="tx1"/>
                </a:solidFill>
                <a:effectLst/>
                <a:latin typeface="+mn-lt"/>
                <a:ea typeface="+mn-ea"/>
                <a:cs typeface="+mn-cs"/>
              </a:rPr>
              <a:t>IsInteractive</a:t>
            </a:r>
            <a:r>
              <a:rPr lang="en-US" sz="1200" b="0" i="0" kern="1200" dirty="0">
                <a:solidFill>
                  <a:schemeClr val="tx1"/>
                </a:solidFill>
                <a:effectLst/>
                <a:latin typeface="+mn-lt"/>
                <a:ea typeface="+mn-ea"/>
                <a:cs typeface="+mn-cs"/>
              </a:rPr>
              <a:t> tracks. </a:t>
            </a:r>
            <a:r>
              <a:rPr lang="en-US" sz="1200" b="0" i="0" kern="1200" dirty="0" err="1">
                <a:solidFill>
                  <a:schemeClr val="tx1"/>
                </a:solidFill>
                <a:effectLst/>
                <a:latin typeface="+mn-lt"/>
                <a:ea typeface="+mn-ea"/>
                <a:cs typeface="+mn-cs"/>
              </a:rPr>
              <a:t>IsInteractive</a:t>
            </a:r>
            <a:r>
              <a:rPr lang="en-US" sz="1200" b="0" i="0" kern="1200" dirty="0">
                <a:solidFill>
                  <a:schemeClr val="tx1"/>
                </a:solidFill>
                <a:effectLst/>
                <a:latin typeface="+mn-lt"/>
                <a:ea typeface="+mn-ea"/>
                <a:cs typeface="+mn-cs"/>
              </a:rPr>
              <a:t> is a proximity-based planning flag for routine AV decisions. Our pipeline finds kinematic extremes that fall outside normal operating ranges and surfaces data quality issues. Those are complementary, not competing, signals.</a:t>
            </a:r>
          </a:p>
          <a:p>
            <a:r>
              <a:rPr lang="en-US" sz="1200" b="1" i="0" kern="1200" dirty="0">
                <a:solidFill>
                  <a:schemeClr val="tx1"/>
                </a:solidFill>
                <a:effectLst/>
                <a:latin typeface="+mn-lt"/>
                <a:ea typeface="+mn-ea"/>
                <a:cs typeface="+mn-cs"/>
              </a:rPr>
              <a:t>Q: Why linear regression and not something more powerful for prediction?</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Intentionally. We wanted to establish a classical baseline first. An R-squared of 0.88 from a linear model means there's strong linear signal in the kinematic features. Neural approaches should be benchmarked against this, not introduced without first knowing what simpler methods can already achieve.</a:t>
            </a:r>
          </a:p>
          <a:p>
            <a:r>
              <a:rPr lang="en-US" sz="1200" b="1" i="0" kern="1200" dirty="0">
                <a:solidFill>
                  <a:schemeClr val="tx1"/>
                </a:solidFill>
                <a:effectLst/>
                <a:latin typeface="+mn-lt"/>
                <a:ea typeface="+mn-ea"/>
                <a:cs typeface="+mn-cs"/>
              </a:rPr>
              <a:t>Q: How generalizable are these results beyond Waymo?</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kinematic features we use — speed, acceleration, yaw rate — are universal to any tracked agent. The pipeline is dataset-agnostic. The specific thresholds and model weights would need retraining, but the methodology transfers directly. The sensor artifact finding (±31 rad/s at near-zero speed) may also appear in other datasets using the same heading derivative computation.</a:t>
            </a:r>
          </a:p>
          <a:p>
            <a:endParaRPr lang="en-US" dirty="0"/>
          </a:p>
        </p:txBody>
      </p:sp>
      <p:sp>
        <p:nvSpPr>
          <p:cNvPr id="4" name="Slide Number Placeholder 3">
            <a:extLst>
              <a:ext uri="{FF2B5EF4-FFF2-40B4-BE49-F238E27FC236}">
                <a16:creationId xmlns:a16="http://schemas.microsoft.com/office/drawing/2014/main" id="{DA603D53-DC03-F09A-2704-89A27E1D60E8}"/>
              </a:ext>
            </a:extLst>
          </p:cNvPr>
          <p:cNvSpPr>
            <a:spLocks noGrp="1"/>
          </p:cNvSpPr>
          <p:nvPr>
            <p:ph type="sldNum" sz="quarter" idx="5"/>
          </p:nvPr>
        </p:nvSpPr>
        <p:spPr/>
        <p:txBody>
          <a:bodyPr/>
          <a:lstStyle/>
          <a:p>
            <a:fld id="{B3F43537-14D9-9349-AA70-B1088F1298F1}" type="slidenum">
              <a:rPr lang="en-US" smtClean="0"/>
              <a:t>18</a:t>
            </a:fld>
            <a:endParaRPr lang="en-US"/>
          </a:p>
        </p:txBody>
      </p:sp>
    </p:spTree>
    <p:extLst>
      <p:ext uri="{BB962C8B-B14F-4D97-AF65-F5344CB8AC3E}">
        <p14:creationId xmlns:p14="http://schemas.microsoft.com/office/powerpoint/2010/main" val="16627186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3B09E-98BE-7237-C650-7BE9BCD05A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7BF2457-9A8C-0808-8110-DB41326306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F9DEB88-4FE5-53CA-AB95-9B7ED10A947C}"/>
              </a:ext>
            </a:extLst>
          </p:cNvPr>
          <p:cNvSpPr>
            <a:spLocks noGrp="1"/>
          </p:cNvSpPr>
          <p:nvPr>
            <p:ph type="dt" sz="half" idx="10"/>
          </p:nvPr>
        </p:nvSpPr>
        <p:spPr/>
        <p:txBody>
          <a:bodyPr/>
          <a:lstStyle/>
          <a:p>
            <a:fld id="{E8D9423D-11F4-C548-8D9D-A6AEB1163E9F}" type="datetimeFigureOut">
              <a:rPr lang="en-US" smtClean="0"/>
              <a:t>4/13/26</a:t>
            </a:fld>
            <a:endParaRPr lang="en-US"/>
          </a:p>
        </p:txBody>
      </p:sp>
      <p:sp>
        <p:nvSpPr>
          <p:cNvPr id="5" name="Footer Placeholder 4">
            <a:extLst>
              <a:ext uri="{FF2B5EF4-FFF2-40B4-BE49-F238E27FC236}">
                <a16:creationId xmlns:a16="http://schemas.microsoft.com/office/drawing/2014/main" id="{BECA79C0-058D-335E-A5A5-5C343EE9FC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7B0DDF-125C-3970-79A8-C6A669FEFFAE}"/>
              </a:ext>
            </a:extLst>
          </p:cNvPr>
          <p:cNvSpPr>
            <a:spLocks noGrp="1"/>
          </p:cNvSpPr>
          <p:nvPr>
            <p:ph type="sldNum" sz="quarter" idx="12"/>
          </p:nvPr>
        </p:nvSpPr>
        <p:spPr/>
        <p:txBody>
          <a:bodyPr/>
          <a:lstStyle/>
          <a:p>
            <a:fld id="{CBF5007F-7F64-6744-BF78-D45325ECE55E}" type="slidenum">
              <a:rPr lang="en-US" smtClean="0"/>
              <a:t>‹#›</a:t>
            </a:fld>
            <a:endParaRPr lang="en-US"/>
          </a:p>
        </p:txBody>
      </p:sp>
    </p:spTree>
    <p:extLst>
      <p:ext uri="{BB962C8B-B14F-4D97-AF65-F5344CB8AC3E}">
        <p14:creationId xmlns:p14="http://schemas.microsoft.com/office/powerpoint/2010/main" val="2813192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7BF45-2E6F-C2DF-9128-C27CA30E1D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902D9E-CD98-F7A6-ED64-30885FA32C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D52E18-41DF-19F4-9252-3780B4CD3004}"/>
              </a:ext>
            </a:extLst>
          </p:cNvPr>
          <p:cNvSpPr>
            <a:spLocks noGrp="1"/>
          </p:cNvSpPr>
          <p:nvPr>
            <p:ph type="dt" sz="half" idx="10"/>
          </p:nvPr>
        </p:nvSpPr>
        <p:spPr/>
        <p:txBody>
          <a:bodyPr/>
          <a:lstStyle/>
          <a:p>
            <a:fld id="{E8D9423D-11F4-C548-8D9D-A6AEB1163E9F}" type="datetimeFigureOut">
              <a:rPr lang="en-US" smtClean="0"/>
              <a:t>4/13/26</a:t>
            </a:fld>
            <a:endParaRPr lang="en-US"/>
          </a:p>
        </p:txBody>
      </p:sp>
      <p:sp>
        <p:nvSpPr>
          <p:cNvPr id="5" name="Footer Placeholder 4">
            <a:extLst>
              <a:ext uri="{FF2B5EF4-FFF2-40B4-BE49-F238E27FC236}">
                <a16:creationId xmlns:a16="http://schemas.microsoft.com/office/drawing/2014/main" id="{C9DF6EE9-E0FB-2808-D45C-2120446227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AC7A7F-E089-0782-6DDE-FFFD3B09A1D3}"/>
              </a:ext>
            </a:extLst>
          </p:cNvPr>
          <p:cNvSpPr>
            <a:spLocks noGrp="1"/>
          </p:cNvSpPr>
          <p:nvPr>
            <p:ph type="sldNum" sz="quarter" idx="12"/>
          </p:nvPr>
        </p:nvSpPr>
        <p:spPr/>
        <p:txBody>
          <a:bodyPr/>
          <a:lstStyle/>
          <a:p>
            <a:fld id="{CBF5007F-7F64-6744-BF78-D45325ECE55E}" type="slidenum">
              <a:rPr lang="en-US" smtClean="0"/>
              <a:t>‹#›</a:t>
            </a:fld>
            <a:endParaRPr lang="en-US"/>
          </a:p>
        </p:txBody>
      </p:sp>
    </p:spTree>
    <p:extLst>
      <p:ext uri="{BB962C8B-B14F-4D97-AF65-F5344CB8AC3E}">
        <p14:creationId xmlns:p14="http://schemas.microsoft.com/office/powerpoint/2010/main" val="1296410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3B125-D530-E4B1-0688-D66E7A7CC0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802A777-E0DE-9ED8-68EF-FEEC4C3BB55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67070D-761E-832D-EEC5-0BF9D8A62E31}"/>
              </a:ext>
            </a:extLst>
          </p:cNvPr>
          <p:cNvSpPr>
            <a:spLocks noGrp="1"/>
          </p:cNvSpPr>
          <p:nvPr>
            <p:ph type="dt" sz="half" idx="10"/>
          </p:nvPr>
        </p:nvSpPr>
        <p:spPr/>
        <p:txBody>
          <a:bodyPr/>
          <a:lstStyle/>
          <a:p>
            <a:fld id="{E8D9423D-11F4-C548-8D9D-A6AEB1163E9F}" type="datetimeFigureOut">
              <a:rPr lang="en-US" smtClean="0"/>
              <a:t>4/13/26</a:t>
            </a:fld>
            <a:endParaRPr lang="en-US"/>
          </a:p>
        </p:txBody>
      </p:sp>
      <p:sp>
        <p:nvSpPr>
          <p:cNvPr id="5" name="Footer Placeholder 4">
            <a:extLst>
              <a:ext uri="{FF2B5EF4-FFF2-40B4-BE49-F238E27FC236}">
                <a16:creationId xmlns:a16="http://schemas.microsoft.com/office/drawing/2014/main" id="{C30A7405-6ED6-51D1-965D-2623B78433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1B47E-2EB4-A5F3-2FD9-E5F1B6455E8A}"/>
              </a:ext>
            </a:extLst>
          </p:cNvPr>
          <p:cNvSpPr>
            <a:spLocks noGrp="1"/>
          </p:cNvSpPr>
          <p:nvPr>
            <p:ph type="sldNum" sz="quarter" idx="12"/>
          </p:nvPr>
        </p:nvSpPr>
        <p:spPr/>
        <p:txBody>
          <a:bodyPr/>
          <a:lstStyle/>
          <a:p>
            <a:fld id="{CBF5007F-7F64-6744-BF78-D45325ECE55E}" type="slidenum">
              <a:rPr lang="en-US" smtClean="0"/>
              <a:t>‹#›</a:t>
            </a:fld>
            <a:endParaRPr lang="en-US"/>
          </a:p>
        </p:txBody>
      </p:sp>
    </p:spTree>
    <p:extLst>
      <p:ext uri="{BB962C8B-B14F-4D97-AF65-F5344CB8AC3E}">
        <p14:creationId xmlns:p14="http://schemas.microsoft.com/office/powerpoint/2010/main" val="87718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137CE-C52D-7189-3138-40D632BE3B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401763-E8C8-388F-4659-524F1AD00C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E0F69A1-1785-A1B6-E1E8-3453B79CAE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A63FDC1-3F23-C17E-11BE-E9BC30D8CD35}"/>
              </a:ext>
            </a:extLst>
          </p:cNvPr>
          <p:cNvSpPr>
            <a:spLocks noGrp="1"/>
          </p:cNvSpPr>
          <p:nvPr>
            <p:ph type="dt" sz="half" idx="10"/>
          </p:nvPr>
        </p:nvSpPr>
        <p:spPr/>
        <p:txBody>
          <a:bodyPr/>
          <a:lstStyle/>
          <a:p>
            <a:fld id="{E8D9423D-11F4-C548-8D9D-A6AEB1163E9F}" type="datetimeFigureOut">
              <a:rPr lang="en-US" smtClean="0"/>
              <a:t>4/13/26</a:t>
            </a:fld>
            <a:endParaRPr lang="en-US"/>
          </a:p>
        </p:txBody>
      </p:sp>
      <p:sp>
        <p:nvSpPr>
          <p:cNvPr id="6" name="Footer Placeholder 5">
            <a:extLst>
              <a:ext uri="{FF2B5EF4-FFF2-40B4-BE49-F238E27FC236}">
                <a16:creationId xmlns:a16="http://schemas.microsoft.com/office/drawing/2014/main" id="{0A2D6F4B-71EB-181A-7B6B-B5CEA45805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4C3908-390B-4BF6-8359-B17D87C5A0CA}"/>
              </a:ext>
            </a:extLst>
          </p:cNvPr>
          <p:cNvSpPr>
            <a:spLocks noGrp="1"/>
          </p:cNvSpPr>
          <p:nvPr>
            <p:ph type="sldNum" sz="quarter" idx="12"/>
          </p:nvPr>
        </p:nvSpPr>
        <p:spPr/>
        <p:txBody>
          <a:bodyPr/>
          <a:lstStyle/>
          <a:p>
            <a:fld id="{CBF5007F-7F64-6744-BF78-D45325ECE55E}" type="slidenum">
              <a:rPr lang="en-US" smtClean="0"/>
              <a:t>‹#›</a:t>
            </a:fld>
            <a:endParaRPr lang="en-US"/>
          </a:p>
        </p:txBody>
      </p:sp>
    </p:spTree>
    <p:extLst>
      <p:ext uri="{BB962C8B-B14F-4D97-AF65-F5344CB8AC3E}">
        <p14:creationId xmlns:p14="http://schemas.microsoft.com/office/powerpoint/2010/main" val="1365518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E613C-22A0-79D8-D553-2D54A52FEFC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C9F0AC1-51AC-DD5E-B50B-2C65436E2A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947A8A-35CB-C35A-7E6B-7E66939D7D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7CE17D2-2437-C7FD-1803-2498AA8AD8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D66E2D-A112-D4C3-A781-FFF6EEFD85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0B1140-BFAB-C1A5-B099-18743E7962E8}"/>
              </a:ext>
            </a:extLst>
          </p:cNvPr>
          <p:cNvSpPr>
            <a:spLocks noGrp="1"/>
          </p:cNvSpPr>
          <p:nvPr>
            <p:ph type="dt" sz="half" idx="10"/>
          </p:nvPr>
        </p:nvSpPr>
        <p:spPr/>
        <p:txBody>
          <a:bodyPr/>
          <a:lstStyle/>
          <a:p>
            <a:fld id="{E8D9423D-11F4-C548-8D9D-A6AEB1163E9F}" type="datetimeFigureOut">
              <a:rPr lang="en-US" smtClean="0"/>
              <a:t>4/13/26</a:t>
            </a:fld>
            <a:endParaRPr lang="en-US"/>
          </a:p>
        </p:txBody>
      </p:sp>
      <p:sp>
        <p:nvSpPr>
          <p:cNvPr id="8" name="Footer Placeholder 7">
            <a:extLst>
              <a:ext uri="{FF2B5EF4-FFF2-40B4-BE49-F238E27FC236}">
                <a16:creationId xmlns:a16="http://schemas.microsoft.com/office/drawing/2014/main" id="{B4276090-2264-A5FE-AE77-5F59DEDEFB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E2F99E3-604C-1D76-8033-9CEDAB3BCBFA}"/>
              </a:ext>
            </a:extLst>
          </p:cNvPr>
          <p:cNvSpPr>
            <a:spLocks noGrp="1"/>
          </p:cNvSpPr>
          <p:nvPr>
            <p:ph type="sldNum" sz="quarter" idx="12"/>
          </p:nvPr>
        </p:nvSpPr>
        <p:spPr/>
        <p:txBody>
          <a:bodyPr/>
          <a:lstStyle/>
          <a:p>
            <a:fld id="{CBF5007F-7F64-6744-BF78-D45325ECE55E}" type="slidenum">
              <a:rPr lang="en-US" smtClean="0"/>
              <a:t>‹#›</a:t>
            </a:fld>
            <a:endParaRPr lang="en-US"/>
          </a:p>
        </p:txBody>
      </p:sp>
    </p:spTree>
    <p:extLst>
      <p:ext uri="{BB962C8B-B14F-4D97-AF65-F5344CB8AC3E}">
        <p14:creationId xmlns:p14="http://schemas.microsoft.com/office/powerpoint/2010/main" val="1031742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12E60-F590-795F-1168-3B1FB410A4F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2CF5456-4850-C9B9-DC5F-6B1936CFA297}"/>
              </a:ext>
            </a:extLst>
          </p:cNvPr>
          <p:cNvSpPr>
            <a:spLocks noGrp="1"/>
          </p:cNvSpPr>
          <p:nvPr>
            <p:ph type="dt" sz="half" idx="10"/>
          </p:nvPr>
        </p:nvSpPr>
        <p:spPr/>
        <p:txBody>
          <a:bodyPr/>
          <a:lstStyle/>
          <a:p>
            <a:fld id="{E8D9423D-11F4-C548-8D9D-A6AEB1163E9F}" type="datetimeFigureOut">
              <a:rPr lang="en-US" smtClean="0"/>
              <a:t>4/13/26</a:t>
            </a:fld>
            <a:endParaRPr lang="en-US"/>
          </a:p>
        </p:txBody>
      </p:sp>
      <p:sp>
        <p:nvSpPr>
          <p:cNvPr id="4" name="Footer Placeholder 3">
            <a:extLst>
              <a:ext uri="{FF2B5EF4-FFF2-40B4-BE49-F238E27FC236}">
                <a16:creationId xmlns:a16="http://schemas.microsoft.com/office/drawing/2014/main" id="{28F3DEBF-A9B1-D59D-2A8B-FF034A1E5AE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2F623AA-98CA-CAE0-41C7-81E575C23AF0}"/>
              </a:ext>
            </a:extLst>
          </p:cNvPr>
          <p:cNvSpPr>
            <a:spLocks noGrp="1"/>
          </p:cNvSpPr>
          <p:nvPr>
            <p:ph type="sldNum" sz="quarter" idx="12"/>
          </p:nvPr>
        </p:nvSpPr>
        <p:spPr/>
        <p:txBody>
          <a:bodyPr/>
          <a:lstStyle/>
          <a:p>
            <a:fld id="{CBF5007F-7F64-6744-BF78-D45325ECE55E}" type="slidenum">
              <a:rPr lang="en-US" smtClean="0"/>
              <a:t>‹#›</a:t>
            </a:fld>
            <a:endParaRPr lang="en-US"/>
          </a:p>
        </p:txBody>
      </p:sp>
    </p:spTree>
    <p:extLst>
      <p:ext uri="{BB962C8B-B14F-4D97-AF65-F5344CB8AC3E}">
        <p14:creationId xmlns:p14="http://schemas.microsoft.com/office/powerpoint/2010/main" val="3020611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F820E3-CC12-EED2-9421-5E4C020C81CD}"/>
              </a:ext>
            </a:extLst>
          </p:cNvPr>
          <p:cNvSpPr>
            <a:spLocks noGrp="1"/>
          </p:cNvSpPr>
          <p:nvPr>
            <p:ph type="dt" sz="half" idx="10"/>
          </p:nvPr>
        </p:nvSpPr>
        <p:spPr/>
        <p:txBody>
          <a:bodyPr/>
          <a:lstStyle/>
          <a:p>
            <a:fld id="{E8D9423D-11F4-C548-8D9D-A6AEB1163E9F}" type="datetimeFigureOut">
              <a:rPr lang="en-US" smtClean="0"/>
              <a:t>4/13/26</a:t>
            </a:fld>
            <a:endParaRPr lang="en-US"/>
          </a:p>
        </p:txBody>
      </p:sp>
      <p:sp>
        <p:nvSpPr>
          <p:cNvPr id="3" name="Footer Placeholder 2">
            <a:extLst>
              <a:ext uri="{FF2B5EF4-FFF2-40B4-BE49-F238E27FC236}">
                <a16:creationId xmlns:a16="http://schemas.microsoft.com/office/drawing/2014/main" id="{C439FFDB-F7F3-5DA2-302B-050722A0FE8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90D29D5-C29E-0C53-0A99-139D69E76D4D}"/>
              </a:ext>
            </a:extLst>
          </p:cNvPr>
          <p:cNvSpPr>
            <a:spLocks noGrp="1"/>
          </p:cNvSpPr>
          <p:nvPr>
            <p:ph type="sldNum" sz="quarter" idx="12"/>
          </p:nvPr>
        </p:nvSpPr>
        <p:spPr/>
        <p:txBody>
          <a:bodyPr/>
          <a:lstStyle/>
          <a:p>
            <a:fld id="{CBF5007F-7F64-6744-BF78-D45325ECE55E}" type="slidenum">
              <a:rPr lang="en-US" smtClean="0"/>
              <a:t>‹#›</a:t>
            </a:fld>
            <a:endParaRPr lang="en-US"/>
          </a:p>
        </p:txBody>
      </p:sp>
    </p:spTree>
    <p:extLst>
      <p:ext uri="{BB962C8B-B14F-4D97-AF65-F5344CB8AC3E}">
        <p14:creationId xmlns:p14="http://schemas.microsoft.com/office/powerpoint/2010/main" val="1673345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501C6-2D22-BFC1-57FE-0C88D45EDE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55AD63-5ABA-67BC-0A86-38F80ADB04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41A2D2E-A338-6B53-4810-6EF71305C2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251706-F9DF-05DF-96A6-263E46A14491}"/>
              </a:ext>
            </a:extLst>
          </p:cNvPr>
          <p:cNvSpPr>
            <a:spLocks noGrp="1"/>
          </p:cNvSpPr>
          <p:nvPr>
            <p:ph type="dt" sz="half" idx="10"/>
          </p:nvPr>
        </p:nvSpPr>
        <p:spPr/>
        <p:txBody>
          <a:bodyPr/>
          <a:lstStyle/>
          <a:p>
            <a:fld id="{E8D9423D-11F4-C548-8D9D-A6AEB1163E9F}" type="datetimeFigureOut">
              <a:rPr lang="en-US" smtClean="0"/>
              <a:t>4/13/26</a:t>
            </a:fld>
            <a:endParaRPr lang="en-US"/>
          </a:p>
        </p:txBody>
      </p:sp>
      <p:sp>
        <p:nvSpPr>
          <p:cNvPr id="6" name="Footer Placeholder 5">
            <a:extLst>
              <a:ext uri="{FF2B5EF4-FFF2-40B4-BE49-F238E27FC236}">
                <a16:creationId xmlns:a16="http://schemas.microsoft.com/office/drawing/2014/main" id="{4C654930-40E2-750F-9E75-F718AD3187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9A3365-A431-49C1-4069-58DF83110742}"/>
              </a:ext>
            </a:extLst>
          </p:cNvPr>
          <p:cNvSpPr>
            <a:spLocks noGrp="1"/>
          </p:cNvSpPr>
          <p:nvPr>
            <p:ph type="sldNum" sz="quarter" idx="12"/>
          </p:nvPr>
        </p:nvSpPr>
        <p:spPr/>
        <p:txBody>
          <a:bodyPr/>
          <a:lstStyle/>
          <a:p>
            <a:fld id="{CBF5007F-7F64-6744-BF78-D45325ECE55E}" type="slidenum">
              <a:rPr lang="en-US" smtClean="0"/>
              <a:t>‹#›</a:t>
            </a:fld>
            <a:endParaRPr lang="en-US"/>
          </a:p>
        </p:txBody>
      </p:sp>
    </p:spTree>
    <p:extLst>
      <p:ext uri="{BB962C8B-B14F-4D97-AF65-F5344CB8AC3E}">
        <p14:creationId xmlns:p14="http://schemas.microsoft.com/office/powerpoint/2010/main" val="3037081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B8059-372B-9B3F-4105-38D6B0567D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FCC57F3-50E5-B02C-C8A7-703D506FC1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AB873D6-10BC-BB43-4B44-5424E47456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D57F46-F4FC-35FD-926A-E552B6BC48AB}"/>
              </a:ext>
            </a:extLst>
          </p:cNvPr>
          <p:cNvSpPr>
            <a:spLocks noGrp="1"/>
          </p:cNvSpPr>
          <p:nvPr>
            <p:ph type="dt" sz="half" idx="10"/>
          </p:nvPr>
        </p:nvSpPr>
        <p:spPr/>
        <p:txBody>
          <a:bodyPr/>
          <a:lstStyle/>
          <a:p>
            <a:fld id="{E8D9423D-11F4-C548-8D9D-A6AEB1163E9F}" type="datetimeFigureOut">
              <a:rPr lang="en-US" smtClean="0"/>
              <a:t>4/13/26</a:t>
            </a:fld>
            <a:endParaRPr lang="en-US"/>
          </a:p>
        </p:txBody>
      </p:sp>
      <p:sp>
        <p:nvSpPr>
          <p:cNvPr id="6" name="Footer Placeholder 5">
            <a:extLst>
              <a:ext uri="{FF2B5EF4-FFF2-40B4-BE49-F238E27FC236}">
                <a16:creationId xmlns:a16="http://schemas.microsoft.com/office/drawing/2014/main" id="{A20CD297-2588-B98F-E475-88EA6EA037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39DA1A-FA31-6E69-E8AB-709FB655F4AD}"/>
              </a:ext>
            </a:extLst>
          </p:cNvPr>
          <p:cNvSpPr>
            <a:spLocks noGrp="1"/>
          </p:cNvSpPr>
          <p:nvPr>
            <p:ph type="sldNum" sz="quarter" idx="12"/>
          </p:nvPr>
        </p:nvSpPr>
        <p:spPr/>
        <p:txBody>
          <a:bodyPr/>
          <a:lstStyle/>
          <a:p>
            <a:fld id="{CBF5007F-7F64-6744-BF78-D45325ECE55E}" type="slidenum">
              <a:rPr lang="en-US" smtClean="0"/>
              <a:t>‹#›</a:t>
            </a:fld>
            <a:endParaRPr lang="en-US"/>
          </a:p>
        </p:txBody>
      </p:sp>
    </p:spTree>
    <p:extLst>
      <p:ext uri="{BB962C8B-B14F-4D97-AF65-F5344CB8AC3E}">
        <p14:creationId xmlns:p14="http://schemas.microsoft.com/office/powerpoint/2010/main" val="1754043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4D8EC-7786-324E-9937-DF54BCE466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A0893F-76C4-706A-A8FA-B733F767CF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B9E589-AE50-573A-B591-5440221C9155}"/>
              </a:ext>
            </a:extLst>
          </p:cNvPr>
          <p:cNvSpPr>
            <a:spLocks noGrp="1"/>
          </p:cNvSpPr>
          <p:nvPr>
            <p:ph type="dt" sz="half" idx="10"/>
          </p:nvPr>
        </p:nvSpPr>
        <p:spPr/>
        <p:txBody>
          <a:bodyPr/>
          <a:lstStyle/>
          <a:p>
            <a:fld id="{E8D9423D-11F4-C548-8D9D-A6AEB1163E9F}" type="datetimeFigureOut">
              <a:rPr lang="en-US" smtClean="0"/>
              <a:t>4/13/26</a:t>
            </a:fld>
            <a:endParaRPr lang="en-US"/>
          </a:p>
        </p:txBody>
      </p:sp>
      <p:sp>
        <p:nvSpPr>
          <p:cNvPr id="5" name="Footer Placeholder 4">
            <a:extLst>
              <a:ext uri="{FF2B5EF4-FFF2-40B4-BE49-F238E27FC236}">
                <a16:creationId xmlns:a16="http://schemas.microsoft.com/office/drawing/2014/main" id="{55875C38-029D-9581-E38E-E663571A82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5CE0E3-2609-5529-BC93-A984EFC46570}"/>
              </a:ext>
            </a:extLst>
          </p:cNvPr>
          <p:cNvSpPr>
            <a:spLocks noGrp="1"/>
          </p:cNvSpPr>
          <p:nvPr>
            <p:ph type="sldNum" sz="quarter" idx="12"/>
          </p:nvPr>
        </p:nvSpPr>
        <p:spPr/>
        <p:txBody>
          <a:bodyPr/>
          <a:lstStyle/>
          <a:p>
            <a:fld id="{CBF5007F-7F64-6744-BF78-D45325ECE55E}" type="slidenum">
              <a:rPr lang="en-US" smtClean="0"/>
              <a:t>‹#›</a:t>
            </a:fld>
            <a:endParaRPr lang="en-US"/>
          </a:p>
        </p:txBody>
      </p:sp>
    </p:spTree>
    <p:extLst>
      <p:ext uri="{BB962C8B-B14F-4D97-AF65-F5344CB8AC3E}">
        <p14:creationId xmlns:p14="http://schemas.microsoft.com/office/powerpoint/2010/main" val="2599463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73427B-72AF-196D-50D7-0279CB5463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633588F-FAFD-C13D-67D3-C0D097DC07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CA7BB7-F185-76E0-E133-4EE996B3C80E}"/>
              </a:ext>
            </a:extLst>
          </p:cNvPr>
          <p:cNvSpPr>
            <a:spLocks noGrp="1"/>
          </p:cNvSpPr>
          <p:nvPr>
            <p:ph type="dt" sz="half" idx="10"/>
          </p:nvPr>
        </p:nvSpPr>
        <p:spPr/>
        <p:txBody>
          <a:bodyPr/>
          <a:lstStyle/>
          <a:p>
            <a:fld id="{E8D9423D-11F4-C548-8D9D-A6AEB1163E9F}" type="datetimeFigureOut">
              <a:rPr lang="en-US" smtClean="0"/>
              <a:t>4/13/26</a:t>
            </a:fld>
            <a:endParaRPr lang="en-US"/>
          </a:p>
        </p:txBody>
      </p:sp>
      <p:sp>
        <p:nvSpPr>
          <p:cNvPr id="5" name="Footer Placeholder 4">
            <a:extLst>
              <a:ext uri="{FF2B5EF4-FFF2-40B4-BE49-F238E27FC236}">
                <a16:creationId xmlns:a16="http://schemas.microsoft.com/office/drawing/2014/main" id="{7E4100E5-49E4-F35C-FFA5-BCBC1E7982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4F1006-33FB-D1AC-BB7C-A6678FA40A76}"/>
              </a:ext>
            </a:extLst>
          </p:cNvPr>
          <p:cNvSpPr>
            <a:spLocks noGrp="1"/>
          </p:cNvSpPr>
          <p:nvPr>
            <p:ph type="sldNum" sz="quarter" idx="12"/>
          </p:nvPr>
        </p:nvSpPr>
        <p:spPr/>
        <p:txBody>
          <a:bodyPr/>
          <a:lstStyle/>
          <a:p>
            <a:fld id="{CBF5007F-7F64-6744-BF78-D45325ECE55E}" type="slidenum">
              <a:rPr lang="en-US" smtClean="0"/>
              <a:t>‹#›</a:t>
            </a:fld>
            <a:endParaRPr lang="en-US"/>
          </a:p>
        </p:txBody>
      </p:sp>
    </p:spTree>
    <p:extLst>
      <p:ext uri="{BB962C8B-B14F-4D97-AF65-F5344CB8AC3E}">
        <p14:creationId xmlns:p14="http://schemas.microsoft.com/office/powerpoint/2010/main" val="2670044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D7ECD3-DC2D-D39F-FF8B-0464977E15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F2B8CD4-CC87-00BA-13A6-A3BF527C21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305476-213C-8634-0139-0AE90A0E15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8D9423D-11F4-C548-8D9D-A6AEB1163E9F}" type="datetimeFigureOut">
              <a:rPr lang="en-US" smtClean="0"/>
              <a:t>4/13/26</a:t>
            </a:fld>
            <a:endParaRPr lang="en-US"/>
          </a:p>
        </p:txBody>
      </p:sp>
      <p:sp>
        <p:nvSpPr>
          <p:cNvPr id="5" name="Footer Placeholder 4">
            <a:extLst>
              <a:ext uri="{FF2B5EF4-FFF2-40B4-BE49-F238E27FC236}">
                <a16:creationId xmlns:a16="http://schemas.microsoft.com/office/drawing/2014/main" id="{4FAAEFFD-86F4-32F4-309E-3FA2A72608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C62DB6D-1EC7-6978-82B1-A3821A831E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F5007F-7F64-6744-BF78-D45325ECE55E}" type="slidenum">
              <a:rPr lang="en-US" smtClean="0"/>
              <a:t>‹#›</a:t>
            </a:fld>
            <a:endParaRPr lang="en-US"/>
          </a:p>
        </p:txBody>
      </p:sp>
    </p:spTree>
    <p:extLst>
      <p:ext uri="{BB962C8B-B14F-4D97-AF65-F5344CB8AC3E}">
        <p14:creationId xmlns:p14="http://schemas.microsoft.com/office/powerpoint/2010/main" val="15462989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0.png"/></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13" Type="http://schemas.openxmlformats.org/officeDocument/2006/relationships/image" Target="../media/image13.png"/><Relationship Id="rId3" Type="http://schemas.microsoft.com/office/2007/relationships/media" Target="../media/media2.mp4"/><Relationship Id="rId7" Type="http://schemas.openxmlformats.org/officeDocument/2006/relationships/slideLayout" Target="../slideLayouts/slideLayout1.xml"/><Relationship Id="rId12" Type="http://schemas.openxmlformats.org/officeDocument/2006/relationships/image" Target="../media/image12.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video" Target="../media/media3.mp4"/><Relationship Id="rId11" Type="http://schemas.openxmlformats.org/officeDocument/2006/relationships/image" Target="../media/image11.png"/><Relationship Id="rId5" Type="http://schemas.microsoft.com/office/2007/relationships/media" Target="../media/media3.mp4"/><Relationship Id="rId10" Type="http://schemas.openxmlformats.org/officeDocument/2006/relationships/image" Target="../media/image10.png"/><Relationship Id="rId4" Type="http://schemas.openxmlformats.org/officeDocument/2006/relationships/video" Target="../media/media2.mp4"/><Relationship Id="rId9"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0AAD04C-E248-922E-F9B5-608FFDF7029F}"/>
              </a:ext>
            </a:extLst>
          </p:cNvPr>
          <p:cNvSpPr/>
          <p:nvPr/>
        </p:nvSpPr>
        <p:spPr>
          <a:xfrm rot="7324454">
            <a:off x="-2480422" y="1243536"/>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AEE4AA-D2CA-CB0C-01DE-666FE3459549}"/>
              </a:ext>
            </a:extLst>
          </p:cNvPr>
          <p:cNvSpPr>
            <a:spLocks noGrp="1"/>
          </p:cNvSpPr>
          <p:nvPr>
            <p:ph type="ctrTitle"/>
          </p:nvPr>
        </p:nvSpPr>
        <p:spPr>
          <a:xfrm>
            <a:off x="680852" y="1599521"/>
            <a:ext cx="8154390" cy="2548246"/>
          </a:xfrm>
        </p:spPr>
        <p:txBody>
          <a:bodyPr>
            <a:noAutofit/>
          </a:bodyPr>
          <a:lstStyle/>
          <a:p>
            <a:pPr algn="l"/>
            <a:r>
              <a:rPr lang="en-US" sz="4500" b="1" dirty="0">
                <a:latin typeface="GT Walsheim Trial Bd" pitchFamily="2" charset="77"/>
              </a:rPr>
              <a:t>Unsupervised Statistical Learning </a:t>
            </a:r>
            <a:r>
              <a:rPr lang="en-US" sz="4500" dirty="0">
                <a:latin typeface="GT Walsheim Trial Rg" pitchFamily="2" charset="77"/>
              </a:rPr>
              <a:t>for Kinematic Anomaly Detection in Autonomous Driving Scenarios</a:t>
            </a:r>
          </a:p>
        </p:txBody>
      </p:sp>
      <p:pic>
        <p:nvPicPr>
          <p:cNvPr id="1026" name="Picture 2" descr="Waymo Logo">
            <a:extLst>
              <a:ext uri="{FF2B5EF4-FFF2-40B4-BE49-F238E27FC236}">
                <a16:creationId xmlns:a16="http://schemas.microsoft.com/office/drawing/2014/main" id="{E05DD438-99CC-9720-EA36-5A94335280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378" y="425703"/>
            <a:ext cx="782903" cy="782903"/>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CAEB3031-73B3-1280-82F5-25B36391EA35}"/>
              </a:ext>
            </a:extLst>
          </p:cNvPr>
          <p:cNvSpPr txBox="1">
            <a:spLocks/>
          </p:cNvSpPr>
          <p:nvPr/>
        </p:nvSpPr>
        <p:spPr>
          <a:xfrm>
            <a:off x="785750" y="4837123"/>
            <a:ext cx="7716982" cy="140704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500" dirty="0">
                <a:latin typeface="GT Walsheim Trial Lt" pitchFamily="2" charset="77"/>
              </a:rPr>
              <a:t>Pavel Stepanov</a:t>
            </a:r>
          </a:p>
          <a:p>
            <a:pPr algn="l"/>
            <a:r>
              <a:rPr lang="en-US" sz="1500" dirty="0">
                <a:latin typeface="GT Walsheim Trial Lt" pitchFamily="2" charset="77"/>
              </a:rPr>
              <a:t>Ramses </a:t>
            </a:r>
            <a:r>
              <a:rPr lang="en-US" sz="1500" dirty="0" err="1">
                <a:latin typeface="GT Walsheim Trial Lt" pitchFamily="2" charset="77"/>
              </a:rPr>
              <a:t>Loaces</a:t>
            </a:r>
            <a:endParaRPr lang="en-US" sz="1500" dirty="0">
              <a:latin typeface="GT Walsheim Trial Lt" pitchFamily="2" charset="77"/>
            </a:endParaRPr>
          </a:p>
          <a:p>
            <a:pPr algn="l"/>
            <a:r>
              <a:rPr lang="en-US" sz="1500" dirty="0">
                <a:latin typeface="GT Walsheim Trial Lt" pitchFamily="2" charset="77"/>
              </a:rPr>
              <a:t>Justin Cabrera</a:t>
            </a:r>
          </a:p>
          <a:p>
            <a:pPr algn="l"/>
            <a:endParaRPr lang="en-US" sz="1500" dirty="0">
              <a:latin typeface="GT Walsheim Trial Lt" pitchFamily="2" charset="77"/>
            </a:endParaRPr>
          </a:p>
          <a:p>
            <a:pPr algn="l"/>
            <a:r>
              <a:rPr lang="en-US" sz="1500" b="1" dirty="0">
                <a:latin typeface="GT Walsheim Trial Lt" pitchFamily="2" charset="77"/>
              </a:rPr>
              <a:t>Department of Computer Science University of Miami </a:t>
            </a:r>
          </a:p>
          <a:p>
            <a:pPr algn="l"/>
            <a:r>
              <a:rPr lang="en-US" sz="1500" dirty="0">
                <a:latin typeface="GT Walsheim Trial Lt" pitchFamily="2" charset="77"/>
              </a:rPr>
              <a:t>CSC 642 · Spring 2026</a:t>
            </a:r>
          </a:p>
        </p:txBody>
      </p:sp>
      <p:sp>
        <p:nvSpPr>
          <p:cNvPr id="7" name="Title 3">
            <a:extLst>
              <a:ext uri="{FF2B5EF4-FFF2-40B4-BE49-F238E27FC236}">
                <a16:creationId xmlns:a16="http://schemas.microsoft.com/office/drawing/2014/main" id="{72DA9D78-DF8C-0660-96D9-51D808F0ED00}"/>
              </a:ext>
            </a:extLst>
          </p:cNvPr>
          <p:cNvSpPr txBox="1">
            <a:spLocks/>
          </p:cNvSpPr>
          <p:nvPr/>
        </p:nvSpPr>
        <p:spPr>
          <a:xfrm>
            <a:off x="716478" y="447821"/>
            <a:ext cx="2406732" cy="3693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500" dirty="0">
                <a:solidFill>
                  <a:srgbClr val="989DA2"/>
                </a:solidFill>
                <a:latin typeface="GT Walsheim Trial Rg" pitchFamily="2" charset="77"/>
              </a:rPr>
              <a:t>INTRO</a:t>
            </a:r>
          </a:p>
        </p:txBody>
      </p:sp>
      <p:pic>
        <p:nvPicPr>
          <p:cNvPr id="5" name="Picture 4">
            <a:extLst>
              <a:ext uri="{FF2B5EF4-FFF2-40B4-BE49-F238E27FC236}">
                <a16:creationId xmlns:a16="http://schemas.microsoft.com/office/drawing/2014/main" id="{B77B8B92-ED80-FBD4-B3FE-B0A9FED4E325}"/>
              </a:ext>
            </a:extLst>
          </p:cNvPr>
          <p:cNvPicPr>
            <a:picLocks noChangeAspect="1"/>
          </p:cNvPicPr>
          <p:nvPr/>
        </p:nvPicPr>
        <p:blipFill>
          <a:blip r:embed="rId4"/>
          <a:stretch>
            <a:fillRect/>
          </a:stretch>
        </p:blipFill>
        <p:spPr>
          <a:xfrm>
            <a:off x="8271717" y="2134183"/>
            <a:ext cx="5047322" cy="5591901"/>
          </a:xfrm>
          <a:prstGeom prst="rect">
            <a:avLst/>
          </a:prstGeom>
        </p:spPr>
      </p:pic>
    </p:spTree>
    <p:extLst>
      <p:ext uri="{BB962C8B-B14F-4D97-AF65-F5344CB8AC3E}">
        <p14:creationId xmlns:p14="http://schemas.microsoft.com/office/powerpoint/2010/main" val="35428377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AEB97-5D45-A841-4EFF-CDAAC0B95EF5}"/>
            </a:ext>
          </a:extLst>
        </p:cNvPr>
        <p:cNvGrpSpPr/>
        <p:nvPr/>
      </p:nvGrpSpPr>
      <p:grpSpPr>
        <a:xfrm>
          <a:off x="0" y="0"/>
          <a:ext cx="0" cy="0"/>
          <a:chOff x="0" y="0"/>
          <a:chExt cx="0" cy="0"/>
        </a:xfrm>
      </p:grpSpPr>
      <p:pic>
        <p:nvPicPr>
          <p:cNvPr id="1026" name="Picture 2" descr="Waymo Logo">
            <a:extLst>
              <a:ext uri="{FF2B5EF4-FFF2-40B4-BE49-F238E27FC236}">
                <a16:creationId xmlns:a16="http://schemas.microsoft.com/office/drawing/2014/main" id="{6B73BB8B-7F6B-CD32-507F-9683519764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378" y="425703"/>
            <a:ext cx="782903" cy="782903"/>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B5E77092-C168-5E0F-86BD-4C92F2357D03}"/>
              </a:ext>
            </a:extLst>
          </p:cNvPr>
          <p:cNvSpPr>
            <a:spLocks noGrp="1"/>
          </p:cNvSpPr>
          <p:nvPr>
            <p:ph type="ctrTitle"/>
          </p:nvPr>
        </p:nvSpPr>
        <p:spPr>
          <a:xfrm>
            <a:off x="716478" y="447821"/>
            <a:ext cx="2406732" cy="369333"/>
          </a:xfrm>
        </p:spPr>
        <p:txBody>
          <a:bodyPr>
            <a:normAutofit/>
          </a:bodyPr>
          <a:lstStyle/>
          <a:p>
            <a:pPr algn="l"/>
            <a:r>
              <a:rPr lang="en-US" sz="1500" dirty="0">
                <a:solidFill>
                  <a:srgbClr val="989DA2"/>
                </a:solidFill>
                <a:latin typeface="GT Walsheim Trial Rg" pitchFamily="2" charset="77"/>
              </a:rPr>
              <a:t>PROBLEM</a:t>
            </a:r>
          </a:p>
        </p:txBody>
      </p:sp>
      <p:pic>
        <p:nvPicPr>
          <p:cNvPr id="2052" name="Picture 4">
            <a:extLst>
              <a:ext uri="{FF2B5EF4-FFF2-40B4-BE49-F238E27FC236}">
                <a16:creationId xmlns:a16="http://schemas.microsoft.com/office/drawing/2014/main" id="{E4C636A6-82AD-B33D-61A0-3A8D8F6B18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70436" y="4880918"/>
            <a:ext cx="3721564" cy="197708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9A3918D-B312-8466-1504-C777366DF7C8}"/>
              </a:ext>
            </a:extLst>
          </p:cNvPr>
          <p:cNvSpPr txBox="1"/>
          <p:nvPr/>
        </p:nvSpPr>
        <p:spPr>
          <a:xfrm>
            <a:off x="716478" y="952090"/>
            <a:ext cx="6097978" cy="1169551"/>
          </a:xfrm>
          <a:prstGeom prst="rect">
            <a:avLst/>
          </a:prstGeom>
          <a:noFill/>
        </p:spPr>
        <p:txBody>
          <a:bodyPr wrap="square">
            <a:spAutoFit/>
          </a:bodyPr>
          <a:lstStyle/>
          <a:p>
            <a:r>
              <a:rPr lang="en-US" sz="3500" dirty="0">
                <a:latin typeface="GT Walsheim Trial Rg" pitchFamily="2" charset="77"/>
              </a:rPr>
              <a:t>The Long-Tail Problem in Autonomous Driving</a:t>
            </a:r>
          </a:p>
        </p:txBody>
      </p:sp>
      <p:sp>
        <p:nvSpPr>
          <p:cNvPr id="2" name="TextBox 1">
            <a:extLst>
              <a:ext uri="{FF2B5EF4-FFF2-40B4-BE49-F238E27FC236}">
                <a16:creationId xmlns:a16="http://schemas.microsoft.com/office/drawing/2014/main" id="{838A964F-48F4-B4E1-E1B0-BD8449744408}"/>
              </a:ext>
            </a:extLst>
          </p:cNvPr>
          <p:cNvSpPr txBox="1"/>
          <p:nvPr/>
        </p:nvSpPr>
        <p:spPr>
          <a:xfrm>
            <a:off x="868878" y="2567473"/>
            <a:ext cx="6196386" cy="3170099"/>
          </a:xfrm>
          <a:prstGeom prst="rect">
            <a:avLst/>
          </a:prstGeom>
          <a:noFill/>
        </p:spPr>
        <p:txBody>
          <a:bodyPr wrap="square">
            <a:spAutoFit/>
          </a:bodyPr>
          <a:lstStyle/>
          <a:p>
            <a:r>
              <a:rPr lang="en-US" sz="2000" dirty="0">
                <a:latin typeface="GT Walsheim Trial Th" pitchFamily="2" charset="77"/>
              </a:rPr>
              <a:t>Most driving is routine and predictable.</a:t>
            </a:r>
          </a:p>
          <a:p>
            <a:endParaRPr lang="en-US" sz="2000" dirty="0">
              <a:latin typeface="GT Walsheim Trial Th" pitchFamily="2" charset="77"/>
            </a:endParaRPr>
          </a:p>
          <a:p>
            <a:r>
              <a:rPr lang="en-US" sz="2000" dirty="0">
                <a:latin typeface="GT Walsheim Trial Rg" pitchFamily="2" charset="77"/>
              </a:rPr>
              <a:t>Safety-critical events are rare but risky:</a:t>
            </a:r>
          </a:p>
          <a:p>
            <a:endParaRPr lang="en-US" sz="2000" dirty="0">
              <a:latin typeface="GT Walsheim Trial Th" pitchFamily="2" charset="77"/>
            </a:endParaRPr>
          </a:p>
          <a:p>
            <a:endParaRPr lang="en-US" sz="2000" dirty="0">
              <a:latin typeface="GT Walsheim Trial Th" pitchFamily="2" charset="77"/>
            </a:endParaRPr>
          </a:p>
          <a:p>
            <a:endParaRPr lang="en-US" sz="2000" dirty="0">
              <a:latin typeface="GT Walsheim Trial Th" pitchFamily="2" charset="77"/>
            </a:endParaRPr>
          </a:p>
          <a:p>
            <a:endParaRPr lang="en-US" sz="2000" dirty="0">
              <a:latin typeface="GT Walsheim Trial Th" pitchFamily="2" charset="77"/>
            </a:endParaRPr>
          </a:p>
          <a:p>
            <a:endParaRPr lang="en-US" sz="2000" dirty="0">
              <a:latin typeface="GT Walsheim Trial Th" pitchFamily="2" charset="77"/>
            </a:endParaRPr>
          </a:p>
          <a:p>
            <a:r>
              <a:rPr lang="en-US" sz="2000" dirty="0">
                <a:latin typeface="GT Walsheim Trial Th" pitchFamily="2" charset="77"/>
              </a:rPr>
              <a:t>Anomaly data is scarce, and “danger” depends on context.</a:t>
            </a:r>
          </a:p>
        </p:txBody>
      </p:sp>
      <p:sp>
        <p:nvSpPr>
          <p:cNvPr id="3" name="Freeform 2">
            <a:extLst>
              <a:ext uri="{FF2B5EF4-FFF2-40B4-BE49-F238E27FC236}">
                <a16:creationId xmlns:a16="http://schemas.microsoft.com/office/drawing/2014/main" id="{FFF5F632-AB2B-5851-4C9F-220142F83551}"/>
              </a:ext>
            </a:extLst>
          </p:cNvPr>
          <p:cNvSpPr/>
          <p:nvPr/>
        </p:nvSpPr>
        <p:spPr>
          <a:xfrm rot="19378475">
            <a:off x="-4581419" y="96435"/>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418AF0A-F5B0-F1C8-D2D6-12CE961F5211}"/>
              </a:ext>
            </a:extLst>
          </p:cNvPr>
          <p:cNvSpPr txBox="1"/>
          <p:nvPr/>
        </p:nvSpPr>
        <p:spPr>
          <a:xfrm>
            <a:off x="2149401" y="3802540"/>
            <a:ext cx="4233123" cy="923330"/>
          </a:xfrm>
          <a:prstGeom prst="rect">
            <a:avLst/>
          </a:prstGeom>
          <a:noFill/>
        </p:spPr>
        <p:txBody>
          <a:bodyPr wrap="square">
            <a:spAutoFit/>
          </a:bodyPr>
          <a:lstStyle/>
          <a:p>
            <a:r>
              <a:rPr lang="en-US" sz="1800" dirty="0">
                <a:latin typeface="GT Walsheim Trial Th" pitchFamily="2" charset="77"/>
              </a:rPr>
              <a:t>Sudden braking or acceleration</a:t>
            </a:r>
          </a:p>
          <a:p>
            <a:r>
              <a:rPr lang="en-US" sz="1800" dirty="0">
                <a:latin typeface="GT Walsheim Trial Th" pitchFamily="2" charset="77"/>
              </a:rPr>
              <a:t>Jaywalking pedestrians</a:t>
            </a:r>
          </a:p>
          <a:p>
            <a:r>
              <a:rPr lang="en-US" sz="1800" dirty="0">
                <a:latin typeface="GT Walsheim Trial Th" pitchFamily="2" charset="77"/>
              </a:rPr>
              <a:t>Near-misses</a:t>
            </a:r>
          </a:p>
        </p:txBody>
      </p:sp>
      <p:pic>
        <p:nvPicPr>
          <p:cNvPr id="13" name="Picture 12">
            <a:extLst>
              <a:ext uri="{FF2B5EF4-FFF2-40B4-BE49-F238E27FC236}">
                <a16:creationId xmlns:a16="http://schemas.microsoft.com/office/drawing/2014/main" id="{51A4C917-F1D0-B8E8-F133-6554629EE8B7}"/>
              </a:ext>
            </a:extLst>
          </p:cNvPr>
          <p:cNvPicPr>
            <a:picLocks noChangeAspect="1"/>
          </p:cNvPicPr>
          <p:nvPr/>
        </p:nvPicPr>
        <p:blipFill>
          <a:blip r:embed="rId5"/>
          <a:stretch>
            <a:fillRect/>
          </a:stretch>
        </p:blipFill>
        <p:spPr>
          <a:xfrm>
            <a:off x="868879" y="3802541"/>
            <a:ext cx="912148" cy="923330"/>
          </a:xfrm>
          <a:prstGeom prst="rect">
            <a:avLst/>
          </a:prstGeom>
        </p:spPr>
      </p:pic>
    </p:spTree>
    <p:extLst>
      <p:ext uri="{BB962C8B-B14F-4D97-AF65-F5344CB8AC3E}">
        <p14:creationId xmlns:p14="http://schemas.microsoft.com/office/powerpoint/2010/main" val="2587833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7435626-9967-90C4-BA6C-EEE07BEC825E}"/>
            </a:ext>
          </a:extLst>
        </p:cNvPr>
        <p:cNvGrpSpPr/>
        <p:nvPr/>
      </p:nvGrpSpPr>
      <p:grpSpPr>
        <a:xfrm>
          <a:off x="0" y="0"/>
          <a:ext cx="0" cy="0"/>
          <a:chOff x="0" y="0"/>
          <a:chExt cx="0" cy="0"/>
        </a:xfrm>
      </p:grpSpPr>
      <p:sp>
        <p:nvSpPr>
          <p:cNvPr id="2" name="Freeform 1">
            <a:extLst>
              <a:ext uri="{FF2B5EF4-FFF2-40B4-BE49-F238E27FC236}">
                <a16:creationId xmlns:a16="http://schemas.microsoft.com/office/drawing/2014/main" id="{2D7D061C-6FCC-F08D-4061-3B26691D1FFF}"/>
              </a:ext>
            </a:extLst>
          </p:cNvPr>
          <p:cNvSpPr/>
          <p:nvPr/>
        </p:nvSpPr>
        <p:spPr>
          <a:xfrm>
            <a:off x="-2930419" y="731435"/>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6" name="Table 15">
            <a:extLst>
              <a:ext uri="{FF2B5EF4-FFF2-40B4-BE49-F238E27FC236}">
                <a16:creationId xmlns:a16="http://schemas.microsoft.com/office/drawing/2014/main" id="{2B538EF2-B772-6D93-57AA-3A176BBD0D72}"/>
              </a:ext>
            </a:extLst>
          </p:cNvPr>
          <p:cNvGraphicFramePr>
            <a:graphicFrameLocks noGrp="1"/>
          </p:cNvGraphicFramePr>
          <p:nvPr>
            <p:extLst>
              <p:ext uri="{D42A27DB-BD31-4B8C-83A1-F6EECF244321}">
                <p14:modId xmlns:p14="http://schemas.microsoft.com/office/powerpoint/2010/main" val="2528568666"/>
              </p:ext>
            </p:extLst>
          </p:nvPr>
        </p:nvGraphicFramePr>
        <p:xfrm>
          <a:off x="786384" y="3382466"/>
          <a:ext cx="10806444" cy="2348534"/>
        </p:xfrm>
        <a:graphic>
          <a:graphicData uri="http://schemas.openxmlformats.org/drawingml/2006/table">
            <a:tbl>
              <a:tblPr firstRow="1" bandRow="1">
                <a:tableStyleId>{073A0DAA-6AF3-43AB-8588-CEC1D06C72B9}</a:tableStyleId>
              </a:tblPr>
              <a:tblGrid>
                <a:gridCol w="5550583">
                  <a:extLst>
                    <a:ext uri="{9D8B030D-6E8A-4147-A177-3AD203B41FA5}">
                      <a16:colId xmlns:a16="http://schemas.microsoft.com/office/drawing/2014/main" val="1610543496"/>
                    </a:ext>
                  </a:extLst>
                </a:gridCol>
                <a:gridCol w="5255861">
                  <a:extLst>
                    <a:ext uri="{9D8B030D-6E8A-4147-A177-3AD203B41FA5}">
                      <a16:colId xmlns:a16="http://schemas.microsoft.com/office/drawing/2014/main" val="2940384537"/>
                    </a:ext>
                  </a:extLst>
                </a:gridCol>
              </a:tblGrid>
              <a:tr h="650040">
                <a:tc>
                  <a:txBody>
                    <a:bodyPr/>
                    <a:lstStyle/>
                    <a:p>
                      <a:r>
                        <a:rPr lang="en-US" sz="2500" b="0" i="0" dirty="0">
                          <a:solidFill>
                            <a:schemeClr val="bg1"/>
                          </a:solidFill>
                          <a:latin typeface="GT Walsheim Trial Rg" pitchFamily="2" charset="77"/>
                        </a:rPr>
                        <a:t>Goal 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2500" b="0" i="0" dirty="0">
                          <a:solidFill>
                            <a:schemeClr val="bg1"/>
                          </a:solidFill>
                          <a:latin typeface="GT Walsheim Trial Rg" pitchFamily="2" charset="77"/>
                        </a:rPr>
                        <a:t>Goal 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E9A0"/>
                    </a:solidFill>
                  </a:tcPr>
                </a:tc>
                <a:extLst>
                  <a:ext uri="{0D108BD9-81ED-4DB2-BD59-A6C34878D82A}">
                    <a16:rowId xmlns:a16="http://schemas.microsoft.com/office/drawing/2014/main" val="4220759275"/>
                  </a:ext>
                </a:extLst>
              </a:tr>
              <a:tr h="1698494">
                <a:tc>
                  <a:txBody>
                    <a:bodyPr/>
                    <a:lstStyle/>
                    <a:p>
                      <a:r>
                        <a:rPr lang="en-US" sz="2500" b="0" dirty="0">
                          <a:solidFill>
                            <a:schemeClr val="bg1"/>
                          </a:solidFill>
                        </a:rPr>
                        <a:t>Detect anomalous agents from kinematics alone — no labels</a:t>
                      </a:r>
                      <a:endParaRPr lang="en-US" sz="2500" b="0" i="0" dirty="0">
                        <a:solidFill>
                          <a:schemeClr val="bg1"/>
                        </a:solidFill>
                        <a:latin typeface="GT Walsheim Trial Rg" pitchFamily="2" charset="77"/>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2500" b="0" dirty="0">
                          <a:solidFill>
                            <a:schemeClr val="bg1"/>
                          </a:solidFill>
                        </a:rPr>
                        <a:t>Predict 5-second future displacement from current kinematic state</a:t>
                      </a:r>
                      <a:endParaRPr lang="en-US" sz="2500" b="0" i="0" dirty="0">
                        <a:solidFill>
                          <a:schemeClr val="bg1"/>
                        </a:solidFill>
                        <a:latin typeface="GT Walsheim Trial Rg" pitchFamily="2" charset="77"/>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E9A0"/>
                    </a:solidFill>
                  </a:tcPr>
                </a:tc>
                <a:extLst>
                  <a:ext uri="{0D108BD9-81ED-4DB2-BD59-A6C34878D82A}">
                    <a16:rowId xmlns:a16="http://schemas.microsoft.com/office/drawing/2014/main" val="4152326013"/>
                  </a:ext>
                </a:extLst>
              </a:tr>
            </a:tbl>
          </a:graphicData>
        </a:graphic>
      </p:graphicFrame>
      <p:pic>
        <p:nvPicPr>
          <p:cNvPr id="4102" name="Picture 6" descr="Our Trademarks">
            <a:extLst>
              <a:ext uri="{FF2B5EF4-FFF2-40B4-BE49-F238E27FC236}">
                <a16:creationId xmlns:a16="http://schemas.microsoft.com/office/drawing/2014/main" id="{4C86D87E-65A4-3B6A-7810-E597341110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0831" y="411156"/>
            <a:ext cx="811996" cy="811996"/>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5A8E7D96-496D-CBB3-6118-7D000C06BDA2}"/>
              </a:ext>
            </a:extLst>
          </p:cNvPr>
          <p:cNvSpPr>
            <a:spLocks noGrp="1"/>
          </p:cNvSpPr>
          <p:nvPr>
            <p:ph type="ctrTitle"/>
          </p:nvPr>
        </p:nvSpPr>
        <p:spPr>
          <a:xfrm>
            <a:off x="716478" y="447821"/>
            <a:ext cx="2406732" cy="369333"/>
          </a:xfrm>
        </p:spPr>
        <p:txBody>
          <a:bodyPr>
            <a:normAutofit/>
          </a:bodyPr>
          <a:lstStyle/>
          <a:p>
            <a:pPr algn="l"/>
            <a:r>
              <a:rPr lang="en-US" sz="1500" dirty="0">
                <a:solidFill>
                  <a:schemeClr val="bg1">
                    <a:lumMod val="50000"/>
                  </a:schemeClr>
                </a:solidFill>
                <a:latin typeface="GT Walsheim Trial Rg" pitchFamily="2" charset="77"/>
              </a:rPr>
              <a:t>MOTIVATION</a:t>
            </a:r>
          </a:p>
        </p:txBody>
      </p:sp>
      <p:sp>
        <p:nvSpPr>
          <p:cNvPr id="9" name="TextBox 8">
            <a:extLst>
              <a:ext uri="{FF2B5EF4-FFF2-40B4-BE49-F238E27FC236}">
                <a16:creationId xmlns:a16="http://schemas.microsoft.com/office/drawing/2014/main" id="{E046777D-25C7-5B43-733F-E04B67AF23CB}"/>
              </a:ext>
            </a:extLst>
          </p:cNvPr>
          <p:cNvSpPr txBox="1"/>
          <p:nvPr/>
        </p:nvSpPr>
        <p:spPr>
          <a:xfrm>
            <a:off x="716477" y="2268582"/>
            <a:ext cx="6419437" cy="707886"/>
          </a:xfrm>
          <a:prstGeom prst="rect">
            <a:avLst/>
          </a:prstGeom>
          <a:noFill/>
        </p:spPr>
        <p:txBody>
          <a:bodyPr wrap="square">
            <a:spAutoFit/>
          </a:bodyPr>
          <a:lstStyle/>
          <a:p>
            <a:r>
              <a:rPr lang="en-US" sz="2000" dirty="0">
                <a:solidFill>
                  <a:schemeClr val="bg1"/>
                </a:solidFill>
                <a:latin typeface="GT Walsheim Trial Lt" pitchFamily="2" charset="77"/>
              </a:rPr>
              <a:t>Unsupervised learning lets the data define normal — and flags what falls outside.</a:t>
            </a:r>
          </a:p>
        </p:txBody>
      </p:sp>
      <p:grpSp>
        <p:nvGrpSpPr>
          <p:cNvPr id="11" name="Group 10">
            <a:extLst>
              <a:ext uri="{FF2B5EF4-FFF2-40B4-BE49-F238E27FC236}">
                <a16:creationId xmlns:a16="http://schemas.microsoft.com/office/drawing/2014/main" id="{9954336C-71C6-F898-E339-0C59351E3331}"/>
              </a:ext>
            </a:extLst>
          </p:cNvPr>
          <p:cNvGrpSpPr/>
          <p:nvPr/>
        </p:nvGrpSpPr>
        <p:grpSpPr>
          <a:xfrm>
            <a:off x="786383" y="5561837"/>
            <a:ext cx="10806445" cy="848342"/>
            <a:chOff x="-6677360" y="5718464"/>
            <a:chExt cx="10876352" cy="848342"/>
          </a:xfrm>
        </p:grpSpPr>
        <p:sp>
          <p:nvSpPr>
            <p:cNvPr id="13" name="Rectangle 12">
              <a:extLst>
                <a:ext uri="{FF2B5EF4-FFF2-40B4-BE49-F238E27FC236}">
                  <a16:creationId xmlns:a16="http://schemas.microsoft.com/office/drawing/2014/main" id="{BB51C987-572B-CC5E-A99A-C9F2E5407627}"/>
                </a:ext>
              </a:extLst>
            </p:cNvPr>
            <p:cNvSpPr/>
            <p:nvPr/>
          </p:nvSpPr>
          <p:spPr>
            <a:xfrm>
              <a:off x="-583868" y="6039291"/>
              <a:ext cx="4782860" cy="448593"/>
            </a:xfrm>
            <a:prstGeom prst="rect">
              <a:avLst/>
            </a:prstGeom>
            <a:solidFill>
              <a:srgbClr val="02E8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B8BBA2C4-5ED3-5B90-FB16-91F9F60914F2}"/>
                </a:ext>
              </a:extLst>
            </p:cNvPr>
            <p:cNvSpPr/>
            <p:nvPr/>
          </p:nvSpPr>
          <p:spPr>
            <a:xfrm>
              <a:off x="-6677360" y="6039291"/>
              <a:ext cx="5546317" cy="448593"/>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a16="http://schemas.microsoft.com/office/drawing/2014/main" id="{2B2C8A67-6173-BDFC-CC77-AC0873EC9F5C}"/>
                </a:ext>
              </a:extLst>
            </p:cNvPr>
            <p:cNvPicPr>
              <a:picLocks noChangeAspect="1"/>
            </p:cNvPicPr>
            <p:nvPr/>
          </p:nvPicPr>
          <p:blipFill>
            <a:blip r:embed="rId4"/>
            <a:stretch>
              <a:fillRect/>
            </a:stretch>
          </p:blipFill>
          <p:spPr>
            <a:xfrm>
              <a:off x="-1678214" y="5718464"/>
              <a:ext cx="1391461" cy="848342"/>
            </a:xfrm>
            <a:prstGeom prst="rect">
              <a:avLst/>
            </a:prstGeom>
          </p:spPr>
        </p:pic>
      </p:grpSp>
      <p:sp>
        <p:nvSpPr>
          <p:cNvPr id="19" name="TextBox 18">
            <a:extLst>
              <a:ext uri="{FF2B5EF4-FFF2-40B4-BE49-F238E27FC236}">
                <a16:creationId xmlns:a16="http://schemas.microsoft.com/office/drawing/2014/main" id="{E30F2CB9-37A7-B97A-9790-30EA278CDFC2}"/>
              </a:ext>
            </a:extLst>
          </p:cNvPr>
          <p:cNvSpPr txBox="1"/>
          <p:nvPr/>
        </p:nvSpPr>
        <p:spPr>
          <a:xfrm>
            <a:off x="12034157" y="3624943"/>
            <a:ext cx="184731" cy="369332"/>
          </a:xfrm>
          <a:prstGeom prst="rect">
            <a:avLst/>
          </a:prstGeom>
          <a:noFill/>
        </p:spPr>
        <p:txBody>
          <a:bodyPr wrap="none" rtlCol="0">
            <a:spAutoFit/>
          </a:bodyPr>
          <a:lstStyle/>
          <a:p>
            <a:endParaRPr lang="en-US" dirty="0"/>
          </a:p>
        </p:txBody>
      </p:sp>
      <p:sp>
        <p:nvSpPr>
          <p:cNvPr id="20" name="TextBox 19">
            <a:extLst>
              <a:ext uri="{FF2B5EF4-FFF2-40B4-BE49-F238E27FC236}">
                <a16:creationId xmlns:a16="http://schemas.microsoft.com/office/drawing/2014/main" id="{524598DF-A7B7-722C-E6DE-E958717DAE2C}"/>
              </a:ext>
            </a:extLst>
          </p:cNvPr>
          <p:cNvSpPr txBox="1"/>
          <p:nvPr/>
        </p:nvSpPr>
        <p:spPr>
          <a:xfrm>
            <a:off x="716478" y="952090"/>
            <a:ext cx="6097978" cy="1169551"/>
          </a:xfrm>
          <a:prstGeom prst="rect">
            <a:avLst/>
          </a:prstGeom>
          <a:noFill/>
        </p:spPr>
        <p:txBody>
          <a:bodyPr wrap="square">
            <a:spAutoFit/>
          </a:bodyPr>
          <a:lstStyle/>
          <a:p>
            <a:r>
              <a:rPr lang="en-US" sz="3500" dirty="0">
                <a:solidFill>
                  <a:schemeClr val="bg1"/>
                </a:solidFill>
                <a:latin typeface="GT Walsheim Trial Rg" pitchFamily="2" charset="77"/>
              </a:rPr>
              <a:t>The Long-Tail Problem in Autonomous Driving</a:t>
            </a:r>
          </a:p>
        </p:txBody>
      </p:sp>
    </p:spTree>
    <p:extLst>
      <p:ext uri="{BB962C8B-B14F-4D97-AF65-F5344CB8AC3E}">
        <p14:creationId xmlns:p14="http://schemas.microsoft.com/office/powerpoint/2010/main" val="371059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9216D-B759-7121-1A50-BB44BAEF58BD}"/>
            </a:ext>
          </a:extLst>
        </p:cNvPr>
        <p:cNvGrpSpPr/>
        <p:nvPr/>
      </p:nvGrpSpPr>
      <p:grpSpPr>
        <a:xfrm>
          <a:off x="0" y="0"/>
          <a:ext cx="0" cy="0"/>
          <a:chOff x="0" y="0"/>
          <a:chExt cx="0" cy="0"/>
        </a:xfrm>
      </p:grpSpPr>
      <p:sp>
        <p:nvSpPr>
          <p:cNvPr id="2" name="Freeform 1">
            <a:extLst>
              <a:ext uri="{FF2B5EF4-FFF2-40B4-BE49-F238E27FC236}">
                <a16:creationId xmlns:a16="http://schemas.microsoft.com/office/drawing/2014/main" id="{568FC75A-02FA-BB25-0851-770322A46375}"/>
              </a:ext>
            </a:extLst>
          </p:cNvPr>
          <p:cNvSpPr/>
          <p:nvPr/>
        </p:nvSpPr>
        <p:spPr>
          <a:xfrm rot="7893553">
            <a:off x="-1472354" y="-459379"/>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Waymo Logo">
            <a:extLst>
              <a:ext uri="{FF2B5EF4-FFF2-40B4-BE49-F238E27FC236}">
                <a16:creationId xmlns:a16="http://schemas.microsoft.com/office/drawing/2014/main" id="{BF12FDF6-6561-91B6-CD70-422746B6BC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378" y="425703"/>
            <a:ext cx="782903" cy="782903"/>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7B762FE4-49BE-E4AA-E327-33235A9320E4}"/>
              </a:ext>
            </a:extLst>
          </p:cNvPr>
          <p:cNvSpPr>
            <a:spLocks noGrp="1"/>
          </p:cNvSpPr>
          <p:nvPr>
            <p:ph type="ctrTitle"/>
          </p:nvPr>
        </p:nvSpPr>
        <p:spPr>
          <a:xfrm>
            <a:off x="716478" y="447821"/>
            <a:ext cx="2406732" cy="369333"/>
          </a:xfrm>
        </p:spPr>
        <p:txBody>
          <a:bodyPr>
            <a:normAutofit/>
          </a:bodyPr>
          <a:lstStyle/>
          <a:p>
            <a:pPr algn="l"/>
            <a:r>
              <a:rPr lang="en-US" sz="1500" dirty="0">
                <a:solidFill>
                  <a:srgbClr val="989DA2"/>
                </a:solidFill>
                <a:latin typeface="GT Walsheim Trial Rg" pitchFamily="2" charset="77"/>
              </a:rPr>
              <a:t>RELATED WORK</a:t>
            </a:r>
          </a:p>
        </p:txBody>
      </p:sp>
      <p:sp>
        <p:nvSpPr>
          <p:cNvPr id="8" name="TextBox 7">
            <a:extLst>
              <a:ext uri="{FF2B5EF4-FFF2-40B4-BE49-F238E27FC236}">
                <a16:creationId xmlns:a16="http://schemas.microsoft.com/office/drawing/2014/main" id="{96EB75F2-8ED4-9142-7F47-88F132F05E9C}"/>
              </a:ext>
            </a:extLst>
          </p:cNvPr>
          <p:cNvSpPr txBox="1"/>
          <p:nvPr/>
        </p:nvSpPr>
        <p:spPr>
          <a:xfrm>
            <a:off x="716478" y="952090"/>
            <a:ext cx="6097978" cy="630942"/>
          </a:xfrm>
          <a:prstGeom prst="rect">
            <a:avLst/>
          </a:prstGeom>
          <a:noFill/>
        </p:spPr>
        <p:txBody>
          <a:bodyPr wrap="square">
            <a:spAutoFit/>
          </a:bodyPr>
          <a:lstStyle/>
          <a:p>
            <a:r>
              <a:rPr lang="en-US" sz="3500" dirty="0">
                <a:latin typeface="GT Walsheim Trial Rg" pitchFamily="2" charset="77"/>
              </a:rPr>
              <a:t>Where This Work Fits</a:t>
            </a:r>
          </a:p>
        </p:txBody>
      </p:sp>
      <p:graphicFrame>
        <p:nvGraphicFramePr>
          <p:cNvPr id="5" name="Table 4">
            <a:extLst>
              <a:ext uri="{FF2B5EF4-FFF2-40B4-BE49-F238E27FC236}">
                <a16:creationId xmlns:a16="http://schemas.microsoft.com/office/drawing/2014/main" id="{F34FDD3D-19EC-317A-14E1-D28EE4554BAB}"/>
              </a:ext>
            </a:extLst>
          </p:cNvPr>
          <p:cNvGraphicFramePr>
            <a:graphicFrameLocks noGrp="1"/>
          </p:cNvGraphicFramePr>
          <p:nvPr>
            <p:extLst>
              <p:ext uri="{D42A27DB-BD31-4B8C-83A1-F6EECF244321}">
                <p14:modId xmlns:p14="http://schemas.microsoft.com/office/powerpoint/2010/main" val="4073808013"/>
              </p:ext>
            </p:extLst>
          </p:nvPr>
        </p:nvGraphicFramePr>
        <p:xfrm>
          <a:off x="771836" y="1717968"/>
          <a:ext cx="10806445" cy="3456510"/>
        </p:xfrm>
        <a:graphic>
          <a:graphicData uri="http://schemas.openxmlformats.org/drawingml/2006/table">
            <a:tbl>
              <a:tblPr firstRow="1" bandRow="1">
                <a:tableStyleId>{073A0DAA-6AF3-43AB-8588-CEC1D06C72B9}</a:tableStyleId>
              </a:tblPr>
              <a:tblGrid>
                <a:gridCol w="1706321">
                  <a:extLst>
                    <a:ext uri="{9D8B030D-6E8A-4147-A177-3AD203B41FA5}">
                      <a16:colId xmlns:a16="http://schemas.microsoft.com/office/drawing/2014/main" val="1610543496"/>
                    </a:ext>
                  </a:extLst>
                </a:gridCol>
                <a:gridCol w="2649582">
                  <a:extLst>
                    <a:ext uri="{9D8B030D-6E8A-4147-A177-3AD203B41FA5}">
                      <a16:colId xmlns:a16="http://schemas.microsoft.com/office/drawing/2014/main" val="2940384537"/>
                    </a:ext>
                  </a:extLst>
                </a:gridCol>
                <a:gridCol w="3225271">
                  <a:extLst>
                    <a:ext uri="{9D8B030D-6E8A-4147-A177-3AD203B41FA5}">
                      <a16:colId xmlns:a16="http://schemas.microsoft.com/office/drawing/2014/main" val="3740313691"/>
                    </a:ext>
                  </a:extLst>
                </a:gridCol>
                <a:gridCol w="3225271">
                  <a:extLst>
                    <a:ext uri="{9D8B030D-6E8A-4147-A177-3AD203B41FA5}">
                      <a16:colId xmlns:a16="http://schemas.microsoft.com/office/drawing/2014/main" val="928774917"/>
                    </a:ext>
                  </a:extLst>
                </a:gridCol>
              </a:tblGrid>
              <a:tr h="307273">
                <a:tc>
                  <a:txBody>
                    <a:bodyPr/>
                    <a:lstStyle/>
                    <a:p>
                      <a:r>
                        <a:rPr lang="en-US" sz="1500" b="0" i="0" dirty="0">
                          <a:solidFill>
                            <a:schemeClr val="bg1"/>
                          </a:solidFill>
                          <a:latin typeface="GT Walsheim Trial Rg" pitchFamily="2" charset="77"/>
                        </a:rPr>
                        <a:t>Method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1500" b="0" i="0" dirty="0">
                          <a:solidFill>
                            <a:schemeClr val="bg1"/>
                          </a:solidFill>
                          <a:latin typeface="GT Walsheim Trial Rg" pitchFamily="2" charset="77"/>
                        </a:rPr>
                        <a:t>Type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1500" b="0" i="0" dirty="0">
                          <a:solidFill>
                            <a:schemeClr val="bg1"/>
                          </a:solidFill>
                          <a:latin typeface="GT Walsheim Trial Rg" pitchFamily="2" charset="77"/>
                        </a:rPr>
                        <a:t>Strength</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1500" b="0" i="0" dirty="0">
                          <a:solidFill>
                            <a:schemeClr val="bg1"/>
                          </a:solidFill>
                          <a:latin typeface="GT Walsheim Trial Rg" pitchFamily="2" charset="77"/>
                        </a:rPr>
                        <a:t>Limitation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extLst>
                  <a:ext uri="{0D108BD9-81ED-4DB2-BD59-A6C34878D82A}">
                    <a16:rowId xmlns:a16="http://schemas.microsoft.com/office/drawing/2014/main" val="4220759275"/>
                  </a:ext>
                </a:extLst>
              </a:tr>
              <a:tr h="627294">
                <a:tc>
                  <a:txBody>
                    <a:bodyPr/>
                    <a:lstStyle/>
                    <a:p>
                      <a:r>
                        <a:rPr lang="en-US" sz="1500" b="0" i="0" dirty="0">
                          <a:solidFill>
                            <a:schemeClr val="tx1"/>
                          </a:solidFill>
                          <a:latin typeface="GT Walsheim Trial Rg" pitchFamily="2" charset="77"/>
                        </a:rPr>
                        <a:t>Kalman Filter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Classical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Interpretable, fast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Linear dynamics only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52326013"/>
                  </a:ext>
                </a:extLst>
              </a:tr>
              <a:tr h="627294">
                <a:tc>
                  <a:txBody>
                    <a:bodyPr/>
                    <a:lstStyle/>
                    <a:p>
                      <a:r>
                        <a:rPr lang="en-US" sz="1500" b="0" i="0" dirty="0">
                          <a:solidFill>
                            <a:schemeClr val="tx1"/>
                          </a:solidFill>
                          <a:latin typeface="GT Walsheim Trial Rg" pitchFamily="2" charset="77"/>
                        </a:rPr>
                        <a:t>LSTM / GRU</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Deep learning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Captures sequences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Needs large labeled data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42999530"/>
                  </a:ext>
                </a:extLst>
              </a:tr>
              <a:tr h="627294">
                <a:tc>
                  <a:txBody>
                    <a:bodyPr/>
                    <a:lstStyle/>
                    <a:p>
                      <a:r>
                        <a:rPr lang="en-US" sz="1500" b="0" i="0" dirty="0">
                          <a:solidFill>
                            <a:schemeClr val="tx1"/>
                          </a:solidFill>
                          <a:latin typeface="GT Walsheim Trial Rg" pitchFamily="2" charset="77"/>
                        </a:rPr>
                        <a:t>Transformer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Deep learning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State-of-the-art accuracy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Black box, expensive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523425920"/>
                  </a:ext>
                </a:extLst>
              </a:tr>
              <a:tr h="627294">
                <a:tc>
                  <a:txBody>
                    <a:bodyPr/>
                    <a:lstStyle/>
                    <a:p>
                      <a:r>
                        <a:rPr lang="en-US" sz="1500" b="0" i="0" dirty="0">
                          <a:solidFill>
                            <a:schemeClr val="tx1"/>
                          </a:solidFill>
                          <a:latin typeface="GT Walsheim Trial Rg" pitchFamily="2" charset="77"/>
                        </a:rPr>
                        <a:t>One-Class SVM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Unsupervised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No labels needed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Kernel tuning sensitive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62120210"/>
                  </a:ext>
                </a:extLst>
              </a:tr>
              <a:tr h="627294">
                <a:tc>
                  <a:txBody>
                    <a:bodyPr/>
                    <a:lstStyle/>
                    <a:p>
                      <a:r>
                        <a:rPr lang="en-US" sz="1500" b="0" i="0" dirty="0">
                          <a:solidFill>
                            <a:schemeClr val="tx1"/>
                          </a:solidFill>
                          <a:latin typeface="GT Walsheim Trial Rg" pitchFamily="2" charset="77"/>
                        </a:rPr>
                        <a:t>Isolation Forest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E9A0"/>
                    </a:solidFill>
                  </a:tcPr>
                </a:tc>
                <a:tc>
                  <a:txBody>
                    <a:bodyPr/>
                    <a:lstStyle/>
                    <a:p>
                      <a:r>
                        <a:rPr lang="en-US" sz="1500" b="0" i="0" dirty="0">
                          <a:solidFill>
                            <a:schemeClr val="tx1"/>
                          </a:solidFill>
                          <a:latin typeface="GT Walsheim Trial Rg" pitchFamily="2" charset="77"/>
                        </a:rPr>
                        <a:t>Unsupervised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E9A0"/>
                    </a:solidFill>
                  </a:tcPr>
                </a:tc>
                <a:tc>
                  <a:txBody>
                    <a:bodyPr/>
                    <a:lstStyle/>
                    <a:p>
                      <a:r>
                        <a:rPr lang="en-US" sz="1500" b="0" i="0" dirty="0">
                          <a:solidFill>
                            <a:schemeClr val="tx1"/>
                          </a:solidFill>
                          <a:latin typeface="GT Walsheim Trial Rg" pitchFamily="2" charset="77"/>
                        </a:rPr>
                        <a:t>Scalable, minimal assumptions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E9A0"/>
                    </a:solidFill>
                  </a:tcPr>
                </a:tc>
                <a:tc>
                  <a:txBody>
                    <a:bodyPr/>
                    <a:lstStyle/>
                    <a:p>
                      <a:r>
                        <a:rPr lang="en-US" sz="1500" b="0" i="0" dirty="0">
                          <a:solidFill>
                            <a:schemeClr val="tx1"/>
                          </a:solidFill>
                          <a:latin typeface="GT Walsheim Trial Rg" pitchFamily="2" charset="77"/>
                        </a:rPr>
                        <a:t>No temporal context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E9A0"/>
                    </a:solidFill>
                  </a:tcPr>
                </a:tc>
                <a:extLst>
                  <a:ext uri="{0D108BD9-81ED-4DB2-BD59-A6C34878D82A}">
                    <a16:rowId xmlns:a16="http://schemas.microsoft.com/office/drawing/2014/main" val="2557333310"/>
                  </a:ext>
                </a:extLst>
              </a:tr>
            </a:tbl>
          </a:graphicData>
        </a:graphic>
      </p:graphicFrame>
      <p:sp>
        <p:nvSpPr>
          <p:cNvPr id="6" name="TextBox 5">
            <a:extLst>
              <a:ext uri="{FF2B5EF4-FFF2-40B4-BE49-F238E27FC236}">
                <a16:creationId xmlns:a16="http://schemas.microsoft.com/office/drawing/2014/main" id="{2A360C83-E23A-CC4E-2E57-6A4AB55E65DB}"/>
              </a:ext>
            </a:extLst>
          </p:cNvPr>
          <p:cNvSpPr txBox="1"/>
          <p:nvPr/>
        </p:nvSpPr>
        <p:spPr>
          <a:xfrm>
            <a:off x="716478" y="5536139"/>
            <a:ext cx="7623957" cy="784830"/>
          </a:xfrm>
          <a:prstGeom prst="rect">
            <a:avLst/>
          </a:prstGeom>
          <a:noFill/>
        </p:spPr>
        <p:txBody>
          <a:bodyPr wrap="square">
            <a:spAutoFit/>
          </a:bodyPr>
          <a:lstStyle/>
          <a:p>
            <a:r>
              <a:rPr lang="en-US" sz="1500" dirty="0">
                <a:latin typeface="GT Walsheim Trial Lt" pitchFamily="2" charset="77"/>
              </a:rPr>
              <a:t>Prior work on WOMD focuses on deep learning prediction.</a:t>
            </a:r>
          </a:p>
          <a:p>
            <a:r>
              <a:rPr lang="en-US" sz="1500" b="1" dirty="0">
                <a:latin typeface="GT Walsheim Trial Bd" pitchFamily="2" charset="77"/>
              </a:rPr>
              <a:t>Classical statistical baselines over the full agent population remain unexplored.</a:t>
            </a:r>
          </a:p>
          <a:p>
            <a:r>
              <a:rPr lang="en-US" sz="1500" dirty="0">
                <a:latin typeface="GT Walsheim Trial Lt" pitchFamily="2" charset="77"/>
              </a:rPr>
              <a:t>This work fills that gap.</a:t>
            </a:r>
          </a:p>
        </p:txBody>
      </p:sp>
    </p:spTree>
    <p:extLst>
      <p:ext uri="{BB962C8B-B14F-4D97-AF65-F5344CB8AC3E}">
        <p14:creationId xmlns:p14="http://schemas.microsoft.com/office/powerpoint/2010/main" val="34899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7EF3CE-B349-750D-AEF3-FB062EFB2EA1}"/>
            </a:ext>
          </a:extLst>
        </p:cNvPr>
        <p:cNvGrpSpPr/>
        <p:nvPr/>
      </p:nvGrpSpPr>
      <p:grpSpPr>
        <a:xfrm>
          <a:off x="0" y="0"/>
          <a:ext cx="0" cy="0"/>
          <a:chOff x="0" y="0"/>
          <a:chExt cx="0" cy="0"/>
        </a:xfrm>
      </p:grpSpPr>
      <p:sp>
        <p:nvSpPr>
          <p:cNvPr id="2" name="Freeform 1">
            <a:extLst>
              <a:ext uri="{FF2B5EF4-FFF2-40B4-BE49-F238E27FC236}">
                <a16:creationId xmlns:a16="http://schemas.microsoft.com/office/drawing/2014/main" id="{CE7C23C2-07A2-6551-4D7A-7CAD3813BAFD}"/>
              </a:ext>
            </a:extLst>
          </p:cNvPr>
          <p:cNvSpPr/>
          <p:nvPr/>
        </p:nvSpPr>
        <p:spPr>
          <a:xfrm rot="8995586">
            <a:off x="-3090074" y="76095"/>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Waymo Logo">
            <a:extLst>
              <a:ext uri="{FF2B5EF4-FFF2-40B4-BE49-F238E27FC236}">
                <a16:creationId xmlns:a16="http://schemas.microsoft.com/office/drawing/2014/main" id="{40C47094-3110-6329-3D5A-6109F9FE33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378" y="425703"/>
            <a:ext cx="782903" cy="782903"/>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7447FA41-D2A4-5935-55F7-1678A5C7A587}"/>
              </a:ext>
            </a:extLst>
          </p:cNvPr>
          <p:cNvSpPr>
            <a:spLocks noGrp="1"/>
          </p:cNvSpPr>
          <p:nvPr>
            <p:ph type="ctrTitle"/>
          </p:nvPr>
        </p:nvSpPr>
        <p:spPr>
          <a:xfrm>
            <a:off x="716478" y="447821"/>
            <a:ext cx="4429680" cy="369333"/>
          </a:xfrm>
        </p:spPr>
        <p:txBody>
          <a:bodyPr>
            <a:normAutofit/>
          </a:bodyPr>
          <a:lstStyle/>
          <a:p>
            <a:pPr algn="l"/>
            <a:r>
              <a:rPr lang="en-US" sz="1500" dirty="0">
                <a:solidFill>
                  <a:srgbClr val="989DA2"/>
                </a:solidFill>
                <a:latin typeface="GT Walsheim Trial Rg" pitchFamily="2" charset="77"/>
              </a:rPr>
              <a:t>RELATED WORK: REFERENCES</a:t>
            </a:r>
          </a:p>
        </p:txBody>
      </p:sp>
      <p:sp>
        <p:nvSpPr>
          <p:cNvPr id="8" name="TextBox 7">
            <a:extLst>
              <a:ext uri="{FF2B5EF4-FFF2-40B4-BE49-F238E27FC236}">
                <a16:creationId xmlns:a16="http://schemas.microsoft.com/office/drawing/2014/main" id="{8099D2D1-8A7A-E9DC-B982-E5E62EB44692}"/>
              </a:ext>
            </a:extLst>
          </p:cNvPr>
          <p:cNvSpPr txBox="1"/>
          <p:nvPr/>
        </p:nvSpPr>
        <p:spPr>
          <a:xfrm>
            <a:off x="716478" y="952090"/>
            <a:ext cx="6097978" cy="630942"/>
          </a:xfrm>
          <a:prstGeom prst="rect">
            <a:avLst/>
          </a:prstGeom>
          <a:noFill/>
        </p:spPr>
        <p:txBody>
          <a:bodyPr wrap="square">
            <a:spAutoFit/>
          </a:bodyPr>
          <a:lstStyle/>
          <a:p>
            <a:r>
              <a:rPr lang="en-US" sz="3500" dirty="0">
                <a:latin typeface="GT Walsheim Trial Rg" pitchFamily="2" charset="77"/>
              </a:rPr>
              <a:t>Reference</a:t>
            </a:r>
          </a:p>
        </p:txBody>
      </p:sp>
      <p:sp>
        <p:nvSpPr>
          <p:cNvPr id="7" name="TextBox 6">
            <a:extLst>
              <a:ext uri="{FF2B5EF4-FFF2-40B4-BE49-F238E27FC236}">
                <a16:creationId xmlns:a16="http://schemas.microsoft.com/office/drawing/2014/main" id="{6695EFDF-8AB6-08EB-7AFA-148A3C9AA947}"/>
              </a:ext>
            </a:extLst>
          </p:cNvPr>
          <p:cNvSpPr txBox="1"/>
          <p:nvPr/>
        </p:nvSpPr>
        <p:spPr>
          <a:xfrm>
            <a:off x="716479" y="1808979"/>
            <a:ext cx="7438170" cy="4478149"/>
          </a:xfrm>
          <a:prstGeom prst="rect">
            <a:avLst/>
          </a:prstGeom>
          <a:noFill/>
        </p:spPr>
        <p:txBody>
          <a:bodyPr wrap="square">
            <a:spAutoFit/>
          </a:bodyPr>
          <a:lstStyle/>
          <a:p>
            <a:pPr>
              <a:buNone/>
            </a:pPr>
            <a:r>
              <a:rPr lang="en-US" sz="1500" dirty="0">
                <a:effectLst/>
                <a:latin typeface="GT Walsheim Trial Rg" pitchFamily="2" charset="77"/>
              </a:rPr>
              <a:t>[1] M. A. Pimentel, D. A. Clifton, L. Clifton, and L. </a:t>
            </a:r>
            <a:r>
              <a:rPr lang="en-US" sz="1500" dirty="0" err="1">
                <a:effectLst/>
                <a:latin typeface="GT Walsheim Trial Rg" pitchFamily="2" charset="77"/>
              </a:rPr>
              <a:t>Tarassenko</a:t>
            </a:r>
            <a:r>
              <a:rPr lang="en-US" sz="1500" dirty="0">
                <a:effectLst/>
                <a:latin typeface="GT Walsheim Trial Rg" pitchFamily="2" charset="77"/>
              </a:rPr>
              <a:t>, “A review of novelty detection,” Signal Processing, vol. 99, pp. 215–249, 2014.</a:t>
            </a:r>
          </a:p>
          <a:p>
            <a:pPr>
              <a:buNone/>
            </a:pPr>
            <a:r>
              <a:rPr lang="en-US" sz="1500" dirty="0">
                <a:effectLst/>
                <a:latin typeface="GT Walsheim Trial Rg" pitchFamily="2" charset="77"/>
              </a:rPr>
              <a:t> S. Ettinger, S. Cheng, B. Caine, C. Liu, H. Zhao, S. Pradhan, Y. Chai, B. Sapp, C. R. Qi, Y. Zhou et al., “Waymo open dataset: Perception and prediction,” in Proceedings of the IEEE/CVF International Conference on Computer Vision, 2021, pp. 10 308–10 317.</a:t>
            </a:r>
          </a:p>
          <a:p>
            <a:pPr>
              <a:buNone/>
            </a:pPr>
            <a:r>
              <a:rPr lang="en-US" sz="1500" dirty="0">
                <a:effectLst/>
                <a:latin typeface="GT Walsheim Trial Rg" pitchFamily="2" charset="77"/>
              </a:rPr>
              <a:t>[2] F. T. Liu, K. M. Ting, and Z.-H. Zhou, “Isolation forest,” in 2008 Eighth IEEE International Conference on Data Mining. IEEE, 2008, pp. 413–422.</a:t>
            </a:r>
          </a:p>
          <a:p>
            <a:pPr>
              <a:buNone/>
            </a:pPr>
            <a:r>
              <a:rPr lang="en-US" sz="1500" dirty="0">
                <a:effectLst/>
                <a:latin typeface="GT Walsheim Trial Rg" pitchFamily="2" charset="77"/>
              </a:rPr>
              <a:t>[3] B. Sch¨ </a:t>
            </a:r>
            <a:r>
              <a:rPr lang="en-US" sz="1500" dirty="0" err="1">
                <a:effectLst/>
                <a:latin typeface="GT Walsheim Trial Rg" pitchFamily="2" charset="77"/>
              </a:rPr>
              <a:t>olkopf</a:t>
            </a:r>
            <a:r>
              <a:rPr lang="en-US" sz="1500" dirty="0">
                <a:effectLst/>
                <a:latin typeface="GT Walsheim Trial Rg" pitchFamily="2" charset="77"/>
              </a:rPr>
              <a:t>, J. C. Platt, J. Shawe-Taylor, A. J. Smola, and R. C. Williamson, “Estimating the support of a high-dimensional distribution,” Neural computation, vol. 13, no. 7, pp. 1443–1471, 2001.</a:t>
            </a:r>
          </a:p>
          <a:p>
            <a:pPr>
              <a:buNone/>
            </a:pPr>
            <a:r>
              <a:rPr lang="en-US" sz="1500" dirty="0">
                <a:effectLst/>
                <a:latin typeface="GT Walsheim Trial Rg" pitchFamily="2" charset="77"/>
              </a:rPr>
              <a:t>[4] P. Sun, H. Kretzschmar, X. </a:t>
            </a:r>
            <a:r>
              <a:rPr lang="en-US" sz="1500" dirty="0" err="1">
                <a:effectLst/>
                <a:latin typeface="GT Walsheim Trial Rg" pitchFamily="2" charset="77"/>
              </a:rPr>
              <a:t>Dotiwalla</a:t>
            </a:r>
            <a:r>
              <a:rPr lang="en-US" sz="1500" dirty="0">
                <a:effectLst/>
                <a:latin typeface="GT Walsheim Trial Rg" pitchFamily="2" charset="77"/>
              </a:rPr>
              <a:t>, A. </a:t>
            </a:r>
            <a:r>
              <a:rPr lang="en-US" sz="1500" dirty="0" err="1">
                <a:effectLst/>
                <a:latin typeface="GT Walsheim Trial Rg" pitchFamily="2" charset="77"/>
              </a:rPr>
              <a:t>Chouard</a:t>
            </a:r>
            <a:r>
              <a:rPr lang="en-US" sz="1500" dirty="0">
                <a:effectLst/>
                <a:latin typeface="GT Walsheim Trial Rg" pitchFamily="2" charset="77"/>
              </a:rPr>
              <a:t>, V. Patnaik, P. Tsui, J. Guo, Y. Zhou, Y. Chai, B. Caine et al., “Scalability in perception for autonomous driving: An academy-industry joint effort,” in Proceedings of the IEEE/CVF Conference on Computer Vision and Pattern Recognition, 2020, pp. 2448–2458.</a:t>
            </a:r>
          </a:p>
          <a:p>
            <a:pPr>
              <a:buNone/>
            </a:pPr>
            <a:r>
              <a:rPr lang="en-US" sz="1500" dirty="0">
                <a:latin typeface="GT Walsheim Trial Rg" pitchFamily="2" charset="77"/>
              </a:rPr>
              <a:t>[5] </a:t>
            </a:r>
            <a:r>
              <a:rPr lang="en-US" sz="1500" dirty="0">
                <a:effectLst/>
                <a:latin typeface="GT Walsheim Trial Rg" pitchFamily="2" charset="77"/>
              </a:rPr>
              <a:t>Y. Zhou, S. Ettinger, S. Cheng, B. Caine, C. Liu, S. Pradhan, B. Sapp, C. R. Qi, Y. Chai, T. Huang et al., “Waymo open motion dataset: A large-scale dataset for motion prediction in autonomous driving,” in Proceedings of the IEEE/CVF Conference on Computer Vision and Pattern Recognition, 2020, pp. 9710–9719</a:t>
            </a:r>
          </a:p>
        </p:txBody>
      </p:sp>
      <p:pic>
        <p:nvPicPr>
          <p:cNvPr id="10" name="Picture 9">
            <a:extLst>
              <a:ext uri="{FF2B5EF4-FFF2-40B4-BE49-F238E27FC236}">
                <a16:creationId xmlns:a16="http://schemas.microsoft.com/office/drawing/2014/main" id="{4674F6F5-0500-E260-D9C5-C1D86C9D33C0}"/>
              </a:ext>
            </a:extLst>
          </p:cNvPr>
          <p:cNvPicPr>
            <a:picLocks noChangeAspect="1"/>
          </p:cNvPicPr>
          <p:nvPr/>
        </p:nvPicPr>
        <p:blipFill>
          <a:blip r:embed="rId4"/>
          <a:stretch>
            <a:fillRect/>
          </a:stretch>
        </p:blipFill>
        <p:spPr>
          <a:xfrm rot="18972526">
            <a:off x="8536737" y="4634302"/>
            <a:ext cx="2363879" cy="1450527"/>
          </a:xfrm>
          <a:prstGeom prst="rect">
            <a:avLst/>
          </a:prstGeom>
        </p:spPr>
      </p:pic>
    </p:spTree>
    <p:extLst>
      <p:ext uri="{BB962C8B-B14F-4D97-AF65-F5344CB8AC3E}">
        <p14:creationId xmlns:p14="http://schemas.microsoft.com/office/powerpoint/2010/main" val="65819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99BC192-5576-CACC-462A-68BD190F2D20}"/>
            </a:ext>
          </a:extLst>
        </p:cNvPr>
        <p:cNvGrpSpPr/>
        <p:nvPr/>
      </p:nvGrpSpPr>
      <p:grpSpPr>
        <a:xfrm>
          <a:off x="0" y="0"/>
          <a:ext cx="0" cy="0"/>
          <a:chOff x="0" y="0"/>
          <a:chExt cx="0" cy="0"/>
        </a:xfrm>
      </p:grpSpPr>
      <p:sp>
        <p:nvSpPr>
          <p:cNvPr id="29" name="Freeform 28">
            <a:extLst>
              <a:ext uri="{FF2B5EF4-FFF2-40B4-BE49-F238E27FC236}">
                <a16:creationId xmlns:a16="http://schemas.microsoft.com/office/drawing/2014/main" id="{EF811BE5-10FC-A23D-B733-8D64D4799C78}"/>
              </a:ext>
            </a:extLst>
          </p:cNvPr>
          <p:cNvSpPr/>
          <p:nvPr/>
        </p:nvSpPr>
        <p:spPr>
          <a:xfrm>
            <a:off x="-2930419" y="731435"/>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5F33613-789F-68FD-A10B-870E4C2E5E81}"/>
              </a:ext>
            </a:extLst>
          </p:cNvPr>
          <p:cNvSpPr/>
          <p:nvPr/>
        </p:nvSpPr>
        <p:spPr>
          <a:xfrm rot="10800000">
            <a:off x="716469" y="4880713"/>
            <a:ext cx="4890877" cy="1316871"/>
          </a:xfrm>
          <a:prstGeom prst="rect">
            <a:avLst/>
          </a:prstGeom>
          <a:solidFill>
            <a:srgbClr val="00E9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DC8744DF-0E14-4729-83A3-2555BE74DF08}"/>
              </a:ext>
            </a:extLst>
          </p:cNvPr>
          <p:cNvSpPr>
            <a:spLocks noGrp="1"/>
          </p:cNvSpPr>
          <p:nvPr>
            <p:ph type="ctrTitle"/>
          </p:nvPr>
        </p:nvSpPr>
        <p:spPr>
          <a:xfrm>
            <a:off x="716478" y="447821"/>
            <a:ext cx="2406732" cy="369333"/>
          </a:xfrm>
        </p:spPr>
        <p:txBody>
          <a:bodyPr>
            <a:normAutofit/>
          </a:bodyPr>
          <a:lstStyle/>
          <a:p>
            <a:pPr algn="l"/>
            <a:r>
              <a:rPr lang="en-US" sz="1500" dirty="0">
                <a:solidFill>
                  <a:srgbClr val="989DA2"/>
                </a:solidFill>
                <a:latin typeface="GT Walsheim Trial Rg" pitchFamily="2" charset="77"/>
              </a:rPr>
              <a:t>DATASET &amp; PIPLINE</a:t>
            </a:r>
          </a:p>
        </p:txBody>
      </p:sp>
      <p:sp>
        <p:nvSpPr>
          <p:cNvPr id="8" name="TextBox 7">
            <a:extLst>
              <a:ext uri="{FF2B5EF4-FFF2-40B4-BE49-F238E27FC236}">
                <a16:creationId xmlns:a16="http://schemas.microsoft.com/office/drawing/2014/main" id="{9A4C1B2E-72FB-B260-E399-AE91F7FA7FE7}"/>
              </a:ext>
            </a:extLst>
          </p:cNvPr>
          <p:cNvSpPr txBox="1"/>
          <p:nvPr/>
        </p:nvSpPr>
        <p:spPr>
          <a:xfrm>
            <a:off x="716477" y="952090"/>
            <a:ext cx="7346867" cy="630942"/>
          </a:xfrm>
          <a:prstGeom prst="rect">
            <a:avLst/>
          </a:prstGeom>
          <a:noFill/>
        </p:spPr>
        <p:txBody>
          <a:bodyPr wrap="square">
            <a:spAutoFit/>
          </a:bodyPr>
          <a:lstStyle/>
          <a:p>
            <a:r>
              <a:rPr lang="en-US" sz="3500" dirty="0">
                <a:solidFill>
                  <a:schemeClr val="bg1"/>
                </a:solidFill>
                <a:latin typeface="GT Walsheim Trial Rg" pitchFamily="2" charset="77"/>
              </a:rPr>
              <a:t>Waymo Open Motion Dataset v1.3.1</a:t>
            </a:r>
          </a:p>
        </p:txBody>
      </p:sp>
      <p:sp>
        <p:nvSpPr>
          <p:cNvPr id="2" name="TextBox 1">
            <a:extLst>
              <a:ext uri="{FF2B5EF4-FFF2-40B4-BE49-F238E27FC236}">
                <a16:creationId xmlns:a16="http://schemas.microsoft.com/office/drawing/2014/main" id="{AF5135FE-E590-239C-0982-FF07DAD6A753}"/>
              </a:ext>
            </a:extLst>
          </p:cNvPr>
          <p:cNvSpPr txBox="1"/>
          <p:nvPr/>
        </p:nvSpPr>
        <p:spPr>
          <a:xfrm>
            <a:off x="716477" y="1653376"/>
            <a:ext cx="10861804" cy="400110"/>
          </a:xfrm>
          <a:prstGeom prst="rect">
            <a:avLst/>
          </a:prstGeom>
          <a:noFill/>
        </p:spPr>
        <p:txBody>
          <a:bodyPr wrap="square">
            <a:spAutoFit/>
          </a:bodyPr>
          <a:lstStyle/>
          <a:p>
            <a:r>
              <a:rPr lang="en-US" sz="2000" b="1" dirty="0">
                <a:solidFill>
                  <a:schemeClr val="bg1"/>
                </a:solidFill>
                <a:latin typeface="GT Walsheim Trial Lt" pitchFamily="2" charset="77"/>
              </a:rPr>
              <a:t>18,311 raw agent observations </a:t>
            </a:r>
            <a:r>
              <a:rPr lang="en-US" sz="2000" b="0" i="0" dirty="0">
                <a:solidFill>
                  <a:schemeClr val="bg1"/>
                </a:solidFill>
                <a:effectLst/>
                <a:latin typeface="GT Walsheim Trial Rg" pitchFamily="2" charset="77"/>
              </a:rPr>
              <a:t>— </a:t>
            </a:r>
            <a:r>
              <a:rPr lang="en-US" sz="2000" b="1" dirty="0">
                <a:solidFill>
                  <a:schemeClr val="bg1"/>
                </a:solidFill>
                <a:latin typeface="GT Walsheim Trial Lt" pitchFamily="2" charset="77"/>
              </a:rPr>
              <a:t>20 Hz object tracking </a:t>
            </a:r>
            <a:r>
              <a:rPr lang="en-US" sz="2000" b="0" i="0" dirty="0">
                <a:solidFill>
                  <a:schemeClr val="bg1"/>
                </a:solidFill>
                <a:effectLst/>
                <a:latin typeface="GT Walsheim Trial Rg" pitchFamily="2" charset="77"/>
              </a:rPr>
              <a:t>— </a:t>
            </a:r>
            <a:r>
              <a:rPr lang="en-US" sz="2000" b="1" dirty="0">
                <a:solidFill>
                  <a:schemeClr val="bg1"/>
                </a:solidFill>
                <a:latin typeface="GT Walsheim Trial Lt" pitchFamily="2" charset="77"/>
              </a:rPr>
              <a:t>20-second scenario segments</a:t>
            </a:r>
          </a:p>
        </p:txBody>
      </p:sp>
      <p:sp>
        <p:nvSpPr>
          <p:cNvPr id="7" name="Rectangle 6">
            <a:extLst>
              <a:ext uri="{FF2B5EF4-FFF2-40B4-BE49-F238E27FC236}">
                <a16:creationId xmlns:a16="http://schemas.microsoft.com/office/drawing/2014/main" id="{63B1D7EC-1CA7-6572-C738-03EBF46A6752}"/>
              </a:ext>
            </a:extLst>
          </p:cNvPr>
          <p:cNvSpPr/>
          <p:nvPr/>
        </p:nvSpPr>
        <p:spPr>
          <a:xfrm rot="5400000">
            <a:off x="427798" y="2591387"/>
            <a:ext cx="2411272" cy="1799543"/>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4E0D26C6-5B83-D274-92B8-C8D5027C3FBD}"/>
              </a:ext>
            </a:extLst>
          </p:cNvPr>
          <p:cNvSpPr/>
          <p:nvPr/>
        </p:nvSpPr>
        <p:spPr>
          <a:xfrm rot="5400000">
            <a:off x="2949458" y="2038904"/>
            <a:ext cx="2411272" cy="2904509"/>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E18DF5B-3BA6-FEA2-151C-766C411F8C25}"/>
              </a:ext>
            </a:extLst>
          </p:cNvPr>
          <p:cNvSpPr txBox="1"/>
          <p:nvPr/>
        </p:nvSpPr>
        <p:spPr>
          <a:xfrm>
            <a:off x="842014" y="3062593"/>
            <a:ext cx="1582840" cy="923330"/>
          </a:xfrm>
          <a:prstGeom prst="rect">
            <a:avLst/>
          </a:prstGeom>
          <a:noFill/>
        </p:spPr>
        <p:txBody>
          <a:bodyPr wrap="square">
            <a:spAutoFit/>
          </a:bodyPr>
          <a:lstStyle/>
          <a:p>
            <a:pPr algn="ctr">
              <a:buNone/>
            </a:pPr>
            <a:r>
              <a:rPr lang="en-US" b="0" i="0" dirty="0">
                <a:solidFill>
                  <a:schemeClr val="bg1"/>
                </a:solidFill>
                <a:effectLst/>
                <a:latin typeface="GT Walsheim Trial Rg" pitchFamily="2" charset="77"/>
              </a:rPr>
              <a:t>Waymo </a:t>
            </a:r>
          </a:p>
          <a:p>
            <a:pPr algn="ctr">
              <a:buNone/>
            </a:pPr>
            <a:r>
              <a:rPr lang="en-US" b="0" i="0" dirty="0">
                <a:solidFill>
                  <a:schemeClr val="bg1"/>
                </a:solidFill>
                <a:effectLst/>
                <a:latin typeface="GT Walsheim Trial Rg" pitchFamily="2" charset="77"/>
              </a:rPr>
              <a:t>GCS Bucket (TFRecords)</a:t>
            </a:r>
          </a:p>
        </p:txBody>
      </p:sp>
      <p:sp>
        <p:nvSpPr>
          <p:cNvPr id="14" name="TextBox 13">
            <a:extLst>
              <a:ext uri="{FF2B5EF4-FFF2-40B4-BE49-F238E27FC236}">
                <a16:creationId xmlns:a16="http://schemas.microsoft.com/office/drawing/2014/main" id="{307D8074-A78C-D935-403F-05021A7FD410}"/>
              </a:ext>
            </a:extLst>
          </p:cNvPr>
          <p:cNvSpPr txBox="1"/>
          <p:nvPr/>
        </p:nvSpPr>
        <p:spPr>
          <a:xfrm>
            <a:off x="2930520" y="2894563"/>
            <a:ext cx="2090853" cy="369332"/>
          </a:xfrm>
          <a:prstGeom prst="rect">
            <a:avLst/>
          </a:prstGeom>
          <a:noFill/>
        </p:spPr>
        <p:txBody>
          <a:bodyPr wrap="square">
            <a:spAutoFit/>
          </a:bodyPr>
          <a:lstStyle/>
          <a:p>
            <a:pPr>
              <a:buNone/>
            </a:pPr>
            <a:r>
              <a:rPr lang="en-US" dirty="0">
                <a:solidFill>
                  <a:schemeClr val="bg1"/>
                </a:solidFill>
                <a:effectLst/>
                <a:latin typeface="GT Walsheim Trial Md" pitchFamily="2" charset="77"/>
              </a:rPr>
              <a:t>Python Notebook</a:t>
            </a:r>
          </a:p>
        </p:txBody>
      </p:sp>
      <p:sp>
        <p:nvSpPr>
          <p:cNvPr id="15" name="TextBox 14">
            <a:extLst>
              <a:ext uri="{FF2B5EF4-FFF2-40B4-BE49-F238E27FC236}">
                <a16:creationId xmlns:a16="http://schemas.microsoft.com/office/drawing/2014/main" id="{6CE13089-0731-8EA9-E13B-909D5D04BC4B}"/>
              </a:ext>
            </a:extLst>
          </p:cNvPr>
          <p:cNvSpPr txBox="1"/>
          <p:nvPr/>
        </p:nvSpPr>
        <p:spPr>
          <a:xfrm>
            <a:off x="2930520" y="3320826"/>
            <a:ext cx="2515707" cy="1200329"/>
          </a:xfrm>
          <a:prstGeom prst="rect">
            <a:avLst/>
          </a:prstGeom>
          <a:noFill/>
        </p:spPr>
        <p:txBody>
          <a:bodyPr wrap="square">
            <a:spAutoFit/>
          </a:bodyPr>
          <a:lstStyle/>
          <a:p>
            <a:pPr>
              <a:buNone/>
            </a:pPr>
            <a:r>
              <a:rPr lang="en-US" i="0" dirty="0">
                <a:solidFill>
                  <a:schemeClr val="bg1"/>
                </a:solidFill>
                <a:effectLst/>
                <a:latin typeface="GT Walsheim Trial Rg" pitchFamily="2" charset="77"/>
              </a:rPr>
              <a:t>GCS authentication</a:t>
            </a:r>
          </a:p>
          <a:p>
            <a:pPr>
              <a:buNone/>
            </a:pPr>
            <a:r>
              <a:rPr lang="en-US" i="0" dirty="0">
                <a:solidFill>
                  <a:schemeClr val="bg1"/>
                </a:solidFill>
                <a:effectLst/>
                <a:latin typeface="GT Walsheim Trial Rg" pitchFamily="2" charset="77"/>
              </a:rPr>
              <a:t>Parse Scenario protos</a:t>
            </a:r>
          </a:p>
          <a:p>
            <a:pPr>
              <a:buNone/>
            </a:pPr>
            <a:r>
              <a:rPr lang="en-US" i="0" dirty="0">
                <a:solidFill>
                  <a:schemeClr val="bg1"/>
                </a:solidFill>
                <a:effectLst/>
                <a:latin typeface="GT Walsheim Trial Rg" pitchFamily="2" charset="77"/>
              </a:rPr>
              <a:t>Extract kinematics at  t = 0, t = -0.1s, t = +5s</a:t>
            </a:r>
          </a:p>
        </p:txBody>
      </p:sp>
      <p:sp>
        <p:nvSpPr>
          <p:cNvPr id="16" name="Rectangle 15">
            <a:extLst>
              <a:ext uri="{FF2B5EF4-FFF2-40B4-BE49-F238E27FC236}">
                <a16:creationId xmlns:a16="http://schemas.microsoft.com/office/drawing/2014/main" id="{F7FF29CB-B9A0-D774-8556-025972A6411F}"/>
              </a:ext>
            </a:extLst>
          </p:cNvPr>
          <p:cNvSpPr/>
          <p:nvPr/>
        </p:nvSpPr>
        <p:spPr>
          <a:xfrm rot="10800000">
            <a:off x="5843540" y="2277080"/>
            <a:ext cx="5734740" cy="78551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70A8CB1E-CA6D-B69B-4A23-51F6F650AA12}"/>
              </a:ext>
            </a:extLst>
          </p:cNvPr>
          <p:cNvSpPr txBox="1"/>
          <p:nvPr/>
        </p:nvSpPr>
        <p:spPr>
          <a:xfrm>
            <a:off x="7221516" y="2482739"/>
            <a:ext cx="2904508" cy="369332"/>
          </a:xfrm>
          <a:prstGeom prst="rect">
            <a:avLst/>
          </a:prstGeom>
          <a:noFill/>
        </p:spPr>
        <p:txBody>
          <a:bodyPr wrap="square">
            <a:spAutoFit/>
          </a:bodyPr>
          <a:lstStyle/>
          <a:p>
            <a:pPr algn="ctr">
              <a:buNone/>
            </a:pPr>
            <a:r>
              <a:rPr lang="en-US" b="0" i="0" dirty="0" err="1">
                <a:effectLst/>
                <a:latin typeface="GT Walsheim Trial Rg" pitchFamily="2" charset="77"/>
              </a:rPr>
              <a:t>waymo_final_dataset.csv</a:t>
            </a:r>
            <a:endParaRPr lang="en-US" b="0" i="0" dirty="0">
              <a:effectLst/>
              <a:latin typeface="GT Walsheim Trial Rg" pitchFamily="2" charset="77"/>
            </a:endParaRPr>
          </a:p>
        </p:txBody>
      </p:sp>
      <p:sp>
        <p:nvSpPr>
          <p:cNvPr id="18" name="Rectangle 17">
            <a:extLst>
              <a:ext uri="{FF2B5EF4-FFF2-40B4-BE49-F238E27FC236}">
                <a16:creationId xmlns:a16="http://schemas.microsoft.com/office/drawing/2014/main" id="{0371A77D-2D16-2B5A-2A9E-FB91657476D0}"/>
              </a:ext>
            </a:extLst>
          </p:cNvPr>
          <p:cNvSpPr/>
          <p:nvPr/>
        </p:nvSpPr>
        <p:spPr>
          <a:xfrm rot="5400000">
            <a:off x="7722035" y="1348383"/>
            <a:ext cx="1977748" cy="5734738"/>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96750D8F-67A1-98B2-A822-4BDFCE53DAA2}"/>
              </a:ext>
            </a:extLst>
          </p:cNvPr>
          <p:cNvSpPr txBox="1"/>
          <p:nvPr/>
        </p:nvSpPr>
        <p:spPr>
          <a:xfrm>
            <a:off x="6081505" y="3846420"/>
            <a:ext cx="2723250" cy="369332"/>
          </a:xfrm>
          <a:prstGeom prst="rect">
            <a:avLst/>
          </a:prstGeom>
          <a:noFill/>
        </p:spPr>
        <p:txBody>
          <a:bodyPr wrap="square">
            <a:spAutoFit/>
          </a:bodyPr>
          <a:lstStyle/>
          <a:p>
            <a:pPr>
              <a:buNone/>
            </a:pPr>
            <a:r>
              <a:rPr lang="en-US" b="0" i="0" dirty="0">
                <a:solidFill>
                  <a:schemeClr val="bg1"/>
                </a:solidFill>
                <a:effectLst/>
                <a:latin typeface="GT Walsheim Trial Rg" pitchFamily="2" charset="77"/>
              </a:rPr>
              <a:t>R —</a:t>
            </a:r>
            <a:r>
              <a:rPr lang="en-US" dirty="0">
                <a:solidFill>
                  <a:schemeClr val="bg1"/>
                </a:solidFill>
                <a:latin typeface="GT Walsheim Trial Rg" pitchFamily="2" charset="77"/>
              </a:rPr>
              <a:t> </a:t>
            </a:r>
            <a:r>
              <a:rPr lang="en-US" b="0" i="0" dirty="0">
                <a:solidFill>
                  <a:schemeClr val="bg1"/>
                </a:solidFill>
                <a:effectLst/>
                <a:latin typeface="GT Walsheim Trial Rg" pitchFamily="2" charset="77"/>
              </a:rPr>
              <a:t>Statistical Modeling</a:t>
            </a:r>
          </a:p>
        </p:txBody>
      </p:sp>
      <p:sp>
        <p:nvSpPr>
          <p:cNvPr id="20" name="TextBox 19">
            <a:extLst>
              <a:ext uri="{FF2B5EF4-FFF2-40B4-BE49-F238E27FC236}">
                <a16:creationId xmlns:a16="http://schemas.microsoft.com/office/drawing/2014/main" id="{21B762C7-DF74-D983-5BBB-B91A460C2CC7}"/>
              </a:ext>
            </a:extLst>
          </p:cNvPr>
          <p:cNvSpPr txBox="1"/>
          <p:nvPr/>
        </p:nvSpPr>
        <p:spPr>
          <a:xfrm>
            <a:off x="6081505" y="4268860"/>
            <a:ext cx="4421646" cy="646331"/>
          </a:xfrm>
          <a:prstGeom prst="rect">
            <a:avLst/>
          </a:prstGeom>
          <a:noFill/>
        </p:spPr>
        <p:txBody>
          <a:bodyPr wrap="square">
            <a:spAutoFit/>
          </a:bodyPr>
          <a:lstStyle/>
          <a:p>
            <a:pPr>
              <a:buNone/>
            </a:pPr>
            <a:r>
              <a:rPr lang="en-US" b="1" i="0" dirty="0">
                <a:solidFill>
                  <a:schemeClr val="bg1"/>
                </a:solidFill>
                <a:effectLst/>
                <a:latin typeface="GT Walsheim Trial Rg" pitchFamily="2" charset="77"/>
              </a:rPr>
              <a:t>Preprocessing → Anomaly Detection → Motion Prediction</a:t>
            </a:r>
            <a:endParaRPr lang="en-US" b="0" i="0" dirty="0">
              <a:solidFill>
                <a:schemeClr val="bg1"/>
              </a:solidFill>
              <a:effectLst/>
              <a:latin typeface="GT Walsheim Trial Rg" pitchFamily="2" charset="77"/>
            </a:endParaRPr>
          </a:p>
        </p:txBody>
      </p:sp>
      <p:sp>
        <p:nvSpPr>
          <p:cNvPr id="21" name="Rectangle 20">
            <a:extLst>
              <a:ext uri="{FF2B5EF4-FFF2-40B4-BE49-F238E27FC236}">
                <a16:creationId xmlns:a16="http://schemas.microsoft.com/office/drawing/2014/main" id="{D45C3F3C-74CB-A77D-4520-791C9D34E8BD}"/>
              </a:ext>
            </a:extLst>
          </p:cNvPr>
          <p:cNvSpPr/>
          <p:nvPr/>
        </p:nvSpPr>
        <p:spPr>
          <a:xfrm rot="10800000">
            <a:off x="716470" y="5368911"/>
            <a:ext cx="10861807" cy="835916"/>
          </a:xfrm>
          <a:prstGeom prst="rect">
            <a:avLst/>
          </a:prstGeom>
          <a:solidFill>
            <a:srgbClr val="00E9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758A5016-C08E-98B3-26B4-A2802863211D}"/>
              </a:ext>
            </a:extLst>
          </p:cNvPr>
          <p:cNvSpPr txBox="1"/>
          <p:nvPr/>
        </p:nvSpPr>
        <p:spPr>
          <a:xfrm>
            <a:off x="1826044" y="5405539"/>
            <a:ext cx="2904508" cy="369332"/>
          </a:xfrm>
          <a:prstGeom prst="rect">
            <a:avLst/>
          </a:prstGeom>
          <a:noFill/>
        </p:spPr>
        <p:txBody>
          <a:bodyPr wrap="square">
            <a:spAutoFit/>
          </a:bodyPr>
          <a:lstStyle/>
          <a:p>
            <a:pPr algn="ctr">
              <a:buNone/>
            </a:pPr>
            <a:r>
              <a:rPr lang="en-US" b="0" i="0" dirty="0">
                <a:effectLst/>
                <a:latin typeface="GT Walsheim Trial Rg" pitchFamily="2" charset="77"/>
              </a:rPr>
              <a:t>Results (Tables / Plots)</a:t>
            </a:r>
          </a:p>
        </p:txBody>
      </p:sp>
      <p:sp>
        <p:nvSpPr>
          <p:cNvPr id="12" name="TextBox 11">
            <a:extLst>
              <a:ext uri="{FF2B5EF4-FFF2-40B4-BE49-F238E27FC236}">
                <a16:creationId xmlns:a16="http://schemas.microsoft.com/office/drawing/2014/main" id="{89F526F9-F57F-C78A-0497-4A253585B117}"/>
              </a:ext>
            </a:extLst>
          </p:cNvPr>
          <p:cNvSpPr txBox="1"/>
          <p:nvPr/>
        </p:nvSpPr>
        <p:spPr>
          <a:xfrm>
            <a:off x="243204" y="2092251"/>
            <a:ext cx="1582840" cy="861774"/>
          </a:xfrm>
          <a:prstGeom prst="rect">
            <a:avLst/>
          </a:prstGeom>
          <a:noFill/>
        </p:spPr>
        <p:txBody>
          <a:bodyPr wrap="square">
            <a:spAutoFit/>
          </a:bodyPr>
          <a:lstStyle/>
          <a:p>
            <a:pPr algn="ctr">
              <a:buNone/>
            </a:pPr>
            <a:r>
              <a:rPr lang="en-US" sz="5000" dirty="0">
                <a:solidFill>
                  <a:schemeClr val="bg1">
                    <a:alpha val="20000"/>
                  </a:schemeClr>
                </a:solidFill>
                <a:latin typeface="GT Walsheim Trial Rg" pitchFamily="2" charset="77"/>
              </a:rPr>
              <a:t>01</a:t>
            </a:r>
            <a:endParaRPr lang="en-US" sz="5000" b="0" i="0" dirty="0">
              <a:solidFill>
                <a:schemeClr val="bg1">
                  <a:alpha val="20000"/>
                </a:schemeClr>
              </a:solidFill>
              <a:effectLst/>
              <a:latin typeface="GT Walsheim Trial Rg" pitchFamily="2" charset="77"/>
            </a:endParaRPr>
          </a:p>
        </p:txBody>
      </p:sp>
      <p:sp>
        <p:nvSpPr>
          <p:cNvPr id="13" name="TextBox 12">
            <a:extLst>
              <a:ext uri="{FF2B5EF4-FFF2-40B4-BE49-F238E27FC236}">
                <a16:creationId xmlns:a16="http://schemas.microsoft.com/office/drawing/2014/main" id="{98A5120A-2843-1FFE-7923-2B0862B5691F}"/>
              </a:ext>
            </a:extLst>
          </p:cNvPr>
          <p:cNvSpPr txBox="1"/>
          <p:nvPr/>
        </p:nvSpPr>
        <p:spPr>
          <a:xfrm>
            <a:off x="2267099" y="2099493"/>
            <a:ext cx="1582840" cy="861774"/>
          </a:xfrm>
          <a:prstGeom prst="rect">
            <a:avLst/>
          </a:prstGeom>
          <a:noFill/>
        </p:spPr>
        <p:txBody>
          <a:bodyPr wrap="square">
            <a:spAutoFit/>
          </a:bodyPr>
          <a:lstStyle/>
          <a:p>
            <a:pPr algn="ctr">
              <a:buNone/>
            </a:pPr>
            <a:r>
              <a:rPr lang="en-US" sz="5000" dirty="0">
                <a:solidFill>
                  <a:schemeClr val="bg1">
                    <a:alpha val="20000"/>
                  </a:schemeClr>
                </a:solidFill>
                <a:latin typeface="GT Walsheim Trial Rg" pitchFamily="2" charset="77"/>
              </a:rPr>
              <a:t>02</a:t>
            </a:r>
            <a:endParaRPr lang="en-US" sz="5000" b="0" i="0" dirty="0">
              <a:solidFill>
                <a:schemeClr val="bg1">
                  <a:alpha val="20000"/>
                </a:schemeClr>
              </a:solidFill>
              <a:effectLst/>
              <a:latin typeface="GT Walsheim Trial Rg" pitchFamily="2" charset="77"/>
            </a:endParaRPr>
          </a:p>
        </p:txBody>
      </p:sp>
      <p:sp>
        <p:nvSpPr>
          <p:cNvPr id="23" name="TextBox 22">
            <a:extLst>
              <a:ext uri="{FF2B5EF4-FFF2-40B4-BE49-F238E27FC236}">
                <a16:creationId xmlns:a16="http://schemas.microsoft.com/office/drawing/2014/main" id="{5C55AA3B-0B37-D055-C550-D536B15871AC}"/>
              </a:ext>
            </a:extLst>
          </p:cNvPr>
          <p:cNvSpPr txBox="1"/>
          <p:nvPr/>
        </p:nvSpPr>
        <p:spPr>
          <a:xfrm>
            <a:off x="5402485" y="2099493"/>
            <a:ext cx="1582840" cy="861774"/>
          </a:xfrm>
          <a:prstGeom prst="rect">
            <a:avLst/>
          </a:prstGeom>
          <a:noFill/>
        </p:spPr>
        <p:txBody>
          <a:bodyPr wrap="square">
            <a:spAutoFit/>
          </a:bodyPr>
          <a:lstStyle/>
          <a:p>
            <a:pPr algn="ctr">
              <a:buNone/>
            </a:pPr>
            <a:r>
              <a:rPr lang="en-US" sz="5000" dirty="0">
                <a:solidFill>
                  <a:schemeClr val="tx1">
                    <a:alpha val="5000"/>
                  </a:schemeClr>
                </a:solidFill>
                <a:latin typeface="GT Walsheim Trial Rg" pitchFamily="2" charset="77"/>
              </a:rPr>
              <a:t>03</a:t>
            </a:r>
            <a:endParaRPr lang="en-US" sz="5000" b="0" i="0" dirty="0">
              <a:solidFill>
                <a:schemeClr val="tx1">
                  <a:alpha val="5000"/>
                </a:schemeClr>
              </a:solidFill>
              <a:effectLst/>
              <a:latin typeface="GT Walsheim Trial Rg" pitchFamily="2" charset="77"/>
            </a:endParaRPr>
          </a:p>
        </p:txBody>
      </p:sp>
      <p:sp>
        <p:nvSpPr>
          <p:cNvPr id="25" name="TextBox 24">
            <a:extLst>
              <a:ext uri="{FF2B5EF4-FFF2-40B4-BE49-F238E27FC236}">
                <a16:creationId xmlns:a16="http://schemas.microsoft.com/office/drawing/2014/main" id="{D08567BA-74CD-E9BD-D382-9328F41BC61C}"/>
              </a:ext>
            </a:extLst>
          </p:cNvPr>
          <p:cNvSpPr txBox="1"/>
          <p:nvPr/>
        </p:nvSpPr>
        <p:spPr>
          <a:xfrm>
            <a:off x="5402485" y="3014375"/>
            <a:ext cx="1582840" cy="861774"/>
          </a:xfrm>
          <a:prstGeom prst="rect">
            <a:avLst/>
          </a:prstGeom>
          <a:noFill/>
        </p:spPr>
        <p:txBody>
          <a:bodyPr wrap="square">
            <a:spAutoFit/>
          </a:bodyPr>
          <a:lstStyle/>
          <a:p>
            <a:pPr algn="ctr">
              <a:buNone/>
            </a:pPr>
            <a:r>
              <a:rPr lang="en-US" sz="5000" dirty="0">
                <a:solidFill>
                  <a:schemeClr val="bg1">
                    <a:alpha val="20000"/>
                  </a:schemeClr>
                </a:solidFill>
                <a:latin typeface="GT Walsheim Trial Rg" pitchFamily="2" charset="77"/>
              </a:rPr>
              <a:t>04</a:t>
            </a:r>
            <a:endParaRPr lang="en-US" sz="5000" b="0" i="0" dirty="0">
              <a:solidFill>
                <a:schemeClr val="bg1">
                  <a:alpha val="20000"/>
                </a:schemeClr>
              </a:solidFill>
              <a:effectLst/>
              <a:latin typeface="GT Walsheim Trial Rg" pitchFamily="2" charset="77"/>
            </a:endParaRPr>
          </a:p>
        </p:txBody>
      </p:sp>
      <p:sp>
        <p:nvSpPr>
          <p:cNvPr id="26" name="TextBox 25">
            <a:extLst>
              <a:ext uri="{FF2B5EF4-FFF2-40B4-BE49-F238E27FC236}">
                <a16:creationId xmlns:a16="http://schemas.microsoft.com/office/drawing/2014/main" id="{2E8F2B63-2F27-CF63-85DB-DB6BF472F87C}"/>
              </a:ext>
            </a:extLst>
          </p:cNvPr>
          <p:cNvSpPr txBox="1"/>
          <p:nvPr/>
        </p:nvSpPr>
        <p:spPr>
          <a:xfrm>
            <a:off x="277042" y="4701431"/>
            <a:ext cx="1582840" cy="861774"/>
          </a:xfrm>
          <a:prstGeom prst="rect">
            <a:avLst/>
          </a:prstGeom>
          <a:noFill/>
        </p:spPr>
        <p:txBody>
          <a:bodyPr wrap="square">
            <a:spAutoFit/>
          </a:bodyPr>
          <a:lstStyle/>
          <a:p>
            <a:pPr algn="ctr">
              <a:buNone/>
            </a:pPr>
            <a:r>
              <a:rPr lang="en-US" sz="5000" dirty="0">
                <a:solidFill>
                  <a:schemeClr val="bg1">
                    <a:alpha val="30000"/>
                  </a:schemeClr>
                </a:solidFill>
                <a:latin typeface="GT Walsheim Trial Rg" pitchFamily="2" charset="77"/>
              </a:rPr>
              <a:t>05</a:t>
            </a:r>
            <a:endParaRPr lang="en-US" sz="5000" b="0" i="0" dirty="0">
              <a:solidFill>
                <a:schemeClr val="bg1">
                  <a:alpha val="30000"/>
                </a:schemeClr>
              </a:solidFill>
              <a:effectLst/>
              <a:latin typeface="GT Walsheim Trial Rg" pitchFamily="2" charset="77"/>
            </a:endParaRPr>
          </a:p>
        </p:txBody>
      </p:sp>
      <p:pic>
        <p:nvPicPr>
          <p:cNvPr id="28" name="Picture 6" descr="Our Trademarks">
            <a:extLst>
              <a:ext uri="{FF2B5EF4-FFF2-40B4-BE49-F238E27FC236}">
                <a16:creationId xmlns:a16="http://schemas.microsoft.com/office/drawing/2014/main" id="{5E9127DC-E0BF-246E-DFAD-95EB3D195F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0831" y="411156"/>
            <a:ext cx="811996" cy="81199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FF11A2A-EA04-CBEA-5259-2D7D1F89B0FD}"/>
              </a:ext>
            </a:extLst>
          </p:cNvPr>
          <p:cNvSpPr txBox="1"/>
          <p:nvPr/>
        </p:nvSpPr>
        <p:spPr>
          <a:xfrm>
            <a:off x="2014302" y="6400034"/>
            <a:ext cx="8266142" cy="323165"/>
          </a:xfrm>
          <a:prstGeom prst="rect">
            <a:avLst/>
          </a:prstGeom>
          <a:noFill/>
        </p:spPr>
        <p:txBody>
          <a:bodyPr wrap="square">
            <a:spAutoFit/>
          </a:bodyPr>
          <a:lstStyle/>
          <a:p>
            <a:pPr algn="ctr"/>
            <a:r>
              <a:rPr lang="en-US" sz="1500" dirty="0">
                <a:solidFill>
                  <a:schemeClr val="bg1">
                    <a:lumMod val="50000"/>
                  </a:schemeClr>
                </a:solidFill>
                <a:latin typeface="GT Walsheim Trial Rg" pitchFamily="2" charset="77"/>
              </a:rPr>
              <a:t>*Features extracted: Speed, Acceleration, Yaw Rate, </a:t>
            </a:r>
            <a:r>
              <a:rPr lang="en-US" sz="1500" dirty="0" err="1">
                <a:solidFill>
                  <a:schemeClr val="bg1">
                    <a:lumMod val="50000"/>
                  </a:schemeClr>
                </a:solidFill>
                <a:latin typeface="GT Walsheim Trial Rg" pitchFamily="2" charset="77"/>
              </a:rPr>
              <a:t>Vel_X</a:t>
            </a:r>
            <a:r>
              <a:rPr lang="en-US" sz="1500" dirty="0">
                <a:solidFill>
                  <a:schemeClr val="bg1">
                    <a:lumMod val="50000"/>
                  </a:schemeClr>
                </a:solidFill>
                <a:latin typeface="GT Walsheim Trial Rg" pitchFamily="2" charset="77"/>
              </a:rPr>
              <a:t>, </a:t>
            </a:r>
            <a:r>
              <a:rPr lang="en-US" sz="1500" dirty="0" err="1">
                <a:solidFill>
                  <a:schemeClr val="bg1">
                    <a:lumMod val="50000"/>
                  </a:schemeClr>
                </a:solidFill>
                <a:latin typeface="GT Walsheim Trial Rg" pitchFamily="2" charset="77"/>
              </a:rPr>
              <a:t>Vel_Y</a:t>
            </a:r>
            <a:r>
              <a:rPr lang="en-US" sz="1500" dirty="0">
                <a:solidFill>
                  <a:schemeClr val="bg1">
                    <a:lumMod val="50000"/>
                  </a:schemeClr>
                </a:solidFill>
                <a:latin typeface="GT Walsheim Trial Rg" pitchFamily="2" charset="77"/>
              </a:rPr>
              <a:t> Length, Width, FutureDist_5s</a:t>
            </a:r>
          </a:p>
        </p:txBody>
      </p:sp>
    </p:spTree>
    <p:extLst>
      <p:ext uri="{BB962C8B-B14F-4D97-AF65-F5344CB8AC3E}">
        <p14:creationId xmlns:p14="http://schemas.microsoft.com/office/powerpoint/2010/main" val="1027313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18335D-070D-E2CD-7974-1D934C6B410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3C362FE-26C6-9E59-253C-0E8E33DFB89E}"/>
              </a:ext>
            </a:extLst>
          </p:cNvPr>
          <p:cNvSpPr>
            <a:spLocks noGrp="1"/>
          </p:cNvSpPr>
          <p:nvPr>
            <p:ph type="ctrTitle"/>
          </p:nvPr>
        </p:nvSpPr>
        <p:spPr>
          <a:xfrm>
            <a:off x="716478" y="447821"/>
            <a:ext cx="3347522" cy="369333"/>
          </a:xfrm>
        </p:spPr>
        <p:txBody>
          <a:bodyPr>
            <a:normAutofit/>
          </a:bodyPr>
          <a:lstStyle/>
          <a:p>
            <a:pPr algn="l"/>
            <a:r>
              <a:rPr lang="en-US" sz="1500" dirty="0">
                <a:latin typeface="GT Walsheim Trial Rg" pitchFamily="2" charset="77"/>
              </a:rPr>
              <a:t>PART 1: DATASET STATISTICS</a:t>
            </a:r>
          </a:p>
        </p:txBody>
      </p:sp>
      <p:sp>
        <p:nvSpPr>
          <p:cNvPr id="8" name="TextBox 7">
            <a:extLst>
              <a:ext uri="{FF2B5EF4-FFF2-40B4-BE49-F238E27FC236}">
                <a16:creationId xmlns:a16="http://schemas.microsoft.com/office/drawing/2014/main" id="{AA0B286F-ACC4-E15E-FE10-F81A14DF3948}"/>
              </a:ext>
            </a:extLst>
          </p:cNvPr>
          <p:cNvSpPr txBox="1"/>
          <p:nvPr/>
        </p:nvSpPr>
        <p:spPr>
          <a:xfrm>
            <a:off x="716477" y="952090"/>
            <a:ext cx="7346867" cy="630942"/>
          </a:xfrm>
          <a:prstGeom prst="rect">
            <a:avLst/>
          </a:prstGeom>
          <a:noFill/>
        </p:spPr>
        <p:txBody>
          <a:bodyPr wrap="square">
            <a:spAutoFit/>
          </a:bodyPr>
          <a:lstStyle/>
          <a:p>
            <a:r>
              <a:rPr lang="en-US" sz="3500" dirty="0">
                <a:latin typeface="GT Walsheim Trial Rg" pitchFamily="2" charset="77"/>
              </a:rPr>
              <a:t>What the Data Looks Like</a:t>
            </a:r>
          </a:p>
        </p:txBody>
      </p:sp>
      <p:graphicFrame>
        <p:nvGraphicFramePr>
          <p:cNvPr id="3" name="Table 2">
            <a:extLst>
              <a:ext uri="{FF2B5EF4-FFF2-40B4-BE49-F238E27FC236}">
                <a16:creationId xmlns:a16="http://schemas.microsoft.com/office/drawing/2014/main" id="{6E5ED46D-9A9D-45B4-50C0-E4B617433E8C}"/>
              </a:ext>
            </a:extLst>
          </p:cNvPr>
          <p:cNvGraphicFramePr>
            <a:graphicFrameLocks noGrp="1"/>
          </p:cNvGraphicFramePr>
          <p:nvPr>
            <p:extLst>
              <p:ext uri="{D42A27DB-BD31-4B8C-83A1-F6EECF244321}">
                <p14:modId xmlns:p14="http://schemas.microsoft.com/office/powerpoint/2010/main" val="3111455078"/>
              </p:ext>
            </p:extLst>
          </p:nvPr>
        </p:nvGraphicFramePr>
        <p:xfrm>
          <a:off x="716478" y="1932132"/>
          <a:ext cx="5117164" cy="2247981"/>
        </p:xfrm>
        <a:graphic>
          <a:graphicData uri="http://schemas.openxmlformats.org/drawingml/2006/table">
            <a:tbl>
              <a:tblPr firstRow="1" bandRow="1">
                <a:tableStyleId>{073A0DAA-6AF3-43AB-8588-CEC1D06C72B9}</a:tableStyleId>
              </a:tblPr>
              <a:tblGrid>
                <a:gridCol w="1671122">
                  <a:extLst>
                    <a:ext uri="{9D8B030D-6E8A-4147-A177-3AD203B41FA5}">
                      <a16:colId xmlns:a16="http://schemas.microsoft.com/office/drawing/2014/main" val="1610543496"/>
                    </a:ext>
                  </a:extLst>
                </a:gridCol>
                <a:gridCol w="1253067">
                  <a:extLst>
                    <a:ext uri="{9D8B030D-6E8A-4147-A177-3AD203B41FA5}">
                      <a16:colId xmlns:a16="http://schemas.microsoft.com/office/drawing/2014/main" val="2940384537"/>
                    </a:ext>
                  </a:extLst>
                </a:gridCol>
                <a:gridCol w="2192975">
                  <a:extLst>
                    <a:ext uri="{9D8B030D-6E8A-4147-A177-3AD203B41FA5}">
                      <a16:colId xmlns:a16="http://schemas.microsoft.com/office/drawing/2014/main" val="3740313691"/>
                    </a:ext>
                  </a:extLst>
                </a:gridCol>
              </a:tblGrid>
              <a:tr h="334565">
                <a:tc>
                  <a:txBody>
                    <a:bodyPr/>
                    <a:lstStyle/>
                    <a:p>
                      <a:r>
                        <a:rPr lang="en-US" sz="1500" b="0" i="0" dirty="0">
                          <a:solidFill>
                            <a:schemeClr val="bg1"/>
                          </a:solidFill>
                          <a:latin typeface="GT Walsheim Trial Rg" pitchFamily="2" charset="77"/>
                        </a:rPr>
                        <a:t>Agent Type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1500" b="0" i="0" dirty="0">
                          <a:solidFill>
                            <a:schemeClr val="bg1"/>
                          </a:solidFill>
                          <a:latin typeface="GT Walsheim Trial Rg" pitchFamily="2" charset="77"/>
                        </a:rPr>
                        <a:t>Count (raw)</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1500" b="0" i="0" dirty="0">
                          <a:solidFill>
                            <a:schemeClr val="bg1"/>
                          </a:solidFill>
                          <a:latin typeface="GT Walsheim Trial Rg" pitchFamily="2" charset="77"/>
                        </a:rPr>
                        <a:t>After preprocessing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extLst>
                  <a:ext uri="{0D108BD9-81ED-4DB2-BD59-A6C34878D82A}">
                    <a16:rowId xmlns:a16="http://schemas.microsoft.com/office/drawing/2014/main" val="4220759275"/>
                  </a:ext>
                </a:extLst>
              </a:tr>
              <a:tr h="446626">
                <a:tc>
                  <a:txBody>
                    <a:bodyPr/>
                    <a:lstStyle/>
                    <a:p>
                      <a:r>
                        <a:rPr lang="en-US" sz="1500" b="0" i="0" dirty="0">
                          <a:solidFill>
                            <a:schemeClr val="tx1"/>
                          </a:solidFill>
                          <a:latin typeface="GT Walsheim Trial Rg" pitchFamily="2" charset="77"/>
                        </a:rPr>
                        <a:t>Vehicle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majority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included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52326013"/>
                  </a:ext>
                </a:extLst>
              </a:tr>
              <a:tr h="446626">
                <a:tc>
                  <a:txBody>
                    <a:bodyPr/>
                    <a:lstStyle/>
                    <a:p>
                      <a:r>
                        <a:rPr lang="en-US" sz="1500" b="0" i="0" dirty="0">
                          <a:solidFill>
                            <a:schemeClr val="tx1"/>
                          </a:solidFill>
                          <a:latin typeface="GT Walsheim Trial Rg" pitchFamily="2" charset="77"/>
                        </a:rPr>
                        <a:t>Pedestrian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~25%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included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42999530"/>
                  </a:ext>
                </a:extLst>
              </a:tr>
              <a:tr h="446626">
                <a:tc>
                  <a:txBody>
                    <a:bodyPr/>
                    <a:lstStyle/>
                    <a:p>
                      <a:r>
                        <a:rPr lang="en-US" sz="1500" b="0" i="0" dirty="0">
                          <a:solidFill>
                            <a:schemeClr val="tx1"/>
                          </a:solidFill>
                          <a:latin typeface="GT Walsheim Trial Rg" pitchFamily="2" charset="77"/>
                        </a:rPr>
                        <a:t>Cyclist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included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523425920"/>
                  </a:ext>
                </a:extLst>
              </a:tr>
              <a:tr h="573538">
                <a:tc>
                  <a:txBody>
                    <a:bodyPr/>
                    <a:lstStyle/>
                    <a:p>
                      <a:r>
                        <a:rPr lang="en-US" sz="1500" b="0" i="0" dirty="0">
                          <a:solidFill>
                            <a:schemeClr val="tx1"/>
                          </a:solidFill>
                          <a:latin typeface="GT Walsheim Trial Rg" pitchFamily="2" charset="77"/>
                        </a:rPr>
                        <a:t>SDC (AV itself)</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removed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excluded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62120210"/>
                  </a:ext>
                </a:extLst>
              </a:tr>
            </a:tbl>
          </a:graphicData>
        </a:graphic>
      </p:graphicFrame>
      <p:pic>
        <p:nvPicPr>
          <p:cNvPr id="13" name="Picture 12">
            <a:extLst>
              <a:ext uri="{FF2B5EF4-FFF2-40B4-BE49-F238E27FC236}">
                <a16:creationId xmlns:a16="http://schemas.microsoft.com/office/drawing/2014/main" id="{9505BAAA-21BA-2316-4D5C-506901CAEEDA}"/>
              </a:ext>
            </a:extLst>
          </p:cNvPr>
          <p:cNvPicPr>
            <a:picLocks noChangeAspect="1"/>
          </p:cNvPicPr>
          <p:nvPr/>
        </p:nvPicPr>
        <p:blipFill>
          <a:blip r:embed="rId3"/>
          <a:stretch>
            <a:fillRect/>
          </a:stretch>
        </p:blipFill>
        <p:spPr>
          <a:xfrm>
            <a:off x="6342984" y="1583032"/>
            <a:ext cx="5254264" cy="4503655"/>
          </a:xfrm>
          <a:prstGeom prst="rect">
            <a:avLst/>
          </a:prstGeom>
        </p:spPr>
      </p:pic>
      <p:pic>
        <p:nvPicPr>
          <p:cNvPr id="14" name="Picture 2" descr="Waymo Logo">
            <a:extLst>
              <a:ext uri="{FF2B5EF4-FFF2-40B4-BE49-F238E27FC236}">
                <a16:creationId xmlns:a16="http://schemas.microsoft.com/office/drawing/2014/main" id="{0AB81574-B623-A466-0C44-7AD8EF55DE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378" y="425703"/>
            <a:ext cx="782903" cy="782903"/>
          </a:xfrm>
          <a:prstGeom prst="rect">
            <a:avLst/>
          </a:prstGeom>
          <a:noFill/>
          <a:extLst>
            <a:ext uri="{909E8E84-426E-40DD-AFC4-6F175D3DCCD1}">
              <a14:hiddenFill xmlns:a14="http://schemas.microsoft.com/office/drawing/2010/main">
                <a:solidFill>
                  <a:srgbClr val="FFFFFF"/>
                </a:solidFill>
              </a14:hiddenFill>
            </a:ext>
          </a:extLst>
        </p:spPr>
      </p:pic>
      <p:sp>
        <p:nvSpPr>
          <p:cNvPr id="11" name="Freeform 10">
            <a:extLst>
              <a:ext uri="{FF2B5EF4-FFF2-40B4-BE49-F238E27FC236}">
                <a16:creationId xmlns:a16="http://schemas.microsoft.com/office/drawing/2014/main" id="{00515834-BC50-0B18-62CA-A70C9A9333E0}"/>
              </a:ext>
            </a:extLst>
          </p:cNvPr>
          <p:cNvSpPr/>
          <p:nvPr/>
        </p:nvSpPr>
        <p:spPr>
          <a:xfrm rot="7893553">
            <a:off x="-327368" y="-261854"/>
            <a:ext cx="18800064" cy="6958229"/>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a:extLst>
              <a:ext uri="{FF2B5EF4-FFF2-40B4-BE49-F238E27FC236}">
                <a16:creationId xmlns:a16="http://schemas.microsoft.com/office/drawing/2014/main" id="{11818D86-B172-7F3C-A000-ECBB85ED72A7}"/>
              </a:ext>
            </a:extLst>
          </p:cNvPr>
          <p:cNvSpPr/>
          <p:nvPr/>
        </p:nvSpPr>
        <p:spPr>
          <a:xfrm rot="967553">
            <a:off x="-8289652" y="4450746"/>
            <a:ext cx="18325767" cy="1340166"/>
          </a:xfrm>
          <a:custGeom>
            <a:avLst/>
            <a:gdLst>
              <a:gd name="csX0" fmla="*/ 0 w 11430000"/>
              <a:gd name="csY0" fmla="*/ 691323 h 1340166"/>
              <a:gd name="csX1" fmla="*/ 1422400 w 11430000"/>
              <a:gd name="csY1" fmla="*/ 18223 h 1340166"/>
              <a:gd name="csX2" fmla="*/ 7150100 w 11430000"/>
              <a:gd name="csY2" fmla="*/ 1339023 h 1340166"/>
              <a:gd name="csX3" fmla="*/ 11430000 w 11430000"/>
              <a:gd name="csY3" fmla="*/ 246823 h 1340166"/>
            </a:gdLst>
            <a:ahLst/>
            <a:cxnLst>
              <a:cxn ang="0">
                <a:pos x="csX0" y="csY0"/>
              </a:cxn>
              <a:cxn ang="0">
                <a:pos x="csX1" y="csY1"/>
              </a:cxn>
              <a:cxn ang="0">
                <a:pos x="csX2" y="csY2"/>
              </a:cxn>
              <a:cxn ang="0">
                <a:pos x="csX3" y="csY3"/>
              </a:cxn>
            </a:cxnLst>
            <a:rect l="l" t="t" r="r" b="b"/>
            <a:pathLst>
              <a:path w="11430000" h="1340166">
                <a:moveTo>
                  <a:pt x="0" y="691323"/>
                </a:moveTo>
                <a:cubicBezTo>
                  <a:pt x="115358" y="300798"/>
                  <a:pt x="230717" y="-89727"/>
                  <a:pt x="1422400" y="18223"/>
                </a:cubicBezTo>
                <a:cubicBezTo>
                  <a:pt x="2614083" y="126173"/>
                  <a:pt x="5482167" y="1300923"/>
                  <a:pt x="7150100" y="1339023"/>
                </a:cubicBezTo>
                <a:cubicBezTo>
                  <a:pt x="8818033" y="1377123"/>
                  <a:pt x="10687050" y="452140"/>
                  <a:pt x="11430000" y="246823"/>
                </a:cubicBezTo>
              </a:path>
            </a:pathLst>
          </a:custGeom>
          <a:noFill/>
          <a:ln w="762000" cap="flat">
            <a:gradFill flip="none" rotWithShape="1">
              <a:gsLst>
                <a:gs pos="49000">
                  <a:srgbClr val="0078FF"/>
                </a:gs>
                <a:gs pos="0">
                  <a:srgbClr val="0078FF"/>
                </a:gs>
                <a:gs pos="21000">
                  <a:srgbClr val="0078FF"/>
                </a:gs>
                <a:gs pos="36000">
                  <a:srgbClr val="0078FF"/>
                </a:gs>
                <a:gs pos="77000">
                  <a:srgbClr val="00E9A0"/>
                </a:gs>
                <a:gs pos="100000">
                  <a:srgbClr val="00E9A0"/>
                </a:gs>
              </a:gsLst>
              <a:lin ang="360000" scaled="0"/>
              <a:tileRect/>
            </a:gradFill>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14567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1694B-ADF8-C7B3-5BF9-D767B9134B8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C7CBD6-37D5-6E4F-C6C3-1A6035A75370}"/>
              </a:ext>
            </a:extLst>
          </p:cNvPr>
          <p:cNvSpPr>
            <a:spLocks noGrp="1"/>
          </p:cNvSpPr>
          <p:nvPr>
            <p:ph type="ctrTitle"/>
          </p:nvPr>
        </p:nvSpPr>
        <p:spPr>
          <a:xfrm>
            <a:off x="716478" y="447821"/>
            <a:ext cx="3347522" cy="369333"/>
          </a:xfrm>
        </p:spPr>
        <p:txBody>
          <a:bodyPr>
            <a:normAutofit/>
          </a:bodyPr>
          <a:lstStyle/>
          <a:p>
            <a:pPr algn="l"/>
            <a:r>
              <a:rPr lang="en-US" sz="1500" dirty="0">
                <a:latin typeface="GT Walsheim Trial Rg" pitchFamily="2" charset="77"/>
              </a:rPr>
              <a:t>PART 2: DATASET STATISTICS </a:t>
            </a:r>
          </a:p>
        </p:txBody>
      </p:sp>
      <p:sp>
        <p:nvSpPr>
          <p:cNvPr id="8" name="TextBox 7">
            <a:extLst>
              <a:ext uri="{FF2B5EF4-FFF2-40B4-BE49-F238E27FC236}">
                <a16:creationId xmlns:a16="http://schemas.microsoft.com/office/drawing/2014/main" id="{1AD48543-E349-8F3E-32BE-70942649497F}"/>
              </a:ext>
            </a:extLst>
          </p:cNvPr>
          <p:cNvSpPr txBox="1"/>
          <p:nvPr/>
        </p:nvSpPr>
        <p:spPr>
          <a:xfrm>
            <a:off x="716477" y="952090"/>
            <a:ext cx="7346867" cy="630942"/>
          </a:xfrm>
          <a:prstGeom prst="rect">
            <a:avLst/>
          </a:prstGeom>
          <a:noFill/>
        </p:spPr>
        <p:txBody>
          <a:bodyPr wrap="square">
            <a:spAutoFit/>
          </a:bodyPr>
          <a:lstStyle/>
          <a:p>
            <a:r>
              <a:rPr lang="en-US" sz="3500" dirty="0">
                <a:latin typeface="GT Walsheim Trial Rg" pitchFamily="2" charset="77"/>
              </a:rPr>
              <a:t>What the Data Looks Like</a:t>
            </a:r>
          </a:p>
        </p:txBody>
      </p:sp>
      <p:pic>
        <p:nvPicPr>
          <p:cNvPr id="14" name="Picture 2" descr="Waymo Logo">
            <a:extLst>
              <a:ext uri="{FF2B5EF4-FFF2-40B4-BE49-F238E27FC236}">
                <a16:creationId xmlns:a16="http://schemas.microsoft.com/office/drawing/2014/main" id="{2B47F978-21C8-273E-24DC-5FC952B51D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378" y="425703"/>
            <a:ext cx="782903" cy="78290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4512D806-F24A-215A-2C44-C03E07EBCB16}"/>
              </a:ext>
            </a:extLst>
          </p:cNvPr>
          <p:cNvPicPr>
            <a:picLocks noChangeAspect="1"/>
          </p:cNvPicPr>
          <p:nvPr/>
        </p:nvPicPr>
        <p:blipFill>
          <a:blip r:embed="rId4"/>
          <a:stretch>
            <a:fillRect/>
          </a:stretch>
        </p:blipFill>
        <p:spPr>
          <a:xfrm>
            <a:off x="2438400" y="1912451"/>
            <a:ext cx="7315200" cy="4572000"/>
          </a:xfrm>
          <a:prstGeom prst="rect">
            <a:avLst/>
          </a:prstGeom>
        </p:spPr>
      </p:pic>
      <p:sp>
        <p:nvSpPr>
          <p:cNvPr id="11" name="Freeform 10">
            <a:extLst>
              <a:ext uri="{FF2B5EF4-FFF2-40B4-BE49-F238E27FC236}">
                <a16:creationId xmlns:a16="http://schemas.microsoft.com/office/drawing/2014/main" id="{FAECF00B-BAAD-8062-AE21-7865670210D8}"/>
              </a:ext>
            </a:extLst>
          </p:cNvPr>
          <p:cNvSpPr/>
          <p:nvPr/>
        </p:nvSpPr>
        <p:spPr>
          <a:xfrm rot="7893553">
            <a:off x="-317208" y="-200894"/>
            <a:ext cx="18800064" cy="6958229"/>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5">
            <a:extLst>
              <a:ext uri="{FF2B5EF4-FFF2-40B4-BE49-F238E27FC236}">
                <a16:creationId xmlns:a16="http://schemas.microsoft.com/office/drawing/2014/main" id="{B02F38D1-095A-4D26-04B1-8A6E8A730D5B}"/>
              </a:ext>
            </a:extLst>
          </p:cNvPr>
          <p:cNvSpPr/>
          <p:nvPr/>
        </p:nvSpPr>
        <p:spPr>
          <a:xfrm rot="17550971">
            <a:off x="-6037072" y="1435617"/>
            <a:ext cx="18800064" cy="6958229"/>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1361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B5D17-03D9-44FB-2525-A230A9DCFA2A}"/>
            </a:ext>
          </a:extLst>
        </p:cNvPr>
        <p:cNvGrpSpPr/>
        <p:nvPr/>
      </p:nvGrpSpPr>
      <p:grpSpPr>
        <a:xfrm>
          <a:off x="0" y="0"/>
          <a:ext cx="0" cy="0"/>
          <a:chOff x="0" y="0"/>
          <a:chExt cx="0" cy="0"/>
        </a:xfrm>
      </p:grpSpPr>
      <p:sp>
        <p:nvSpPr>
          <p:cNvPr id="12" name="Freeform 11">
            <a:extLst>
              <a:ext uri="{FF2B5EF4-FFF2-40B4-BE49-F238E27FC236}">
                <a16:creationId xmlns:a16="http://schemas.microsoft.com/office/drawing/2014/main" id="{879D5AE1-D670-17B5-C1A3-0D759721D43E}"/>
              </a:ext>
            </a:extLst>
          </p:cNvPr>
          <p:cNvSpPr/>
          <p:nvPr/>
        </p:nvSpPr>
        <p:spPr>
          <a:xfrm rot="8442973">
            <a:off x="-9874934" y="-3842844"/>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4">
            <a:extLst>
              <a:ext uri="{FF2B5EF4-FFF2-40B4-BE49-F238E27FC236}">
                <a16:creationId xmlns:a16="http://schemas.microsoft.com/office/drawing/2014/main" id="{D37E2142-0FFF-FBCA-977C-BD6E52F367DE}"/>
              </a:ext>
            </a:extLst>
          </p:cNvPr>
          <p:cNvSpPr/>
          <p:nvPr/>
        </p:nvSpPr>
        <p:spPr>
          <a:xfrm rot="18406025">
            <a:off x="2075489" y="3958667"/>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Waymo Logo">
            <a:extLst>
              <a:ext uri="{FF2B5EF4-FFF2-40B4-BE49-F238E27FC236}">
                <a16:creationId xmlns:a16="http://schemas.microsoft.com/office/drawing/2014/main" id="{08C5FC6B-2A30-8CF0-4995-D7BFA29BFD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378" y="425703"/>
            <a:ext cx="782903" cy="782903"/>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4BDC90D8-8254-451E-8A54-63DD1F1D44D3}"/>
              </a:ext>
            </a:extLst>
          </p:cNvPr>
          <p:cNvSpPr>
            <a:spLocks noGrp="1"/>
          </p:cNvSpPr>
          <p:nvPr>
            <p:ph type="ctrTitle"/>
          </p:nvPr>
        </p:nvSpPr>
        <p:spPr>
          <a:xfrm>
            <a:off x="716478" y="447821"/>
            <a:ext cx="3073202" cy="369333"/>
          </a:xfrm>
        </p:spPr>
        <p:txBody>
          <a:bodyPr>
            <a:normAutofit/>
          </a:bodyPr>
          <a:lstStyle/>
          <a:p>
            <a:pPr algn="l"/>
            <a:r>
              <a:rPr lang="en-US" sz="1500" dirty="0">
                <a:latin typeface="GT Walsheim Trial Rg" pitchFamily="2" charset="77"/>
              </a:rPr>
              <a:t>PART 3: DATASET STATISTICS </a:t>
            </a:r>
            <a:endParaRPr lang="en-US" sz="1500" dirty="0">
              <a:solidFill>
                <a:srgbClr val="989DA2"/>
              </a:solidFill>
              <a:latin typeface="GT Walsheim Trial Rg" pitchFamily="2" charset="77"/>
            </a:endParaRPr>
          </a:p>
        </p:txBody>
      </p:sp>
      <p:sp>
        <p:nvSpPr>
          <p:cNvPr id="8" name="TextBox 7">
            <a:extLst>
              <a:ext uri="{FF2B5EF4-FFF2-40B4-BE49-F238E27FC236}">
                <a16:creationId xmlns:a16="http://schemas.microsoft.com/office/drawing/2014/main" id="{CA5BCE23-5067-2282-04B1-B7A52B3128DB}"/>
              </a:ext>
            </a:extLst>
          </p:cNvPr>
          <p:cNvSpPr txBox="1"/>
          <p:nvPr/>
        </p:nvSpPr>
        <p:spPr>
          <a:xfrm>
            <a:off x="716476" y="952090"/>
            <a:ext cx="9236415" cy="630942"/>
          </a:xfrm>
          <a:prstGeom prst="rect">
            <a:avLst/>
          </a:prstGeom>
          <a:noFill/>
        </p:spPr>
        <p:txBody>
          <a:bodyPr wrap="square">
            <a:spAutoFit/>
          </a:bodyPr>
          <a:lstStyle/>
          <a:p>
            <a:r>
              <a:rPr lang="en-US" sz="3500" dirty="0">
                <a:latin typeface="GT Walsheim Trial Rg" pitchFamily="2" charset="77"/>
              </a:rPr>
              <a:t>Results: Descriptive Statistics</a:t>
            </a:r>
          </a:p>
        </p:txBody>
      </p:sp>
      <p:sp>
        <p:nvSpPr>
          <p:cNvPr id="6" name="Rectangle 5">
            <a:extLst>
              <a:ext uri="{FF2B5EF4-FFF2-40B4-BE49-F238E27FC236}">
                <a16:creationId xmlns:a16="http://schemas.microsoft.com/office/drawing/2014/main" id="{C9115712-845E-BD5C-5877-2CC7215556E8}"/>
              </a:ext>
            </a:extLst>
          </p:cNvPr>
          <p:cNvSpPr/>
          <p:nvPr/>
        </p:nvSpPr>
        <p:spPr>
          <a:xfrm>
            <a:off x="854438" y="1839301"/>
            <a:ext cx="10723843" cy="450883"/>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30DBAAC-CC45-B6C4-5865-26D213AD62FB}"/>
              </a:ext>
            </a:extLst>
          </p:cNvPr>
          <p:cNvSpPr txBox="1"/>
          <p:nvPr/>
        </p:nvSpPr>
        <p:spPr>
          <a:xfrm>
            <a:off x="4270171" y="1880076"/>
            <a:ext cx="3651657" cy="369332"/>
          </a:xfrm>
          <a:prstGeom prst="rect">
            <a:avLst/>
          </a:prstGeom>
          <a:noFill/>
        </p:spPr>
        <p:txBody>
          <a:bodyPr wrap="square">
            <a:spAutoFit/>
          </a:bodyPr>
          <a:lstStyle/>
          <a:p>
            <a:pPr algn="l"/>
            <a:r>
              <a:rPr lang="en-US" dirty="0">
                <a:solidFill>
                  <a:schemeClr val="bg1"/>
                </a:solidFill>
                <a:effectLst/>
                <a:latin typeface="GT Walsheim Trial Rg" pitchFamily="2" charset="77"/>
              </a:rPr>
              <a:t>Mean Speed by Agent Type (m/s)</a:t>
            </a:r>
          </a:p>
        </p:txBody>
      </p:sp>
      <p:sp>
        <p:nvSpPr>
          <p:cNvPr id="19" name="TextBox 18">
            <a:extLst>
              <a:ext uri="{FF2B5EF4-FFF2-40B4-BE49-F238E27FC236}">
                <a16:creationId xmlns:a16="http://schemas.microsoft.com/office/drawing/2014/main" id="{D967FE5B-F13A-94B5-C02F-038A0C8990B0}"/>
              </a:ext>
            </a:extLst>
          </p:cNvPr>
          <p:cNvSpPr txBox="1"/>
          <p:nvPr/>
        </p:nvSpPr>
        <p:spPr>
          <a:xfrm>
            <a:off x="7520578" y="9301668"/>
            <a:ext cx="3390637" cy="1200329"/>
          </a:xfrm>
          <a:prstGeom prst="rect">
            <a:avLst/>
          </a:prstGeom>
          <a:noFill/>
        </p:spPr>
        <p:txBody>
          <a:bodyPr wrap="square" rtlCol="0">
            <a:spAutoFit/>
          </a:bodyPr>
          <a:lstStyle/>
          <a:p>
            <a:r>
              <a:rPr lang="en-US" dirty="0">
                <a:solidFill>
                  <a:schemeClr val="bg1"/>
                </a:solidFill>
                <a:latin typeface="GT Walsheim Trial Rg" pitchFamily="2" charset="77"/>
              </a:rPr>
              <a:t>— 80 / 20 train / test split</a:t>
            </a:r>
          </a:p>
          <a:p>
            <a:r>
              <a:rPr lang="en-US" dirty="0">
                <a:solidFill>
                  <a:schemeClr val="bg1"/>
                </a:solidFill>
                <a:latin typeface="GT Walsheim Trial Rg" pitchFamily="2" charset="77"/>
              </a:rPr>
              <a:t>— 5-fold cross-validation on training set.</a:t>
            </a:r>
          </a:p>
          <a:p>
            <a:r>
              <a:rPr lang="en-US" dirty="0">
                <a:solidFill>
                  <a:schemeClr val="bg1"/>
                </a:solidFill>
                <a:latin typeface="GT Walsheim Trial Rg" pitchFamily="2" charset="77"/>
              </a:rPr>
              <a:t>— Metrics: RMSE (meters) · R²</a:t>
            </a:r>
          </a:p>
        </p:txBody>
      </p:sp>
      <p:sp>
        <p:nvSpPr>
          <p:cNvPr id="20" name="Rectangle 19">
            <a:extLst>
              <a:ext uri="{FF2B5EF4-FFF2-40B4-BE49-F238E27FC236}">
                <a16:creationId xmlns:a16="http://schemas.microsoft.com/office/drawing/2014/main" id="{0909F16F-0A5C-F265-F0A0-690C41791F6A}"/>
              </a:ext>
            </a:extLst>
          </p:cNvPr>
          <p:cNvSpPr/>
          <p:nvPr/>
        </p:nvSpPr>
        <p:spPr>
          <a:xfrm>
            <a:off x="-223735" y="10155892"/>
            <a:ext cx="6602278" cy="1156496"/>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D8723AF3-74A0-D29C-3621-6F5F9EFF648E}"/>
              </a:ext>
            </a:extLst>
          </p:cNvPr>
          <p:cNvSpPr txBox="1"/>
          <p:nvPr/>
        </p:nvSpPr>
        <p:spPr>
          <a:xfrm>
            <a:off x="541195" y="10314693"/>
            <a:ext cx="5458087" cy="784830"/>
          </a:xfrm>
          <a:prstGeom prst="rect">
            <a:avLst/>
          </a:prstGeom>
          <a:noFill/>
        </p:spPr>
        <p:txBody>
          <a:bodyPr wrap="square">
            <a:spAutoFit/>
          </a:bodyPr>
          <a:lstStyle/>
          <a:p>
            <a:pPr algn="l"/>
            <a:r>
              <a:rPr lang="en-US" sz="1500" dirty="0">
                <a:solidFill>
                  <a:schemeClr val="bg1"/>
                </a:solidFill>
                <a:effectLst/>
                <a:latin typeface="GT Walsheim Trial Lt" pitchFamily="2" charset="77"/>
              </a:rPr>
              <a:t>Stationary agents have near-zero displacement — trivially easy to predict. The two conditions reveal whether R² reflects real predictive power or dataset composition.</a:t>
            </a:r>
          </a:p>
        </p:txBody>
      </p:sp>
      <p:sp>
        <p:nvSpPr>
          <p:cNvPr id="22" name="TextBox 21">
            <a:extLst>
              <a:ext uri="{FF2B5EF4-FFF2-40B4-BE49-F238E27FC236}">
                <a16:creationId xmlns:a16="http://schemas.microsoft.com/office/drawing/2014/main" id="{31CF2942-2A27-BC3B-2E88-D72CF9981F3D}"/>
              </a:ext>
            </a:extLst>
          </p:cNvPr>
          <p:cNvSpPr txBox="1"/>
          <p:nvPr/>
        </p:nvSpPr>
        <p:spPr>
          <a:xfrm>
            <a:off x="-688275" y="9607790"/>
            <a:ext cx="1582840" cy="2400657"/>
          </a:xfrm>
          <a:prstGeom prst="rect">
            <a:avLst/>
          </a:prstGeom>
          <a:noFill/>
        </p:spPr>
        <p:txBody>
          <a:bodyPr wrap="square">
            <a:spAutoFit/>
          </a:bodyPr>
          <a:lstStyle/>
          <a:p>
            <a:pPr algn="ctr">
              <a:buNone/>
            </a:pPr>
            <a:r>
              <a:rPr lang="en-US" sz="15000" b="0" i="0" dirty="0">
                <a:solidFill>
                  <a:schemeClr val="bg1">
                    <a:alpha val="20000"/>
                  </a:schemeClr>
                </a:solidFill>
                <a:effectLst/>
                <a:latin typeface="GT Walsheim Trial Rg" pitchFamily="2" charset="77"/>
              </a:rPr>
              <a:t>"</a:t>
            </a:r>
          </a:p>
        </p:txBody>
      </p:sp>
      <p:graphicFrame>
        <p:nvGraphicFramePr>
          <p:cNvPr id="9" name="Table 8">
            <a:extLst>
              <a:ext uri="{FF2B5EF4-FFF2-40B4-BE49-F238E27FC236}">
                <a16:creationId xmlns:a16="http://schemas.microsoft.com/office/drawing/2014/main" id="{CF32A97D-8C0A-55E5-E1FC-D4E82FD5E137}"/>
              </a:ext>
            </a:extLst>
          </p:cNvPr>
          <p:cNvGraphicFramePr>
            <a:graphicFrameLocks noGrp="1"/>
          </p:cNvGraphicFramePr>
          <p:nvPr>
            <p:extLst>
              <p:ext uri="{D42A27DB-BD31-4B8C-83A1-F6EECF244321}">
                <p14:modId xmlns:p14="http://schemas.microsoft.com/office/powerpoint/2010/main" val="2316304738"/>
              </p:ext>
            </p:extLst>
          </p:nvPr>
        </p:nvGraphicFramePr>
        <p:xfrm>
          <a:off x="854438" y="2721367"/>
          <a:ext cx="10723843" cy="2100015"/>
        </p:xfrm>
        <a:graphic>
          <a:graphicData uri="http://schemas.openxmlformats.org/drawingml/2006/table">
            <a:tbl>
              <a:tblPr firstRow="1" bandRow="1">
                <a:tableStyleId>{073A0DAA-6AF3-43AB-8588-CEC1D06C72B9}</a:tableStyleId>
              </a:tblPr>
              <a:tblGrid>
                <a:gridCol w="2413651">
                  <a:extLst>
                    <a:ext uri="{9D8B030D-6E8A-4147-A177-3AD203B41FA5}">
                      <a16:colId xmlns:a16="http://schemas.microsoft.com/office/drawing/2014/main" val="1610543496"/>
                    </a:ext>
                  </a:extLst>
                </a:gridCol>
                <a:gridCol w="3747930">
                  <a:extLst>
                    <a:ext uri="{9D8B030D-6E8A-4147-A177-3AD203B41FA5}">
                      <a16:colId xmlns:a16="http://schemas.microsoft.com/office/drawing/2014/main" val="2940384537"/>
                    </a:ext>
                  </a:extLst>
                </a:gridCol>
                <a:gridCol w="4562262">
                  <a:extLst>
                    <a:ext uri="{9D8B030D-6E8A-4147-A177-3AD203B41FA5}">
                      <a16:colId xmlns:a16="http://schemas.microsoft.com/office/drawing/2014/main" val="3740313691"/>
                    </a:ext>
                  </a:extLst>
                </a:gridCol>
              </a:tblGrid>
              <a:tr h="296694">
                <a:tc>
                  <a:txBody>
                    <a:bodyPr/>
                    <a:lstStyle/>
                    <a:p>
                      <a:r>
                        <a:rPr lang="en-US" sz="1500" b="0" i="0" dirty="0">
                          <a:solidFill>
                            <a:schemeClr val="bg1"/>
                          </a:solidFill>
                          <a:latin typeface="GT Walsheim Trial Rg" pitchFamily="2" charset="77"/>
                        </a:rPr>
                        <a:t>Agent Type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1500" b="0" i="0" dirty="0">
                          <a:solidFill>
                            <a:schemeClr val="bg1"/>
                          </a:solidFill>
                          <a:latin typeface="GT Walsheim Trial Rg" pitchFamily="2" charset="77"/>
                        </a:rPr>
                        <a:t>Stationary  &amp; Non-Stationary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1500" b="0" i="0" dirty="0">
                          <a:solidFill>
                            <a:schemeClr val="bg1"/>
                          </a:solidFill>
                          <a:latin typeface="GT Walsheim Trial Rg" pitchFamily="2" charset="77"/>
                        </a:rPr>
                        <a:t>Moving Only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extLst>
                  <a:ext uri="{0D108BD9-81ED-4DB2-BD59-A6C34878D82A}">
                    <a16:rowId xmlns:a16="http://schemas.microsoft.com/office/drawing/2014/main" val="4220759275"/>
                  </a:ext>
                </a:extLst>
              </a:tr>
              <a:tr h="581534">
                <a:tc>
                  <a:txBody>
                    <a:bodyPr/>
                    <a:lstStyle/>
                    <a:p>
                      <a:r>
                        <a:rPr lang="en-US" sz="1500" b="0" i="0" dirty="0">
                          <a:solidFill>
                            <a:schemeClr val="tx1"/>
                          </a:solidFill>
                          <a:latin typeface="GT Walsheim Trial Rg" pitchFamily="2" charset="77"/>
                        </a:rPr>
                        <a:t>Vehicle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2.47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6.74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52326013"/>
                  </a:ext>
                </a:extLst>
              </a:tr>
              <a:tr h="581534">
                <a:tc>
                  <a:txBody>
                    <a:bodyPr/>
                    <a:lstStyle/>
                    <a:p>
                      <a:r>
                        <a:rPr lang="en-US" sz="1500" b="0" i="0" dirty="0">
                          <a:solidFill>
                            <a:schemeClr val="tx1"/>
                          </a:solidFill>
                          <a:latin typeface="GT Walsheim Trial Rg" pitchFamily="2" charset="77"/>
                        </a:rPr>
                        <a:t>Pedestrian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4.20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3.92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42999530"/>
                  </a:ext>
                </a:extLst>
              </a:tr>
              <a:tr h="616907">
                <a:tc>
                  <a:txBody>
                    <a:bodyPr/>
                    <a:lstStyle/>
                    <a:p>
                      <a:r>
                        <a:rPr lang="en-US" sz="1500" b="0" i="0" dirty="0">
                          <a:solidFill>
                            <a:schemeClr val="tx1"/>
                          </a:solidFill>
                          <a:latin typeface="GT Walsheim Trial Rg" pitchFamily="2" charset="77"/>
                        </a:rPr>
                        <a:t>Cyclist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1.01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1.01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523425920"/>
                  </a:ext>
                </a:extLst>
              </a:tr>
            </a:tbl>
          </a:graphicData>
        </a:graphic>
      </p:graphicFrame>
      <p:sp>
        <p:nvSpPr>
          <p:cNvPr id="11" name="TextBox 10">
            <a:extLst>
              <a:ext uri="{FF2B5EF4-FFF2-40B4-BE49-F238E27FC236}">
                <a16:creationId xmlns:a16="http://schemas.microsoft.com/office/drawing/2014/main" id="{81A8C484-CD19-7BCB-8ED6-8DA75F360705}"/>
              </a:ext>
            </a:extLst>
          </p:cNvPr>
          <p:cNvSpPr txBox="1"/>
          <p:nvPr/>
        </p:nvSpPr>
        <p:spPr>
          <a:xfrm>
            <a:off x="791803" y="5177461"/>
            <a:ext cx="10786478" cy="646331"/>
          </a:xfrm>
          <a:prstGeom prst="rect">
            <a:avLst/>
          </a:prstGeom>
          <a:noFill/>
        </p:spPr>
        <p:txBody>
          <a:bodyPr wrap="square">
            <a:spAutoFit/>
          </a:bodyPr>
          <a:lstStyle/>
          <a:p>
            <a:pPr algn="l"/>
            <a:r>
              <a:rPr lang="en-US" b="1" dirty="0">
                <a:effectLst/>
                <a:latin typeface="GT Walsheim Trial Rg" pitchFamily="2" charset="77"/>
              </a:rPr>
              <a:t>Without filtering: vehicles appear slower than cyclists due to stopped cars at intersections. Filtering restores expected ordering.</a:t>
            </a:r>
            <a:endParaRPr lang="en-US" dirty="0">
              <a:effectLst/>
              <a:latin typeface="GT Walsheim Trial Rg" pitchFamily="2" charset="77"/>
            </a:endParaRPr>
          </a:p>
        </p:txBody>
      </p:sp>
    </p:spTree>
    <p:extLst>
      <p:ext uri="{BB962C8B-B14F-4D97-AF65-F5344CB8AC3E}">
        <p14:creationId xmlns:p14="http://schemas.microsoft.com/office/powerpoint/2010/main" val="3511431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4B4A554-BFE2-05DA-0C2C-6266E307DC6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66749C0-D184-771F-5EF7-E94FFB3362A5}"/>
              </a:ext>
            </a:extLst>
          </p:cNvPr>
          <p:cNvSpPr>
            <a:spLocks noGrp="1"/>
          </p:cNvSpPr>
          <p:nvPr>
            <p:ph type="ctrTitle"/>
          </p:nvPr>
        </p:nvSpPr>
        <p:spPr>
          <a:xfrm>
            <a:off x="716478" y="447821"/>
            <a:ext cx="3352602" cy="369333"/>
          </a:xfrm>
        </p:spPr>
        <p:txBody>
          <a:bodyPr>
            <a:normAutofit/>
          </a:bodyPr>
          <a:lstStyle/>
          <a:p>
            <a:pPr algn="l"/>
            <a:r>
              <a:rPr lang="en-US" sz="1500" dirty="0">
                <a:solidFill>
                  <a:srgbClr val="989DA2"/>
                </a:solidFill>
                <a:latin typeface="GT Walsheim Trial Rg" pitchFamily="2" charset="77"/>
              </a:rPr>
              <a:t>METHODS: ANOMALY DETECTION</a:t>
            </a:r>
          </a:p>
        </p:txBody>
      </p:sp>
      <p:sp>
        <p:nvSpPr>
          <p:cNvPr id="8" name="TextBox 7">
            <a:extLst>
              <a:ext uri="{FF2B5EF4-FFF2-40B4-BE49-F238E27FC236}">
                <a16:creationId xmlns:a16="http://schemas.microsoft.com/office/drawing/2014/main" id="{FD782BF6-33EF-B556-1286-49D797977996}"/>
              </a:ext>
            </a:extLst>
          </p:cNvPr>
          <p:cNvSpPr txBox="1"/>
          <p:nvPr/>
        </p:nvSpPr>
        <p:spPr>
          <a:xfrm>
            <a:off x="716477" y="952090"/>
            <a:ext cx="7346867" cy="1477328"/>
          </a:xfrm>
          <a:prstGeom prst="rect">
            <a:avLst/>
          </a:prstGeom>
          <a:noFill/>
        </p:spPr>
        <p:txBody>
          <a:bodyPr wrap="square">
            <a:spAutoFit/>
          </a:bodyPr>
          <a:lstStyle/>
          <a:p>
            <a:r>
              <a:rPr lang="en-US" sz="4500" dirty="0">
                <a:solidFill>
                  <a:schemeClr val="bg1"/>
                </a:solidFill>
                <a:latin typeface="GT Walsheim Trial Rg" pitchFamily="2" charset="77"/>
              </a:rPr>
              <a:t>Two-Layer Anomaly Detection Pipeline</a:t>
            </a:r>
          </a:p>
        </p:txBody>
      </p:sp>
      <p:sp>
        <p:nvSpPr>
          <p:cNvPr id="23" name="TextBox 22">
            <a:extLst>
              <a:ext uri="{FF2B5EF4-FFF2-40B4-BE49-F238E27FC236}">
                <a16:creationId xmlns:a16="http://schemas.microsoft.com/office/drawing/2014/main" id="{7CFA322A-9BDB-DA3A-44AC-B8E5C612B337}"/>
              </a:ext>
            </a:extLst>
          </p:cNvPr>
          <p:cNvSpPr txBox="1"/>
          <p:nvPr/>
        </p:nvSpPr>
        <p:spPr>
          <a:xfrm>
            <a:off x="5402485" y="2099493"/>
            <a:ext cx="1582840" cy="861774"/>
          </a:xfrm>
          <a:prstGeom prst="rect">
            <a:avLst/>
          </a:prstGeom>
          <a:noFill/>
        </p:spPr>
        <p:txBody>
          <a:bodyPr wrap="square">
            <a:spAutoFit/>
          </a:bodyPr>
          <a:lstStyle/>
          <a:p>
            <a:pPr algn="ctr">
              <a:buNone/>
            </a:pPr>
            <a:r>
              <a:rPr lang="en-US" sz="5000" dirty="0">
                <a:solidFill>
                  <a:schemeClr val="tx1">
                    <a:alpha val="5000"/>
                  </a:schemeClr>
                </a:solidFill>
                <a:latin typeface="GT Walsheim Trial Rg" pitchFamily="2" charset="77"/>
              </a:rPr>
              <a:t>03</a:t>
            </a:r>
            <a:endParaRPr lang="en-US" sz="5000" b="0" i="0" dirty="0">
              <a:solidFill>
                <a:schemeClr val="tx1">
                  <a:alpha val="5000"/>
                </a:schemeClr>
              </a:solidFill>
              <a:effectLst/>
              <a:latin typeface="GT Walsheim Trial Rg" pitchFamily="2" charset="77"/>
            </a:endParaRPr>
          </a:p>
        </p:txBody>
      </p:sp>
      <p:pic>
        <p:nvPicPr>
          <p:cNvPr id="28" name="Picture 6" descr="Our Trademarks">
            <a:extLst>
              <a:ext uri="{FF2B5EF4-FFF2-40B4-BE49-F238E27FC236}">
                <a16:creationId xmlns:a16="http://schemas.microsoft.com/office/drawing/2014/main" id="{2FB3DD75-F8C6-9DEC-803C-E53DAF5FFF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0831" y="411156"/>
            <a:ext cx="811996" cy="81199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819F4018-9FA6-56AE-719C-CFA889FA1785}"/>
              </a:ext>
            </a:extLst>
          </p:cNvPr>
          <p:cNvPicPr>
            <a:picLocks noChangeAspect="1"/>
          </p:cNvPicPr>
          <p:nvPr/>
        </p:nvPicPr>
        <p:blipFill>
          <a:blip r:embed="rId4"/>
          <a:stretch>
            <a:fillRect/>
          </a:stretch>
        </p:blipFill>
        <p:spPr>
          <a:xfrm>
            <a:off x="0" y="4047068"/>
            <a:ext cx="12192000" cy="2810932"/>
          </a:xfrm>
          <a:prstGeom prst="rect">
            <a:avLst/>
          </a:prstGeom>
        </p:spPr>
      </p:pic>
      <p:pic>
        <p:nvPicPr>
          <p:cNvPr id="6" name="Picture 5">
            <a:extLst>
              <a:ext uri="{FF2B5EF4-FFF2-40B4-BE49-F238E27FC236}">
                <a16:creationId xmlns:a16="http://schemas.microsoft.com/office/drawing/2014/main" id="{24EFD2F8-32D6-CF0E-7465-979C51246279}"/>
              </a:ext>
            </a:extLst>
          </p:cNvPr>
          <p:cNvPicPr>
            <a:picLocks noChangeAspect="1"/>
          </p:cNvPicPr>
          <p:nvPr/>
        </p:nvPicPr>
        <p:blipFill>
          <a:blip r:embed="rId5"/>
          <a:stretch>
            <a:fillRect/>
          </a:stretch>
        </p:blipFill>
        <p:spPr>
          <a:xfrm>
            <a:off x="9171556" y="4909836"/>
            <a:ext cx="3218550" cy="3565814"/>
          </a:xfrm>
          <a:prstGeom prst="rect">
            <a:avLst/>
          </a:prstGeom>
        </p:spPr>
      </p:pic>
    </p:spTree>
    <p:extLst>
      <p:ext uri="{BB962C8B-B14F-4D97-AF65-F5344CB8AC3E}">
        <p14:creationId xmlns:p14="http://schemas.microsoft.com/office/powerpoint/2010/main" val="2335691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4EC7144-5EED-41D2-C456-A13F27CDEDE9}"/>
            </a:ext>
          </a:extLst>
        </p:cNvPr>
        <p:cNvGrpSpPr/>
        <p:nvPr/>
      </p:nvGrpSpPr>
      <p:grpSpPr>
        <a:xfrm>
          <a:off x="0" y="0"/>
          <a:ext cx="0" cy="0"/>
          <a:chOff x="0" y="0"/>
          <a:chExt cx="0" cy="0"/>
        </a:xfrm>
      </p:grpSpPr>
      <p:sp>
        <p:nvSpPr>
          <p:cNvPr id="39" name="Freeform 38">
            <a:extLst>
              <a:ext uri="{FF2B5EF4-FFF2-40B4-BE49-F238E27FC236}">
                <a16:creationId xmlns:a16="http://schemas.microsoft.com/office/drawing/2014/main" id="{80715815-A9DD-AC16-9198-1892B94617AB}"/>
              </a:ext>
            </a:extLst>
          </p:cNvPr>
          <p:cNvSpPr/>
          <p:nvPr/>
        </p:nvSpPr>
        <p:spPr>
          <a:xfrm rot="1800000">
            <a:off x="-2668880" y="1821846"/>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95DE4947-F175-5201-BD87-FF1152160D95}"/>
              </a:ext>
            </a:extLst>
          </p:cNvPr>
          <p:cNvSpPr/>
          <p:nvPr/>
        </p:nvSpPr>
        <p:spPr>
          <a:xfrm rot="10800000">
            <a:off x="789707" y="4533219"/>
            <a:ext cx="10803120" cy="1793263"/>
          </a:xfrm>
          <a:prstGeom prst="rect">
            <a:avLst/>
          </a:prstGeom>
          <a:solidFill>
            <a:srgbClr val="949AA0"/>
          </a:solidFill>
          <a:ln>
            <a:noFill/>
          </a:ln>
          <a:effectLst>
            <a:outerShdw blurRad="50800" dist="50800" dir="5400000" sx="1000" sy="1000" algn="ctr" rotWithShape="0">
              <a:srgbClr val="00000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D068BB2A-2BF4-D499-63C2-18ED22A68DDF}"/>
              </a:ext>
            </a:extLst>
          </p:cNvPr>
          <p:cNvSpPr>
            <a:spLocks noGrp="1"/>
          </p:cNvSpPr>
          <p:nvPr>
            <p:ph type="ctrTitle"/>
          </p:nvPr>
        </p:nvSpPr>
        <p:spPr>
          <a:xfrm>
            <a:off x="716478" y="447821"/>
            <a:ext cx="3352602" cy="369333"/>
          </a:xfrm>
        </p:spPr>
        <p:txBody>
          <a:bodyPr>
            <a:normAutofit/>
          </a:bodyPr>
          <a:lstStyle/>
          <a:p>
            <a:pPr algn="l"/>
            <a:r>
              <a:rPr lang="en-US" sz="1500" dirty="0">
                <a:solidFill>
                  <a:srgbClr val="989DA2"/>
                </a:solidFill>
                <a:latin typeface="GT Walsheim Trial Rg" pitchFamily="2" charset="77"/>
              </a:rPr>
              <a:t>ANOMALY DETECTION</a:t>
            </a:r>
          </a:p>
        </p:txBody>
      </p:sp>
      <p:sp>
        <p:nvSpPr>
          <p:cNvPr id="23" name="TextBox 22">
            <a:extLst>
              <a:ext uri="{FF2B5EF4-FFF2-40B4-BE49-F238E27FC236}">
                <a16:creationId xmlns:a16="http://schemas.microsoft.com/office/drawing/2014/main" id="{90E28ED5-DE27-12C8-D580-D2523250EA77}"/>
              </a:ext>
            </a:extLst>
          </p:cNvPr>
          <p:cNvSpPr txBox="1"/>
          <p:nvPr/>
        </p:nvSpPr>
        <p:spPr>
          <a:xfrm>
            <a:off x="5402485" y="2099493"/>
            <a:ext cx="1582840" cy="861774"/>
          </a:xfrm>
          <a:prstGeom prst="rect">
            <a:avLst/>
          </a:prstGeom>
          <a:noFill/>
        </p:spPr>
        <p:txBody>
          <a:bodyPr wrap="square">
            <a:spAutoFit/>
          </a:bodyPr>
          <a:lstStyle/>
          <a:p>
            <a:pPr algn="ctr">
              <a:buNone/>
            </a:pPr>
            <a:r>
              <a:rPr lang="en-US" sz="5000" dirty="0">
                <a:solidFill>
                  <a:schemeClr val="tx1">
                    <a:alpha val="5000"/>
                  </a:schemeClr>
                </a:solidFill>
                <a:latin typeface="GT Walsheim Trial Rg" pitchFamily="2" charset="77"/>
              </a:rPr>
              <a:t>03</a:t>
            </a:r>
            <a:endParaRPr lang="en-US" sz="5000" b="0" i="0" dirty="0">
              <a:solidFill>
                <a:schemeClr val="tx1">
                  <a:alpha val="5000"/>
                </a:schemeClr>
              </a:solidFill>
              <a:effectLst/>
              <a:latin typeface="GT Walsheim Trial Rg" pitchFamily="2" charset="77"/>
            </a:endParaRPr>
          </a:p>
        </p:txBody>
      </p:sp>
      <p:pic>
        <p:nvPicPr>
          <p:cNvPr id="28" name="Picture 6" descr="Our Trademarks">
            <a:extLst>
              <a:ext uri="{FF2B5EF4-FFF2-40B4-BE49-F238E27FC236}">
                <a16:creationId xmlns:a16="http://schemas.microsoft.com/office/drawing/2014/main" id="{B94DEBD0-54A1-D161-6798-6F4DFB2789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0831" y="411156"/>
            <a:ext cx="811996" cy="811996"/>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6DBEBBE8-6803-3642-6AA6-7DCBC34416EC}"/>
              </a:ext>
            </a:extLst>
          </p:cNvPr>
          <p:cNvSpPr txBox="1"/>
          <p:nvPr/>
        </p:nvSpPr>
        <p:spPr>
          <a:xfrm>
            <a:off x="716477" y="952090"/>
            <a:ext cx="7346867" cy="630942"/>
          </a:xfrm>
          <a:prstGeom prst="rect">
            <a:avLst/>
          </a:prstGeom>
          <a:noFill/>
        </p:spPr>
        <p:txBody>
          <a:bodyPr wrap="square">
            <a:spAutoFit/>
          </a:bodyPr>
          <a:lstStyle/>
          <a:p>
            <a:r>
              <a:rPr lang="en-US" sz="3500" dirty="0">
                <a:solidFill>
                  <a:schemeClr val="bg1"/>
                </a:solidFill>
                <a:latin typeface="GT Walsheim Trial Rg" pitchFamily="2" charset="77"/>
              </a:rPr>
              <a:t>Layer 1 — Isolation Forest</a:t>
            </a:r>
          </a:p>
        </p:txBody>
      </p:sp>
      <p:sp>
        <p:nvSpPr>
          <p:cNvPr id="31" name="Rectangle 30">
            <a:extLst>
              <a:ext uri="{FF2B5EF4-FFF2-40B4-BE49-F238E27FC236}">
                <a16:creationId xmlns:a16="http://schemas.microsoft.com/office/drawing/2014/main" id="{E787502F-A997-C061-BE0E-398BFE0692AB}"/>
              </a:ext>
            </a:extLst>
          </p:cNvPr>
          <p:cNvSpPr/>
          <p:nvPr/>
        </p:nvSpPr>
        <p:spPr>
          <a:xfrm rot="10800000">
            <a:off x="789709" y="1895553"/>
            <a:ext cx="10803118" cy="1660445"/>
          </a:xfrm>
          <a:prstGeom prst="rect">
            <a:avLst/>
          </a:prstGeom>
          <a:solidFill>
            <a:srgbClr val="0078FF"/>
          </a:solidFill>
          <a:ln>
            <a:noFill/>
          </a:ln>
          <a:effectLst>
            <a:outerShdw blurRad="1270000" dist="58494" dir="5400000" sx="74594" sy="74594" algn="ctr" rotWithShape="0">
              <a:schemeClr val="bg1">
                <a:alpha val="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a:extLst>
              <a:ext uri="{FF2B5EF4-FFF2-40B4-BE49-F238E27FC236}">
                <a16:creationId xmlns:a16="http://schemas.microsoft.com/office/drawing/2014/main" id="{0C1AB1E6-4C86-63ED-C89C-77D2FEE4A479}"/>
              </a:ext>
            </a:extLst>
          </p:cNvPr>
          <p:cNvSpPr txBox="1"/>
          <p:nvPr/>
        </p:nvSpPr>
        <p:spPr>
          <a:xfrm>
            <a:off x="1858262" y="2099493"/>
            <a:ext cx="8710092" cy="1200329"/>
          </a:xfrm>
          <a:prstGeom prst="rect">
            <a:avLst/>
          </a:prstGeom>
          <a:noFill/>
        </p:spPr>
        <p:txBody>
          <a:bodyPr wrap="square">
            <a:spAutoFit/>
          </a:bodyPr>
          <a:lstStyle/>
          <a:p>
            <a:pPr>
              <a:buNone/>
            </a:pPr>
            <a:r>
              <a:rPr lang="en-US" dirty="0">
                <a:solidFill>
                  <a:schemeClr val="bg1"/>
                </a:solidFill>
                <a:latin typeface="GT Walsheim Trial Lt" pitchFamily="2" charset="77"/>
              </a:rPr>
              <a:t>— </a:t>
            </a:r>
            <a:r>
              <a:rPr lang="en-US" b="1" i="0" dirty="0">
                <a:solidFill>
                  <a:schemeClr val="bg1"/>
                </a:solidFill>
                <a:effectLst/>
                <a:latin typeface="GT Walsheim Trial Rg" pitchFamily="2" charset="77"/>
              </a:rPr>
              <a:t>Features: </a:t>
            </a:r>
            <a:r>
              <a:rPr lang="en-US" b="0" i="0" dirty="0">
                <a:solidFill>
                  <a:schemeClr val="bg1"/>
                </a:solidFill>
                <a:effectLst/>
                <a:latin typeface="GT Walsheim Trial Rg" pitchFamily="2" charset="77"/>
              </a:rPr>
              <a:t>Speed, Acceleration, </a:t>
            </a:r>
            <a:r>
              <a:rPr lang="en-US" b="0" i="0" dirty="0" err="1">
                <a:solidFill>
                  <a:schemeClr val="bg1"/>
                </a:solidFill>
                <a:effectLst/>
                <a:latin typeface="GT Walsheim Trial Rg" pitchFamily="2" charset="77"/>
              </a:rPr>
              <a:t>YawRate</a:t>
            </a:r>
            <a:r>
              <a:rPr lang="en-US" b="0" i="0" dirty="0">
                <a:solidFill>
                  <a:schemeClr val="bg1"/>
                </a:solidFill>
                <a:effectLst/>
                <a:latin typeface="GT Walsheim Trial Rg" pitchFamily="2" charset="77"/>
              </a:rPr>
              <a:t> — </a:t>
            </a:r>
            <a:r>
              <a:rPr lang="en-US" b="0" i="0" dirty="0" err="1">
                <a:solidFill>
                  <a:schemeClr val="bg1"/>
                </a:solidFill>
                <a:effectLst/>
                <a:latin typeface="GT Walsheim Trial Rg" pitchFamily="2" charset="77"/>
              </a:rPr>
              <a:t>YawRate</a:t>
            </a:r>
            <a:r>
              <a:rPr lang="en-US" b="0" i="0" dirty="0">
                <a:solidFill>
                  <a:schemeClr val="bg1"/>
                </a:solidFill>
                <a:effectLst/>
                <a:latin typeface="GT Walsheim Trial Rg" pitchFamily="2" charset="77"/>
              </a:rPr>
              <a:t> uncorrelated with all others</a:t>
            </a:r>
          </a:p>
          <a:p>
            <a:pPr>
              <a:buNone/>
            </a:pPr>
            <a:endParaRPr lang="en-US" dirty="0">
              <a:solidFill>
                <a:schemeClr val="bg1"/>
              </a:solidFill>
              <a:latin typeface="GT Walsheim Trial Rg" pitchFamily="2" charset="77"/>
            </a:endParaRPr>
          </a:p>
          <a:p>
            <a:pPr>
              <a:buNone/>
            </a:pPr>
            <a:r>
              <a:rPr lang="en-US" dirty="0">
                <a:solidFill>
                  <a:schemeClr val="bg1"/>
                </a:solidFill>
                <a:latin typeface="GT Walsheim Trial Lt" pitchFamily="2" charset="77"/>
              </a:rPr>
              <a:t>— </a:t>
            </a:r>
            <a:r>
              <a:rPr lang="en-US" b="0" i="0" dirty="0">
                <a:solidFill>
                  <a:schemeClr val="bg1"/>
                </a:solidFill>
                <a:effectLst/>
                <a:latin typeface="GT Walsheim Trial Rg" pitchFamily="2" charset="77"/>
              </a:rPr>
              <a:t>100 trees, unsupervised, no labels</a:t>
            </a:r>
          </a:p>
          <a:p>
            <a:pPr>
              <a:buNone/>
            </a:pPr>
            <a:r>
              <a:rPr lang="en-US" dirty="0">
                <a:solidFill>
                  <a:schemeClr val="bg1"/>
                </a:solidFill>
                <a:latin typeface="GT Walsheim Trial Lt" pitchFamily="2" charset="77"/>
              </a:rPr>
              <a:t>— </a:t>
            </a:r>
            <a:r>
              <a:rPr lang="en-US" b="1" i="0" dirty="0">
                <a:solidFill>
                  <a:schemeClr val="bg1"/>
                </a:solidFill>
                <a:effectLst/>
                <a:latin typeface="GT Walsheim Trial Rg" pitchFamily="2" charset="77"/>
              </a:rPr>
              <a:t>Threshold: </a:t>
            </a:r>
            <a:r>
              <a:rPr lang="en-US" b="0" i="0" dirty="0">
                <a:solidFill>
                  <a:schemeClr val="bg1"/>
                </a:solidFill>
                <a:effectLst/>
                <a:latin typeface="GT Walsheim Trial Rg" pitchFamily="2" charset="77"/>
              </a:rPr>
              <a:t>99th percentile → 46 flagged out of 4,538</a:t>
            </a:r>
          </a:p>
        </p:txBody>
      </p:sp>
      <p:sp>
        <p:nvSpPr>
          <p:cNvPr id="33" name="TextBox 32">
            <a:extLst>
              <a:ext uri="{FF2B5EF4-FFF2-40B4-BE49-F238E27FC236}">
                <a16:creationId xmlns:a16="http://schemas.microsoft.com/office/drawing/2014/main" id="{7330EC70-9658-A443-DCDE-8C47EE86272F}"/>
              </a:ext>
            </a:extLst>
          </p:cNvPr>
          <p:cNvSpPr txBox="1"/>
          <p:nvPr/>
        </p:nvSpPr>
        <p:spPr>
          <a:xfrm>
            <a:off x="275422" y="1717968"/>
            <a:ext cx="1582840" cy="861774"/>
          </a:xfrm>
          <a:prstGeom prst="rect">
            <a:avLst/>
          </a:prstGeom>
          <a:noFill/>
        </p:spPr>
        <p:txBody>
          <a:bodyPr wrap="square">
            <a:spAutoFit/>
          </a:bodyPr>
          <a:lstStyle/>
          <a:p>
            <a:pPr algn="ctr">
              <a:buNone/>
            </a:pPr>
            <a:r>
              <a:rPr lang="en-US" sz="5000" dirty="0">
                <a:solidFill>
                  <a:schemeClr val="bg1">
                    <a:alpha val="20000"/>
                  </a:schemeClr>
                </a:solidFill>
                <a:latin typeface="GT Walsheim Trial Rg" pitchFamily="2" charset="77"/>
              </a:rPr>
              <a:t>01</a:t>
            </a:r>
            <a:endParaRPr lang="en-US" sz="5000" b="0" i="0" dirty="0">
              <a:solidFill>
                <a:schemeClr val="bg1">
                  <a:alpha val="20000"/>
                </a:schemeClr>
              </a:solidFill>
              <a:effectLst/>
              <a:latin typeface="GT Walsheim Trial Rg" pitchFamily="2" charset="77"/>
            </a:endParaRPr>
          </a:p>
        </p:txBody>
      </p:sp>
      <p:sp>
        <p:nvSpPr>
          <p:cNvPr id="35" name="TextBox 34">
            <a:extLst>
              <a:ext uri="{FF2B5EF4-FFF2-40B4-BE49-F238E27FC236}">
                <a16:creationId xmlns:a16="http://schemas.microsoft.com/office/drawing/2014/main" id="{7BD2ED18-CBE8-5F66-C531-81261F606558}"/>
              </a:ext>
            </a:extLst>
          </p:cNvPr>
          <p:cNvSpPr txBox="1"/>
          <p:nvPr/>
        </p:nvSpPr>
        <p:spPr>
          <a:xfrm>
            <a:off x="1847478" y="4869981"/>
            <a:ext cx="8710092" cy="646331"/>
          </a:xfrm>
          <a:prstGeom prst="rect">
            <a:avLst/>
          </a:prstGeom>
          <a:noFill/>
        </p:spPr>
        <p:txBody>
          <a:bodyPr wrap="square">
            <a:spAutoFit/>
          </a:bodyPr>
          <a:lstStyle/>
          <a:p>
            <a:pPr>
              <a:buNone/>
            </a:pPr>
            <a:r>
              <a:rPr lang="en-US" dirty="0">
                <a:solidFill>
                  <a:schemeClr val="bg1"/>
                </a:solidFill>
                <a:latin typeface="GT Walsheim Trial Lt" pitchFamily="2" charset="77"/>
              </a:rPr>
              <a:t>—  Fisher's Exact Test (Monte Carlo, 2,000 replicates)</a:t>
            </a:r>
          </a:p>
          <a:p>
            <a:pPr>
              <a:buNone/>
            </a:pPr>
            <a:r>
              <a:rPr lang="en-US" dirty="0">
                <a:solidFill>
                  <a:schemeClr val="bg1"/>
                </a:solidFill>
                <a:latin typeface="GT Walsheim Trial Lt" pitchFamily="2" charset="77"/>
              </a:rPr>
              <a:t>—  p = 0.0005 — anomalies cluster by agent type, not random noise</a:t>
            </a:r>
            <a:endParaRPr lang="en-US" b="0" i="0" dirty="0">
              <a:solidFill>
                <a:schemeClr val="bg1"/>
              </a:solidFill>
              <a:effectLst/>
              <a:latin typeface="GT Walsheim Trial Rg" pitchFamily="2" charset="77"/>
            </a:endParaRPr>
          </a:p>
        </p:txBody>
      </p:sp>
      <p:sp>
        <p:nvSpPr>
          <p:cNvPr id="36" name="TextBox 35">
            <a:extLst>
              <a:ext uri="{FF2B5EF4-FFF2-40B4-BE49-F238E27FC236}">
                <a16:creationId xmlns:a16="http://schemas.microsoft.com/office/drawing/2014/main" id="{BE6938C7-E41E-AF99-D609-5DD46D479AFD}"/>
              </a:ext>
            </a:extLst>
          </p:cNvPr>
          <p:cNvSpPr txBox="1"/>
          <p:nvPr/>
        </p:nvSpPr>
        <p:spPr>
          <a:xfrm>
            <a:off x="351174" y="4348533"/>
            <a:ext cx="1582840" cy="861774"/>
          </a:xfrm>
          <a:prstGeom prst="rect">
            <a:avLst/>
          </a:prstGeom>
          <a:noFill/>
        </p:spPr>
        <p:txBody>
          <a:bodyPr wrap="square">
            <a:spAutoFit/>
          </a:bodyPr>
          <a:lstStyle/>
          <a:p>
            <a:pPr algn="ctr">
              <a:buNone/>
            </a:pPr>
            <a:r>
              <a:rPr lang="en-US" sz="5000" dirty="0">
                <a:solidFill>
                  <a:schemeClr val="bg1">
                    <a:alpha val="20000"/>
                  </a:schemeClr>
                </a:solidFill>
                <a:latin typeface="GT Walsheim Trial Rg" pitchFamily="2" charset="77"/>
              </a:rPr>
              <a:t>02</a:t>
            </a:r>
            <a:endParaRPr lang="en-US" sz="5000" b="0" i="0" dirty="0">
              <a:solidFill>
                <a:schemeClr val="bg1">
                  <a:alpha val="20000"/>
                </a:schemeClr>
              </a:solidFill>
              <a:effectLst/>
              <a:latin typeface="GT Walsheim Trial Rg" pitchFamily="2" charset="77"/>
            </a:endParaRPr>
          </a:p>
        </p:txBody>
      </p:sp>
      <p:sp>
        <p:nvSpPr>
          <p:cNvPr id="38" name="TextBox 37">
            <a:extLst>
              <a:ext uri="{FF2B5EF4-FFF2-40B4-BE49-F238E27FC236}">
                <a16:creationId xmlns:a16="http://schemas.microsoft.com/office/drawing/2014/main" id="{35653914-5516-D471-49D4-302D753CCDC5}"/>
              </a:ext>
            </a:extLst>
          </p:cNvPr>
          <p:cNvSpPr txBox="1"/>
          <p:nvPr/>
        </p:nvSpPr>
        <p:spPr>
          <a:xfrm>
            <a:off x="716476" y="3717591"/>
            <a:ext cx="7346867" cy="630942"/>
          </a:xfrm>
          <a:prstGeom prst="rect">
            <a:avLst/>
          </a:prstGeom>
          <a:noFill/>
        </p:spPr>
        <p:txBody>
          <a:bodyPr wrap="square">
            <a:spAutoFit/>
          </a:bodyPr>
          <a:lstStyle/>
          <a:p>
            <a:r>
              <a:rPr lang="en-US" sz="3500" dirty="0">
                <a:solidFill>
                  <a:schemeClr val="bg1"/>
                </a:solidFill>
                <a:latin typeface="GT Walsheim Trial Rg" pitchFamily="2" charset="77"/>
              </a:rPr>
              <a:t>Layer 2 — Statistical Validation</a:t>
            </a:r>
          </a:p>
        </p:txBody>
      </p:sp>
      <p:sp>
        <p:nvSpPr>
          <p:cNvPr id="42" name="TextBox 41">
            <a:extLst>
              <a:ext uri="{FF2B5EF4-FFF2-40B4-BE49-F238E27FC236}">
                <a16:creationId xmlns:a16="http://schemas.microsoft.com/office/drawing/2014/main" id="{EFFF4DA0-5C43-90A9-DD8F-7D02A9CF7D46}"/>
              </a:ext>
            </a:extLst>
          </p:cNvPr>
          <p:cNvSpPr txBox="1"/>
          <p:nvPr/>
        </p:nvSpPr>
        <p:spPr>
          <a:xfrm>
            <a:off x="5421888" y="2393010"/>
            <a:ext cx="1582840" cy="369332"/>
          </a:xfrm>
          <a:prstGeom prst="rect">
            <a:avLst/>
          </a:prstGeom>
          <a:noFill/>
        </p:spPr>
        <p:txBody>
          <a:bodyPr wrap="square">
            <a:spAutoFit/>
          </a:bodyPr>
          <a:lstStyle/>
          <a:p>
            <a:pPr>
              <a:buNone/>
            </a:pPr>
            <a:r>
              <a:rPr lang="en-US" b="0" i="0" dirty="0">
                <a:solidFill>
                  <a:schemeClr val="bg1"/>
                </a:solidFill>
                <a:effectLst/>
                <a:latin typeface="GT Walsheim Trial Rg" pitchFamily="2" charset="77"/>
              </a:rPr>
              <a:t>(|r| ≤ 0.09)</a:t>
            </a:r>
          </a:p>
        </p:txBody>
      </p:sp>
    </p:spTree>
    <p:extLst>
      <p:ext uri="{BB962C8B-B14F-4D97-AF65-F5344CB8AC3E}">
        <p14:creationId xmlns:p14="http://schemas.microsoft.com/office/powerpoint/2010/main" val="1496617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2D43B-6B18-E76B-0A5E-6F5A9E177C55}"/>
            </a:ext>
          </a:extLst>
        </p:cNvPr>
        <p:cNvGrpSpPr/>
        <p:nvPr/>
      </p:nvGrpSpPr>
      <p:grpSpPr>
        <a:xfrm>
          <a:off x="0" y="0"/>
          <a:ext cx="0" cy="0"/>
          <a:chOff x="0" y="0"/>
          <a:chExt cx="0" cy="0"/>
        </a:xfrm>
      </p:grpSpPr>
      <p:sp>
        <p:nvSpPr>
          <p:cNvPr id="25" name="Freeform 24">
            <a:extLst>
              <a:ext uri="{FF2B5EF4-FFF2-40B4-BE49-F238E27FC236}">
                <a16:creationId xmlns:a16="http://schemas.microsoft.com/office/drawing/2014/main" id="{D9759E3A-B60F-9CBB-D1CE-CC84A3D32781}"/>
              </a:ext>
            </a:extLst>
          </p:cNvPr>
          <p:cNvSpPr/>
          <p:nvPr/>
        </p:nvSpPr>
        <p:spPr>
          <a:xfrm rot="8442973">
            <a:off x="-9874934" y="-3842844"/>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a:extLst>
              <a:ext uri="{FF2B5EF4-FFF2-40B4-BE49-F238E27FC236}">
                <a16:creationId xmlns:a16="http://schemas.microsoft.com/office/drawing/2014/main" id="{6E917537-92A5-6E9F-7D52-B229CEB05CFC}"/>
              </a:ext>
            </a:extLst>
          </p:cNvPr>
          <p:cNvSpPr/>
          <p:nvPr/>
        </p:nvSpPr>
        <p:spPr>
          <a:xfrm rot="18406025">
            <a:off x="2075489" y="3958667"/>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Waymo Logo">
            <a:extLst>
              <a:ext uri="{FF2B5EF4-FFF2-40B4-BE49-F238E27FC236}">
                <a16:creationId xmlns:a16="http://schemas.microsoft.com/office/drawing/2014/main" id="{0745F48F-1AB5-00C4-CA23-A815ED3572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378" y="425703"/>
            <a:ext cx="782903" cy="782903"/>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D252EB07-182B-03EA-A8D0-1384AF0B4C4A}"/>
              </a:ext>
            </a:extLst>
          </p:cNvPr>
          <p:cNvSpPr>
            <a:spLocks noGrp="1"/>
          </p:cNvSpPr>
          <p:nvPr>
            <p:ph type="ctrTitle"/>
          </p:nvPr>
        </p:nvSpPr>
        <p:spPr>
          <a:xfrm>
            <a:off x="716478" y="447821"/>
            <a:ext cx="3073202" cy="369333"/>
          </a:xfrm>
        </p:spPr>
        <p:txBody>
          <a:bodyPr>
            <a:normAutofit/>
          </a:bodyPr>
          <a:lstStyle/>
          <a:p>
            <a:pPr algn="l"/>
            <a:r>
              <a:rPr lang="en-US" sz="1500" dirty="0">
                <a:solidFill>
                  <a:srgbClr val="989DA2"/>
                </a:solidFill>
                <a:latin typeface="GT Walsheim Trial Rg" pitchFamily="2" charset="77"/>
              </a:rPr>
              <a:t>MOTION PREDICTION</a:t>
            </a:r>
          </a:p>
        </p:txBody>
      </p:sp>
      <p:sp>
        <p:nvSpPr>
          <p:cNvPr id="8" name="TextBox 7">
            <a:extLst>
              <a:ext uri="{FF2B5EF4-FFF2-40B4-BE49-F238E27FC236}">
                <a16:creationId xmlns:a16="http://schemas.microsoft.com/office/drawing/2014/main" id="{3218B83E-AA40-E8FF-95C7-4E5B1E9F3925}"/>
              </a:ext>
            </a:extLst>
          </p:cNvPr>
          <p:cNvSpPr txBox="1"/>
          <p:nvPr/>
        </p:nvSpPr>
        <p:spPr>
          <a:xfrm>
            <a:off x="716476" y="952090"/>
            <a:ext cx="9236415" cy="630942"/>
          </a:xfrm>
          <a:prstGeom prst="rect">
            <a:avLst/>
          </a:prstGeom>
          <a:noFill/>
        </p:spPr>
        <p:txBody>
          <a:bodyPr wrap="square">
            <a:spAutoFit/>
          </a:bodyPr>
          <a:lstStyle/>
          <a:p>
            <a:r>
              <a:rPr lang="en-US" sz="3500" dirty="0">
                <a:latin typeface="GT Walsheim Trial Rg" pitchFamily="2" charset="77"/>
              </a:rPr>
              <a:t>Linear Regression for 5-Second Displacement</a:t>
            </a:r>
          </a:p>
        </p:txBody>
      </p:sp>
      <p:sp>
        <p:nvSpPr>
          <p:cNvPr id="5" name="TextBox 4">
            <a:extLst>
              <a:ext uri="{FF2B5EF4-FFF2-40B4-BE49-F238E27FC236}">
                <a16:creationId xmlns:a16="http://schemas.microsoft.com/office/drawing/2014/main" id="{3B405F93-3204-EBA0-492A-066BC1A51EB9}"/>
              </a:ext>
            </a:extLst>
          </p:cNvPr>
          <p:cNvSpPr txBox="1"/>
          <p:nvPr/>
        </p:nvSpPr>
        <p:spPr>
          <a:xfrm>
            <a:off x="13046792" y="2452525"/>
            <a:ext cx="2866106" cy="369332"/>
          </a:xfrm>
          <a:prstGeom prst="rect">
            <a:avLst/>
          </a:prstGeom>
          <a:noFill/>
        </p:spPr>
        <p:txBody>
          <a:bodyPr wrap="none" rtlCol="0">
            <a:spAutoFit/>
          </a:bodyPr>
          <a:lstStyle/>
          <a:p>
            <a:r>
              <a:rPr lang="en-US" dirty="0">
                <a:solidFill>
                  <a:schemeClr val="bg1"/>
                </a:solidFill>
                <a:latin typeface="GT Walsheim Trial Rg" pitchFamily="2" charset="77"/>
              </a:rPr>
              <a:t>Layer 1 — Isolation Forest</a:t>
            </a:r>
          </a:p>
        </p:txBody>
      </p:sp>
      <p:sp>
        <p:nvSpPr>
          <p:cNvPr id="7" name="Rectangle 6">
            <a:extLst>
              <a:ext uri="{FF2B5EF4-FFF2-40B4-BE49-F238E27FC236}">
                <a16:creationId xmlns:a16="http://schemas.microsoft.com/office/drawing/2014/main" id="{85604F91-922D-8DD6-CD44-0375F512B846}"/>
              </a:ext>
            </a:extLst>
          </p:cNvPr>
          <p:cNvSpPr/>
          <p:nvPr/>
        </p:nvSpPr>
        <p:spPr>
          <a:xfrm>
            <a:off x="854437" y="2168851"/>
            <a:ext cx="10723843" cy="8642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schemeClr>
              </a:solidFill>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89E9928-1D9E-51AD-B1B8-C5747ADD65CD}"/>
                  </a:ext>
                </a:extLst>
              </p:cNvPr>
              <p:cNvSpPr txBox="1"/>
              <p:nvPr/>
            </p:nvSpPr>
            <p:spPr>
              <a:xfrm>
                <a:off x="2280998" y="2406935"/>
                <a:ext cx="7870718" cy="391261"/>
              </a:xfrm>
              <a:prstGeom prst="rect">
                <a:avLst/>
              </a:prstGeom>
              <a:noFill/>
            </p:spPr>
            <p:txBody>
              <a:bodyPr wrap="square">
                <a:spAutoFit/>
              </a:bodyPr>
              <a:lstStyle/>
              <a:p>
                <a:pPr algn="l"/>
                <a14:m>
                  <m:oMathPara xmlns:m="http://schemas.openxmlformats.org/officeDocument/2006/math">
                    <m:oMathParaPr>
                      <m:jc m:val="centerGroup"/>
                    </m:oMathParaPr>
                    <m:oMath xmlns:m="http://schemas.openxmlformats.org/officeDocument/2006/math">
                      <m:r>
                        <m:rPr>
                          <m:sty m:val="p"/>
                        </m:rPr>
                        <a:rPr lang="en-US" i="0" smtClean="0">
                          <a:effectLst/>
                          <a:latin typeface="Cambria Math" panose="02040503050406030204" pitchFamily="18" charset="0"/>
                        </a:rPr>
                        <m:t>Δ</m:t>
                      </m:r>
                      <m:sSub>
                        <m:sSubPr>
                          <m:ctrlPr>
                            <a:rPr lang="en-US" i="1" smtClean="0">
                              <a:effectLst/>
                              <a:latin typeface="Cambria Math" panose="02040503050406030204" pitchFamily="18" charset="0"/>
                            </a:rPr>
                          </m:ctrlPr>
                        </m:sSubPr>
                        <m:e>
                          <m:r>
                            <a:rPr lang="en-US" i="1" smtClean="0">
                              <a:effectLst/>
                              <a:latin typeface="Cambria Math" panose="02040503050406030204" pitchFamily="18" charset="0"/>
                            </a:rPr>
                            <m:t>𝑑</m:t>
                          </m:r>
                        </m:e>
                        <m:sub>
                          <m:r>
                            <a:rPr lang="en-US" i="1" smtClean="0">
                              <a:effectLst/>
                              <a:latin typeface="Cambria Math" panose="02040503050406030204" pitchFamily="18" charset="0"/>
                            </a:rPr>
                            <m:t>5</m:t>
                          </m:r>
                          <m:r>
                            <a:rPr lang="en-US" i="1" smtClean="0">
                              <a:effectLst/>
                              <a:latin typeface="Cambria Math" panose="02040503050406030204" pitchFamily="18" charset="0"/>
                            </a:rPr>
                            <m:t>𝑠</m:t>
                          </m:r>
                        </m:sub>
                      </m:sSub>
                      <m:r>
                        <a:rPr lang="en-US" i="1" smtClean="0">
                          <a:effectLst/>
                          <a:latin typeface="Cambria Math" panose="02040503050406030204" pitchFamily="18" charset="0"/>
                        </a:rPr>
                        <m:t>=</m:t>
                      </m:r>
                      <m:sSub>
                        <m:sSubPr>
                          <m:ctrlPr>
                            <a:rPr lang="en-US" i="1" smtClean="0">
                              <a:effectLst/>
                              <a:latin typeface="Cambria Math" panose="02040503050406030204" pitchFamily="18" charset="0"/>
                            </a:rPr>
                          </m:ctrlPr>
                        </m:sSubPr>
                        <m:e>
                          <m:r>
                            <a:rPr lang="en-US" i="1" smtClean="0">
                              <a:effectLst/>
                              <a:latin typeface="Cambria Math" panose="02040503050406030204" pitchFamily="18" charset="0"/>
                            </a:rPr>
                            <m:t>𝛽</m:t>
                          </m:r>
                        </m:e>
                        <m:sub>
                          <m:r>
                            <a:rPr lang="en-US" i="1" smtClean="0">
                              <a:effectLst/>
                              <a:latin typeface="Cambria Math" panose="02040503050406030204" pitchFamily="18" charset="0"/>
                            </a:rPr>
                            <m:t>0</m:t>
                          </m:r>
                        </m:sub>
                      </m:sSub>
                      <m:r>
                        <a:rPr lang="en-US" i="1" smtClean="0">
                          <a:effectLst/>
                          <a:latin typeface="Cambria Math" panose="02040503050406030204" pitchFamily="18" charset="0"/>
                        </a:rPr>
                        <m:t>+</m:t>
                      </m:r>
                      <m:sSub>
                        <m:sSubPr>
                          <m:ctrlPr>
                            <a:rPr lang="en-US" i="1" smtClean="0">
                              <a:effectLst/>
                              <a:latin typeface="Cambria Math" panose="02040503050406030204" pitchFamily="18" charset="0"/>
                            </a:rPr>
                          </m:ctrlPr>
                        </m:sSubPr>
                        <m:e>
                          <m:r>
                            <a:rPr lang="en-US" i="1" smtClean="0">
                              <a:effectLst/>
                              <a:latin typeface="Cambria Math" panose="02040503050406030204" pitchFamily="18" charset="0"/>
                            </a:rPr>
                            <m:t>𝛽</m:t>
                          </m:r>
                        </m:e>
                        <m:sub>
                          <m:r>
                            <a:rPr lang="en-US" i="1" smtClean="0">
                              <a:effectLst/>
                              <a:latin typeface="Cambria Math" panose="02040503050406030204" pitchFamily="18" charset="0"/>
                            </a:rPr>
                            <m:t>1</m:t>
                          </m:r>
                        </m:sub>
                      </m:sSub>
                      <m:r>
                        <a:rPr lang="en-US" i="1" smtClean="0">
                          <a:effectLst/>
                          <a:latin typeface="Cambria Math" panose="02040503050406030204" pitchFamily="18" charset="0"/>
                        </a:rPr>
                        <m:t>⋅</m:t>
                      </m:r>
                      <m:r>
                        <m:rPr>
                          <m:nor/>
                        </m:rPr>
                        <a:rPr lang="en-US" i="0" smtClean="0">
                          <a:effectLst/>
                          <a:latin typeface="Cambria Math" panose="02040503050406030204" pitchFamily="18" charset="0"/>
                        </a:rPr>
                        <m:t>Speed</m:t>
                      </m:r>
                      <m:r>
                        <a:rPr lang="en-US" i="1" smtClean="0">
                          <a:effectLst/>
                          <a:latin typeface="Cambria Math" panose="02040503050406030204" pitchFamily="18" charset="0"/>
                        </a:rPr>
                        <m:t>+</m:t>
                      </m:r>
                      <m:sSub>
                        <m:sSubPr>
                          <m:ctrlPr>
                            <a:rPr lang="en-US" i="1" smtClean="0">
                              <a:effectLst/>
                              <a:latin typeface="Cambria Math" panose="02040503050406030204" pitchFamily="18" charset="0"/>
                            </a:rPr>
                          </m:ctrlPr>
                        </m:sSubPr>
                        <m:e>
                          <m:r>
                            <a:rPr lang="en-US" i="1" smtClean="0">
                              <a:effectLst/>
                              <a:latin typeface="Cambria Math" panose="02040503050406030204" pitchFamily="18" charset="0"/>
                            </a:rPr>
                            <m:t>𝛽</m:t>
                          </m:r>
                        </m:e>
                        <m:sub>
                          <m:r>
                            <a:rPr lang="en-US" i="1" smtClean="0">
                              <a:effectLst/>
                              <a:latin typeface="Cambria Math" panose="02040503050406030204" pitchFamily="18" charset="0"/>
                            </a:rPr>
                            <m:t>2</m:t>
                          </m:r>
                        </m:sub>
                      </m:sSub>
                      <m:r>
                        <a:rPr lang="en-US" i="1" smtClean="0">
                          <a:effectLst/>
                          <a:latin typeface="Cambria Math" panose="02040503050406030204" pitchFamily="18" charset="0"/>
                        </a:rPr>
                        <m:t>⋅</m:t>
                      </m:r>
                      <m:r>
                        <m:rPr>
                          <m:nor/>
                        </m:rPr>
                        <a:rPr lang="en-US" i="0" smtClean="0">
                          <a:effectLst/>
                          <a:latin typeface="Cambria Math" panose="02040503050406030204" pitchFamily="18" charset="0"/>
                        </a:rPr>
                        <m:t>Acceleration</m:t>
                      </m:r>
                      <m:r>
                        <a:rPr lang="en-US" i="1" smtClean="0">
                          <a:effectLst/>
                          <a:latin typeface="Cambria Math" panose="02040503050406030204" pitchFamily="18" charset="0"/>
                        </a:rPr>
                        <m:t>+</m:t>
                      </m:r>
                      <m:sSub>
                        <m:sSubPr>
                          <m:ctrlPr>
                            <a:rPr lang="en-US" i="1" smtClean="0">
                              <a:effectLst/>
                              <a:latin typeface="Cambria Math" panose="02040503050406030204" pitchFamily="18" charset="0"/>
                            </a:rPr>
                          </m:ctrlPr>
                        </m:sSubPr>
                        <m:e>
                          <m:r>
                            <a:rPr lang="en-US" i="1" smtClean="0">
                              <a:effectLst/>
                              <a:latin typeface="Cambria Math" panose="02040503050406030204" pitchFamily="18" charset="0"/>
                            </a:rPr>
                            <m:t>𝛽</m:t>
                          </m:r>
                        </m:e>
                        <m:sub>
                          <m:r>
                            <a:rPr lang="en-US" i="1" smtClean="0">
                              <a:effectLst/>
                              <a:latin typeface="Cambria Math" panose="02040503050406030204" pitchFamily="18" charset="0"/>
                            </a:rPr>
                            <m:t>3</m:t>
                          </m:r>
                        </m:sub>
                      </m:sSub>
                      <m:r>
                        <a:rPr lang="en-US" i="1" smtClean="0">
                          <a:effectLst/>
                          <a:latin typeface="Cambria Math" panose="02040503050406030204" pitchFamily="18" charset="0"/>
                        </a:rPr>
                        <m:t>⋅</m:t>
                      </m:r>
                      <m:r>
                        <m:rPr>
                          <m:nor/>
                        </m:rPr>
                        <a:rPr lang="en-US" i="0" smtClean="0">
                          <a:effectLst/>
                          <a:latin typeface="Cambria Math" panose="02040503050406030204" pitchFamily="18" charset="0"/>
                        </a:rPr>
                        <m:t>YawRate</m:t>
                      </m:r>
                      <m:r>
                        <a:rPr lang="en-US" i="1" smtClean="0">
                          <a:effectLst/>
                          <a:latin typeface="Cambria Math" panose="02040503050406030204" pitchFamily="18" charset="0"/>
                        </a:rPr>
                        <m:t>+</m:t>
                      </m:r>
                      <m:sSub>
                        <m:sSubPr>
                          <m:ctrlPr>
                            <a:rPr lang="en-US" i="1" smtClean="0">
                              <a:effectLst/>
                              <a:latin typeface="Cambria Math" panose="02040503050406030204" pitchFamily="18" charset="0"/>
                            </a:rPr>
                          </m:ctrlPr>
                        </m:sSubPr>
                        <m:e>
                          <m:r>
                            <a:rPr lang="en-US" i="1" smtClean="0">
                              <a:effectLst/>
                              <a:latin typeface="Cambria Math" panose="02040503050406030204" pitchFamily="18" charset="0"/>
                            </a:rPr>
                            <m:t>𝛽</m:t>
                          </m:r>
                        </m:e>
                        <m:sub>
                          <m:r>
                            <a:rPr lang="en-US" i="1" smtClean="0">
                              <a:effectLst/>
                              <a:latin typeface="Cambria Math" panose="02040503050406030204" pitchFamily="18" charset="0"/>
                            </a:rPr>
                            <m:t>4</m:t>
                          </m:r>
                        </m:sub>
                      </m:sSub>
                      <m:r>
                        <a:rPr lang="en-US" i="1" smtClean="0">
                          <a:effectLst/>
                          <a:latin typeface="Cambria Math" panose="02040503050406030204" pitchFamily="18" charset="0"/>
                        </a:rPr>
                        <m:t>⋅</m:t>
                      </m:r>
                      <m:sSub>
                        <m:sSubPr>
                          <m:ctrlPr>
                            <a:rPr lang="en-US" i="1" smtClean="0">
                              <a:effectLst/>
                              <a:latin typeface="Cambria Math" panose="02040503050406030204" pitchFamily="18" charset="0"/>
                            </a:rPr>
                          </m:ctrlPr>
                        </m:sSubPr>
                        <m:e>
                          <m:r>
                            <a:rPr lang="en-US" i="1" smtClean="0">
                              <a:effectLst/>
                              <a:latin typeface="Cambria Math" panose="02040503050406030204" pitchFamily="18" charset="0"/>
                            </a:rPr>
                            <m:t>𝑉</m:t>
                          </m:r>
                        </m:e>
                        <m:sub>
                          <m:r>
                            <a:rPr lang="en-US" i="1" smtClean="0">
                              <a:effectLst/>
                              <a:latin typeface="Cambria Math" panose="02040503050406030204" pitchFamily="18" charset="0"/>
                            </a:rPr>
                            <m:t>𝑥</m:t>
                          </m:r>
                        </m:sub>
                      </m:sSub>
                      <m:r>
                        <a:rPr lang="en-US" i="1" smtClean="0">
                          <a:effectLst/>
                          <a:latin typeface="Cambria Math" panose="02040503050406030204" pitchFamily="18" charset="0"/>
                        </a:rPr>
                        <m:t>+</m:t>
                      </m:r>
                      <m:sSub>
                        <m:sSubPr>
                          <m:ctrlPr>
                            <a:rPr lang="en-US" i="1" smtClean="0">
                              <a:effectLst/>
                              <a:latin typeface="Cambria Math" panose="02040503050406030204" pitchFamily="18" charset="0"/>
                            </a:rPr>
                          </m:ctrlPr>
                        </m:sSubPr>
                        <m:e>
                          <m:r>
                            <a:rPr lang="en-US" i="1" smtClean="0">
                              <a:effectLst/>
                              <a:latin typeface="Cambria Math" panose="02040503050406030204" pitchFamily="18" charset="0"/>
                            </a:rPr>
                            <m:t>𝛽</m:t>
                          </m:r>
                        </m:e>
                        <m:sub>
                          <m:r>
                            <a:rPr lang="en-US" i="1" smtClean="0">
                              <a:effectLst/>
                              <a:latin typeface="Cambria Math" panose="02040503050406030204" pitchFamily="18" charset="0"/>
                            </a:rPr>
                            <m:t>5</m:t>
                          </m:r>
                        </m:sub>
                      </m:sSub>
                      <m:r>
                        <a:rPr lang="en-US" i="1" smtClean="0">
                          <a:effectLst/>
                          <a:latin typeface="Cambria Math" panose="02040503050406030204" pitchFamily="18" charset="0"/>
                        </a:rPr>
                        <m:t>⋅</m:t>
                      </m:r>
                      <m:sSub>
                        <m:sSubPr>
                          <m:ctrlPr>
                            <a:rPr lang="en-US" i="1" smtClean="0">
                              <a:effectLst/>
                              <a:latin typeface="Cambria Math" panose="02040503050406030204" pitchFamily="18" charset="0"/>
                            </a:rPr>
                          </m:ctrlPr>
                        </m:sSubPr>
                        <m:e>
                          <m:r>
                            <a:rPr lang="en-US" i="1" smtClean="0">
                              <a:effectLst/>
                              <a:latin typeface="Cambria Math" panose="02040503050406030204" pitchFamily="18" charset="0"/>
                            </a:rPr>
                            <m:t>𝑉</m:t>
                          </m:r>
                        </m:e>
                        <m:sub>
                          <m:r>
                            <a:rPr lang="en-US" i="1" smtClean="0">
                              <a:effectLst/>
                              <a:latin typeface="Cambria Math" panose="02040503050406030204" pitchFamily="18" charset="0"/>
                            </a:rPr>
                            <m:t>𝑦</m:t>
                          </m:r>
                        </m:sub>
                      </m:sSub>
                    </m:oMath>
                  </m:oMathPara>
                </a14:m>
                <a:endParaRPr lang="en-US" dirty="0">
                  <a:effectLst/>
                  <a:latin typeface="GT Walsheim Trial Rg" pitchFamily="2" charset="77"/>
                </a:endParaRPr>
              </a:p>
            </p:txBody>
          </p:sp>
        </mc:Choice>
        <mc:Fallback xmlns="">
          <p:sp>
            <p:nvSpPr>
              <p:cNvPr id="3" name="TextBox 2">
                <a:extLst>
                  <a:ext uri="{FF2B5EF4-FFF2-40B4-BE49-F238E27FC236}">
                    <a16:creationId xmlns:a16="http://schemas.microsoft.com/office/drawing/2014/main" id="{C89E9928-1D9E-51AD-B1B8-C5747ADD65CD}"/>
                  </a:ext>
                </a:extLst>
              </p:cNvPr>
              <p:cNvSpPr txBox="1">
                <a:spLocks noRot="1" noChangeAspect="1" noMove="1" noResize="1" noEditPoints="1" noAdjustHandles="1" noChangeArrowheads="1" noChangeShapeType="1" noTextEdit="1"/>
              </p:cNvSpPr>
              <p:nvPr/>
            </p:nvSpPr>
            <p:spPr>
              <a:xfrm>
                <a:off x="2280998" y="2406935"/>
                <a:ext cx="7870718" cy="391261"/>
              </a:xfrm>
              <a:prstGeom prst="rect">
                <a:avLst/>
              </a:prstGeom>
              <a:blipFill>
                <a:blip r:embed="rId4"/>
                <a:stretch>
                  <a:fillRect b="-6250"/>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926D24CC-E88C-F396-E04B-2061C7CF771B}"/>
              </a:ext>
            </a:extLst>
          </p:cNvPr>
          <p:cNvSpPr/>
          <p:nvPr/>
        </p:nvSpPr>
        <p:spPr>
          <a:xfrm>
            <a:off x="854438" y="1717968"/>
            <a:ext cx="10723843" cy="450883"/>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3FA320B-9F02-D466-AE9F-3493B7C54BA7}"/>
              </a:ext>
            </a:extLst>
          </p:cNvPr>
          <p:cNvSpPr txBox="1"/>
          <p:nvPr/>
        </p:nvSpPr>
        <p:spPr>
          <a:xfrm>
            <a:off x="5667367" y="1738717"/>
            <a:ext cx="1097981" cy="369332"/>
          </a:xfrm>
          <a:prstGeom prst="rect">
            <a:avLst/>
          </a:prstGeom>
          <a:noFill/>
        </p:spPr>
        <p:txBody>
          <a:bodyPr wrap="square">
            <a:spAutoFit/>
          </a:bodyPr>
          <a:lstStyle/>
          <a:p>
            <a:pPr algn="l"/>
            <a:r>
              <a:rPr lang="en-US" dirty="0">
                <a:solidFill>
                  <a:schemeClr val="bg1"/>
                </a:solidFill>
                <a:effectLst/>
                <a:latin typeface="GT Walsheim Trial Rg" pitchFamily="2" charset="77"/>
              </a:rPr>
              <a:t>Formula</a:t>
            </a:r>
          </a:p>
        </p:txBody>
      </p:sp>
      <p:graphicFrame>
        <p:nvGraphicFramePr>
          <p:cNvPr id="13" name="Table 12">
            <a:extLst>
              <a:ext uri="{FF2B5EF4-FFF2-40B4-BE49-F238E27FC236}">
                <a16:creationId xmlns:a16="http://schemas.microsoft.com/office/drawing/2014/main" id="{8C3A6D9A-0B4F-407F-748A-3383F0024D34}"/>
              </a:ext>
            </a:extLst>
          </p:cNvPr>
          <p:cNvGraphicFramePr>
            <a:graphicFrameLocks noGrp="1"/>
          </p:cNvGraphicFramePr>
          <p:nvPr>
            <p:extLst>
              <p:ext uri="{D42A27DB-BD31-4B8C-83A1-F6EECF244321}">
                <p14:modId xmlns:p14="http://schemas.microsoft.com/office/powerpoint/2010/main" val="3170060988"/>
              </p:ext>
            </p:extLst>
          </p:nvPr>
        </p:nvGraphicFramePr>
        <p:xfrm>
          <a:off x="854437" y="3271175"/>
          <a:ext cx="6602279" cy="1761946"/>
        </p:xfrm>
        <a:graphic>
          <a:graphicData uri="http://schemas.openxmlformats.org/drawingml/2006/table">
            <a:tbl>
              <a:tblPr firstRow="1" bandRow="1">
                <a:tableStyleId>{073A0DAA-6AF3-43AB-8588-CEC1D06C72B9}</a:tableStyleId>
              </a:tblPr>
              <a:tblGrid>
                <a:gridCol w="1650226">
                  <a:extLst>
                    <a:ext uri="{9D8B030D-6E8A-4147-A177-3AD203B41FA5}">
                      <a16:colId xmlns:a16="http://schemas.microsoft.com/office/drawing/2014/main" val="1610543496"/>
                    </a:ext>
                  </a:extLst>
                </a:gridCol>
                <a:gridCol w="1810485">
                  <a:extLst>
                    <a:ext uri="{9D8B030D-6E8A-4147-A177-3AD203B41FA5}">
                      <a16:colId xmlns:a16="http://schemas.microsoft.com/office/drawing/2014/main" val="2940384537"/>
                    </a:ext>
                  </a:extLst>
                </a:gridCol>
                <a:gridCol w="3141568">
                  <a:extLst>
                    <a:ext uri="{9D8B030D-6E8A-4147-A177-3AD203B41FA5}">
                      <a16:colId xmlns:a16="http://schemas.microsoft.com/office/drawing/2014/main" val="3740313691"/>
                    </a:ext>
                  </a:extLst>
                </a:gridCol>
              </a:tblGrid>
              <a:tr h="279076">
                <a:tc>
                  <a:txBody>
                    <a:bodyPr/>
                    <a:lstStyle/>
                    <a:p>
                      <a:endParaRPr lang="en-US" sz="1500" b="0" i="0" dirty="0">
                        <a:solidFill>
                          <a:schemeClr val="bg1"/>
                        </a:solidFill>
                        <a:latin typeface="GT Walsheim Trial Rg" pitchFamily="2" charset="77"/>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chemeClr val="bg1"/>
                    </a:solidFill>
                  </a:tcPr>
                </a:tc>
                <a:tc>
                  <a:txBody>
                    <a:bodyPr/>
                    <a:lstStyle/>
                    <a:p>
                      <a:r>
                        <a:rPr lang="en-US" sz="1500" b="0" i="0" dirty="0">
                          <a:solidFill>
                            <a:schemeClr val="bg1"/>
                          </a:solidFill>
                          <a:latin typeface="GT Walsheim Trial Rg" pitchFamily="2" charset="77"/>
                        </a:rPr>
                        <a:t>Condition 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1500" b="0" i="0" dirty="0">
                          <a:solidFill>
                            <a:schemeClr val="bg1"/>
                          </a:solidFill>
                          <a:latin typeface="GT Walsheim Trial Rg" pitchFamily="2" charset="77"/>
                        </a:rPr>
                        <a:t>Condition 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extLst>
                  <a:ext uri="{0D108BD9-81ED-4DB2-BD59-A6C34878D82A}">
                    <a16:rowId xmlns:a16="http://schemas.microsoft.com/office/drawing/2014/main" val="4220759275"/>
                  </a:ext>
                </a:extLst>
              </a:tr>
              <a:tr h="446633">
                <a:tc>
                  <a:txBody>
                    <a:bodyPr/>
                    <a:lstStyle/>
                    <a:p>
                      <a:r>
                        <a:rPr lang="en-US" sz="1500" b="0" i="0" dirty="0">
                          <a:solidFill>
                            <a:schemeClr val="tx1"/>
                          </a:solidFill>
                          <a:latin typeface="GT Walsheim Trial Rg" pitchFamily="2" charset="77"/>
                        </a:rPr>
                        <a:t>Dataset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All Agents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Moving agents only (Speed &gt; 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52326013"/>
                  </a:ext>
                </a:extLst>
              </a:tr>
              <a:tr h="446633">
                <a:tc>
                  <a:txBody>
                    <a:bodyPr/>
                    <a:lstStyle/>
                    <a:p>
                      <a:r>
                        <a:rPr lang="en-US" sz="1500" b="0" i="0" dirty="0">
                          <a:solidFill>
                            <a:schemeClr val="tx1"/>
                          </a:solidFill>
                          <a:latin typeface="GT Walsheim Trial Rg" pitchFamily="2" charset="77"/>
                        </a:rPr>
                        <a:t>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6,614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3,196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42999530"/>
                  </a:ext>
                </a:extLst>
              </a:tr>
              <a:tr h="4466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dk1"/>
                          </a:solidFill>
                          <a:effectLst/>
                          <a:latin typeface="+mn-lt"/>
                          <a:ea typeface="+mn-ea"/>
                          <a:cs typeface="+mn-cs"/>
                        </a:rPr>
                        <a:t>Purpose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Baseline including easy cases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Honest evaluation under dynamics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51402671"/>
                  </a:ext>
                </a:extLst>
              </a:tr>
            </a:tbl>
          </a:graphicData>
        </a:graphic>
      </p:graphicFrame>
      <p:sp>
        <p:nvSpPr>
          <p:cNvPr id="14" name="Rectangle 13">
            <a:extLst>
              <a:ext uri="{FF2B5EF4-FFF2-40B4-BE49-F238E27FC236}">
                <a16:creationId xmlns:a16="http://schemas.microsoft.com/office/drawing/2014/main" id="{7D2A0522-26B5-AB30-52E8-78C52B62BB6C}"/>
              </a:ext>
            </a:extLst>
          </p:cNvPr>
          <p:cNvSpPr/>
          <p:nvPr/>
        </p:nvSpPr>
        <p:spPr>
          <a:xfrm>
            <a:off x="7699513" y="3253653"/>
            <a:ext cx="3878767" cy="3156526"/>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20090E7-5553-0025-BEA5-4C32A61CE758}"/>
              </a:ext>
            </a:extLst>
          </p:cNvPr>
          <p:cNvSpPr txBox="1"/>
          <p:nvPr/>
        </p:nvSpPr>
        <p:spPr>
          <a:xfrm>
            <a:off x="7946924" y="4231751"/>
            <a:ext cx="3390637" cy="1200329"/>
          </a:xfrm>
          <a:prstGeom prst="rect">
            <a:avLst/>
          </a:prstGeom>
          <a:noFill/>
        </p:spPr>
        <p:txBody>
          <a:bodyPr wrap="square" rtlCol="0">
            <a:spAutoFit/>
          </a:bodyPr>
          <a:lstStyle/>
          <a:p>
            <a:r>
              <a:rPr lang="en-US" dirty="0">
                <a:solidFill>
                  <a:schemeClr val="bg1"/>
                </a:solidFill>
                <a:latin typeface="GT Walsheim Trial Rg" pitchFamily="2" charset="77"/>
              </a:rPr>
              <a:t>— 80 / 20 train / test split</a:t>
            </a:r>
          </a:p>
          <a:p>
            <a:r>
              <a:rPr lang="en-US" dirty="0">
                <a:solidFill>
                  <a:schemeClr val="bg1"/>
                </a:solidFill>
                <a:latin typeface="GT Walsheim Trial Rg" pitchFamily="2" charset="77"/>
              </a:rPr>
              <a:t>— 5-fold cross-validation on training set.</a:t>
            </a:r>
          </a:p>
          <a:p>
            <a:r>
              <a:rPr lang="en-US" dirty="0">
                <a:solidFill>
                  <a:schemeClr val="bg1"/>
                </a:solidFill>
                <a:latin typeface="GT Walsheim Trial Rg" pitchFamily="2" charset="77"/>
              </a:rPr>
              <a:t>— Metrics: RMSE (meters) · R²</a:t>
            </a:r>
          </a:p>
        </p:txBody>
      </p:sp>
      <p:sp>
        <p:nvSpPr>
          <p:cNvPr id="20" name="Rectangle 19">
            <a:extLst>
              <a:ext uri="{FF2B5EF4-FFF2-40B4-BE49-F238E27FC236}">
                <a16:creationId xmlns:a16="http://schemas.microsoft.com/office/drawing/2014/main" id="{BB0DA282-2F1C-FE40-560D-983DC4EE6AFC}"/>
              </a:ext>
            </a:extLst>
          </p:cNvPr>
          <p:cNvSpPr/>
          <p:nvPr/>
        </p:nvSpPr>
        <p:spPr>
          <a:xfrm>
            <a:off x="854439" y="5253683"/>
            <a:ext cx="6602278" cy="1156496"/>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830CEAD5-2798-7B65-ED0C-0B70929BD33D}"/>
              </a:ext>
            </a:extLst>
          </p:cNvPr>
          <p:cNvSpPr txBox="1"/>
          <p:nvPr/>
        </p:nvSpPr>
        <p:spPr>
          <a:xfrm>
            <a:off x="1619369" y="5412484"/>
            <a:ext cx="5458087" cy="784830"/>
          </a:xfrm>
          <a:prstGeom prst="rect">
            <a:avLst/>
          </a:prstGeom>
          <a:noFill/>
        </p:spPr>
        <p:txBody>
          <a:bodyPr wrap="square">
            <a:spAutoFit/>
          </a:bodyPr>
          <a:lstStyle/>
          <a:p>
            <a:pPr algn="l"/>
            <a:r>
              <a:rPr lang="en-US" sz="1500" dirty="0">
                <a:solidFill>
                  <a:schemeClr val="bg1"/>
                </a:solidFill>
                <a:effectLst/>
                <a:latin typeface="GT Walsheim Trial Lt" pitchFamily="2" charset="77"/>
              </a:rPr>
              <a:t>Stationary agents have near-zero displacement — trivially easy to predict. The two conditions reveal whether R² reflects real predictive power or dataset composition.</a:t>
            </a:r>
          </a:p>
        </p:txBody>
      </p:sp>
      <p:sp>
        <p:nvSpPr>
          <p:cNvPr id="22" name="TextBox 21">
            <a:extLst>
              <a:ext uri="{FF2B5EF4-FFF2-40B4-BE49-F238E27FC236}">
                <a16:creationId xmlns:a16="http://schemas.microsoft.com/office/drawing/2014/main" id="{EB9F7996-7A6B-FE36-9CEC-30F1AD4CBB04}"/>
              </a:ext>
            </a:extLst>
          </p:cNvPr>
          <p:cNvSpPr txBox="1"/>
          <p:nvPr/>
        </p:nvSpPr>
        <p:spPr>
          <a:xfrm>
            <a:off x="389899" y="4705581"/>
            <a:ext cx="1582840" cy="2400657"/>
          </a:xfrm>
          <a:prstGeom prst="rect">
            <a:avLst/>
          </a:prstGeom>
          <a:noFill/>
        </p:spPr>
        <p:txBody>
          <a:bodyPr wrap="square">
            <a:spAutoFit/>
          </a:bodyPr>
          <a:lstStyle/>
          <a:p>
            <a:pPr algn="ctr">
              <a:buNone/>
            </a:pPr>
            <a:r>
              <a:rPr lang="en-US" sz="15000" b="0" i="0" dirty="0">
                <a:solidFill>
                  <a:schemeClr val="bg1">
                    <a:alpha val="20000"/>
                  </a:schemeClr>
                </a:solidFill>
                <a:effectLst/>
                <a:latin typeface="GT Walsheim Trial Rg" pitchFamily="2" charset="77"/>
              </a:rPr>
              <a:t>"</a:t>
            </a:r>
          </a:p>
        </p:txBody>
      </p:sp>
    </p:spTree>
    <p:extLst>
      <p:ext uri="{BB962C8B-B14F-4D97-AF65-F5344CB8AC3E}">
        <p14:creationId xmlns:p14="http://schemas.microsoft.com/office/powerpoint/2010/main" val="1500307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A4BA7-F3A6-E732-6195-3839B0C5EAA9}"/>
            </a:ext>
          </a:extLst>
        </p:cNvPr>
        <p:cNvGrpSpPr/>
        <p:nvPr/>
      </p:nvGrpSpPr>
      <p:grpSpPr>
        <a:xfrm>
          <a:off x="0" y="0"/>
          <a:ext cx="0" cy="0"/>
          <a:chOff x="0" y="0"/>
          <a:chExt cx="0" cy="0"/>
        </a:xfrm>
      </p:grpSpPr>
      <p:pic>
        <p:nvPicPr>
          <p:cNvPr id="1026" name="Picture 2" descr="Waymo Logo">
            <a:extLst>
              <a:ext uri="{FF2B5EF4-FFF2-40B4-BE49-F238E27FC236}">
                <a16:creationId xmlns:a16="http://schemas.microsoft.com/office/drawing/2014/main" id="{237A9A18-3CEC-C2B2-D088-8BC9FB289C3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795378" y="425703"/>
            <a:ext cx="782903" cy="782903"/>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2CD54BCC-4244-9833-FB50-3B0FBEE3DF14}"/>
              </a:ext>
            </a:extLst>
          </p:cNvPr>
          <p:cNvSpPr>
            <a:spLocks noGrp="1"/>
          </p:cNvSpPr>
          <p:nvPr>
            <p:ph type="ctrTitle"/>
          </p:nvPr>
        </p:nvSpPr>
        <p:spPr>
          <a:xfrm>
            <a:off x="716478" y="447821"/>
            <a:ext cx="3073202" cy="369333"/>
          </a:xfrm>
        </p:spPr>
        <p:txBody>
          <a:bodyPr>
            <a:normAutofit/>
          </a:bodyPr>
          <a:lstStyle/>
          <a:p>
            <a:pPr algn="l"/>
            <a:r>
              <a:rPr lang="en-US" sz="1500" dirty="0">
                <a:solidFill>
                  <a:srgbClr val="989DA2"/>
                </a:solidFill>
                <a:latin typeface="GT Walsheim Trial Rg" pitchFamily="2" charset="77"/>
              </a:rPr>
              <a:t>DEMO</a:t>
            </a:r>
          </a:p>
        </p:txBody>
      </p:sp>
      <p:sp>
        <p:nvSpPr>
          <p:cNvPr id="8" name="TextBox 7">
            <a:extLst>
              <a:ext uri="{FF2B5EF4-FFF2-40B4-BE49-F238E27FC236}">
                <a16:creationId xmlns:a16="http://schemas.microsoft.com/office/drawing/2014/main" id="{E76462B7-FBB5-3D19-59DF-2E5C7B79B139}"/>
              </a:ext>
            </a:extLst>
          </p:cNvPr>
          <p:cNvSpPr txBox="1"/>
          <p:nvPr/>
        </p:nvSpPr>
        <p:spPr>
          <a:xfrm>
            <a:off x="716476" y="952090"/>
            <a:ext cx="9236415" cy="630942"/>
          </a:xfrm>
          <a:prstGeom prst="rect">
            <a:avLst/>
          </a:prstGeom>
          <a:noFill/>
        </p:spPr>
        <p:txBody>
          <a:bodyPr wrap="square">
            <a:spAutoFit/>
          </a:bodyPr>
          <a:lstStyle/>
          <a:p>
            <a:r>
              <a:rPr lang="en-US" sz="3500" dirty="0">
                <a:latin typeface="GT Walsheim Trial Rg" pitchFamily="2" charset="77"/>
              </a:rPr>
              <a:t>Visual Results</a:t>
            </a:r>
          </a:p>
        </p:txBody>
      </p:sp>
      <p:sp>
        <p:nvSpPr>
          <p:cNvPr id="21" name="TextBox 20">
            <a:extLst>
              <a:ext uri="{FF2B5EF4-FFF2-40B4-BE49-F238E27FC236}">
                <a16:creationId xmlns:a16="http://schemas.microsoft.com/office/drawing/2014/main" id="{E127105C-CD4B-A43D-093C-7CB7B7B6B89D}"/>
              </a:ext>
            </a:extLst>
          </p:cNvPr>
          <p:cNvSpPr txBox="1"/>
          <p:nvPr/>
        </p:nvSpPr>
        <p:spPr>
          <a:xfrm>
            <a:off x="541195" y="10314693"/>
            <a:ext cx="5458087" cy="784830"/>
          </a:xfrm>
          <a:prstGeom prst="rect">
            <a:avLst/>
          </a:prstGeom>
          <a:noFill/>
        </p:spPr>
        <p:txBody>
          <a:bodyPr wrap="square">
            <a:spAutoFit/>
          </a:bodyPr>
          <a:lstStyle/>
          <a:p>
            <a:pPr algn="l"/>
            <a:r>
              <a:rPr lang="en-US" sz="1500" dirty="0">
                <a:solidFill>
                  <a:schemeClr val="bg1"/>
                </a:solidFill>
                <a:effectLst/>
                <a:latin typeface="GT Walsheim Trial Lt" pitchFamily="2" charset="77"/>
              </a:rPr>
              <a:t>Stationary agents have near-zero displacement — trivially easy to predict. The two conditions reveal whether R² reflects real predictive power or dataset composition.</a:t>
            </a:r>
          </a:p>
        </p:txBody>
      </p:sp>
      <p:pic>
        <p:nvPicPr>
          <p:cNvPr id="2" name="Picture 4" descr="Waymo branded color scheme">
            <a:extLst>
              <a:ext uri="{FF2B5EF4-FFF2-40B4-BE49-F238E27FC236}">
                <a16:creationId xmlns:a16="http://schemas.microsoft.com/office/drawing/2014/main" id="{1D0EB517-839D-294D-EC76-4A1EA429D10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089835" y="-1189446"/>
            <a:ext cx="5334000" cy="2006600"/>
          </a:xfrm>
          <a:prstGeom prst="rect">
            <a:avLst/>
          </a:prstGeom>
          <a:noFill/>
          <a:extLst>
            <a:ext uri="{909E8E84-426E-40DD-AFC4-6F175D3DCCD1}">
              <a14:hiddenFill xmlns:a14="http://schemas.microsoft.com/office/drawing/2010/main">
                <a:solidFill>
                  <a:srgbClr val="FFFFFF"/>
                </a:solidFill>
              </a14:hiddenFill>
            </a:ext>
          </a:extLst>
        </p:spPr>
      </p:pic>
      <p:pic>
        <p:nvPicPr>
          <p:cNvPr id="6" name="vehicle_01_HighSpeed_3vehicles_909244b8">
            <a:hlinkClick r:id="" action="ppaction://media"/>
            <a:extLst>
              <a:ext uri="{FF2B5EF4-FFF2-40B4-BE49-F238E27FC236}">
                <a16:creationId xmlns:a16="http://schemas.microsoft.com/office/drawing/2014/main" id="{3666306E-6EBB-B987-E57F-971F7BB48AFC}"/>
              </a:ext>
            </a:extLst>
          </p:cNvPr>
          <p:cNvPicPr>
            <a:picLocks noChangeAspect="1"/>
          </p:cNvPicPr>
          <p:nvPr>
            <a:videoFile r:link="rId2"/>
            <p:extLst>
              <p:ext uri="{DAA4B4D4-6D71-4841-9C94-3DE7FCFB9230}">
                <p14:media xmlns:p14="http://schemas.microsoft.com/office/powerpoint/2010/main" r:embed="rId1"/>
              </p:ext>
            </p:extLst>
          </p:nvPr>
        </p:nvPicPr>
        <p:blipFill>
          <a:blip r:embed="rId11"/>
          <a:stretch>
            <a:fillRect/>
          </a:stretch>
        </p:blipFill>
        <p:spPr>
          <a:xfrm>
            <a:off x="716476" y="2248298"/>
            <a:ext cx="3722088" cy="3722088"/>
          </a:xfrm>
          <a:prstGeom prst="rect">
            <a:avLst/>
          </a:prstGeom>
        </p:spPr>
      </p:pic>
      <p:pic>
        <p:nvPicPr>
          <p:cNvPr id="7" name="anomaly_02_Veh_HighAccel_5baef16b">
            <a:hlinkClick r:id="" action="ppaction://media"/>
            <a:extLst>
              <a:ext uri="{FF2B5EF4-FFF2-40B4-BE49-F238E27FC236}">
                <a16:creationId xmlns:a16="http://schemas.microsoft.com/office/drawing/2014/main" id="{397DFF8F-298C-1C62-04AA-18596E28FB0E}"/>
              </a:ext>
            </a:extLst>
          </p:cNvPr>
          <p:cNvPicPr>
            <a:picLocks noChangeAspect="1"/>
          </p:cNvPicPr>
          <p:nvPr>
            <a:videoFile r:link="rId4"/>
            <p:extLst>
              <p:ext uri="{DAA4B4D4-6D71-4841-9C94-3DE7FCFB9230}">
                <p14:media xmlns:p14="http://schemas.microsoft.com/office/powerpoint/2010/main" r:embed="rId3"/>
              </p:ext>
            </p:extLst>
          </p:nvPr>
        </p:nvPicPr>
        <p:blipFill>
          <a:blip r:embed="rId12"/>
          <a:stretch>
            <a:fillRect/>
          </a:stretch>
        </p:blipFill>
        <p:spPr>
          <a:xfrm>
            <a:off x="4010045" y="2248298"/>
            <a:ext cx="3722088" cy="3722088"/>
          </a:xfrm>
          <a:prstGeom prst="rect">
            <a:avLst/>
          </a:prstGeom>
        </p:spPr>
      </p:pic>
      <p:pic>
        <p:nvPicPr>
          <p:cNvPr id="9" name="anomaly_10_Veh_HighYaw_262112a6">
            <a:hlinkClick r:id="" action="ppaction://media"/>
            <a:extLst>
              <a:ext uri="{FF2B5EF4-FFF2-40B4-BE49-F238E27FC236}">
                <a16:creationId xmlns:a16="http://schemas.microsoft.com/office/drawing/2014/main" id="{AD551C60-C50B-074F-86A4-EE34867F2268}"/>
              </a:ext>
            </a:extLst>
          </p:cNvPr>
          <p:cNvPicPr>
            <a:picLocks noChangeAspect="1"/>
          </p:cNvPicPr>
          <p:nvPr>
            <a:videoFile r:link="rId6"/>
            <p:extLst>
              <p:ext uri="{DAA4B4D4-6D71-4841-9C94-3DE7FCFB9230}">
                <p14:media xmlns:p14="http://schemas.microsoft.com/office/powerpoint/2010/main" r:embed="rId5"/>
              </p:ext>
            </p:extLst>
          </p:nvPr>
        </p:nvPicPr>
        <p:blipFill>
          <a:blip r:embed="rId13"/>
          <a:stretch>
            <a:fillRect/>
          </a:stretch>
        </p:blipFill>
        <p:spPr>
          <a:xfrm>
            <a:off x="7732133" y="2248298"/>
            <a:ext cx="3722089" cy="3722089"/>
          </a:xfrm>
          <a:prstGeom prst="rect">
            <a:avLst/>
          </a:prstGeom>
        </p:spPr>
      </p:pic>
      <p:sp>
        <p:nvSpPr>
          <p:cNvPr id="3" name="Freeform 2">
            <a:extLst>
              <a:ext uri="{FF2B5EF4-FFF2-40B4-BE49-F238E27FC236}">
                <a16:creationId xmlns:a16="http://schemas.microsoft.com/office/drawing/2014/main" id="{5FA9EB90-2595-709F-AE1E-7A588079B5FD}"/>
              </a:ext>
            </a:extLst>
          </p:cNvPr>
          <p:cNvSpPr/>
          <p:nvPr/>
        </p:nvSpPr>
        <p:spPr>
          <a:xfrm rot="8442973">
            <a:off x="-9898095" y="-3829781"/>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4">
            <a:extLst>
              <a:ext uri="{FF2B5EF4-FFF2-40B4-BE49-F238E27FC236}">
                <a16:creationId xmlns:a16="http://schemas.microsoft.com/office/drawing/2014/main" id="{5D162B93-3E74-0313-0A57-03992CB51ABF}"/>
              </a:ext>
            </a:extLst>
          </p:cNvPr>
          <p:cNvSpPr/>
          <p:nvPr/>
        </p:nvSpPr>
        <p:spPr>
          <a:xfrm rot="18406025">
            <a:off x="2375455" y="5812286"/>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535B06F-8008-C722-40D2-666914885251}"/>
              </a:ext>
            </a:extLst>
          </p:cNvPr>
          <p:cNvSpPr txBox="1"/>
          <p:nvPr/>
        </p:nvSpPr>
        <p:spPr>
          <a:xfrm>
            <a:off x="1558617" y="2063632"/>
            <a:ext cx="2037805" cy="369332"/>
          </a:xfrm>
          <a:prstGeom prst="rect">
            <a:avLst/>
          </a:prstGeom>
          <a:noFill/>
        </p:spPr>
        <p:txBody>
          <a:bodyPr wrap="square">
            <a:spAutoFit/>
          </a:bodyPr>
          <a:lstStyle/>
          <a:p>
            <a:r>
              <a:rPr lang="en-US" sz="1800" dirty="0">
                <a:latin typeface="GT Walsheim Trial Rg" pitchFamily="2" charset="77"/>
              </a:rPr>
              <a:t>Speeding Vehicles</a:t>
            </a:r>
            <a:endParaRPr lang="en-US" dirty="0"/>
          </a:p>
        </p:txBody>
      </p:sp>
      <p:sp>
        <p:nvSpPr>
          <p:cNvPr id="14" name="TextBox 13">
            <a:extLst>
              <a:ext uri="{FF2B5EF4-FFF2-40B4-BE49-F238E27FC236}">
                <a16:creationId xmlns:a16="http://schemas.microsoft.com/office/drawing/2014/main" id="{86652012-79AD-0CAC-E831-0F320A523F40}"/>
              </a:ext>
            </a:extLst>
          </p:cNvPr>
          <p:cNvSpPr txBox="1"/>
          <p:nvPr/>
        </p:nvSpPr>
        <p:spPr>
          <a:xfrm>
            <a:off x="5201656" y="2063631"/>
            <a:ext cx="1595252" cy="369332"/>
          </a:xfrm>
          <a:prstGeom prst="rect">
            <a:avLst/>
          </a:prstGeom>
          <a:noFill/>
        </p:spPr>
        <p:txBody>
          <a:bodyPr wrap="square">
            <a:spAutoFit/>
          </a:bodyPr>
          <a:lstStyle/>
          <a:p>
            <a:r>
              <a:rPr lang="en-US" sz="1800" dirty="0">
                <a:latin typeface="GT Walsheim Trial Rg" pitchFamily="2" charset="77"/>
              </a:rPr>
              <a:t>Lane Change</a:t>
            </a:r>
            <a:endParaRPr lang="en-US" dirty="0"/>
          </a:p>
        </p:txBody>
      </p:sp>
      <p:sp>
        <p:nvSpPr>
          <p:cNvPr id="16" name="TextBox 15">
            <a:extLst>
              <a:ext uri="{FF2B5EF4-FFF2-40B4-BE49-F238E27FC236}">
                <a16:creationId xmlns:a16="http://schemas.microsoft.com/office/drawing/2014/main" id="{4629228F-858D-AA5C-8007-A8B9B8684B58}"/>
              </a:ext>
            </a:extLst>
          </p:cNvPr>
          <p:cNvSpPr txBox="1"/>
          <p:nvPr/>
        </p:nvSpPr>
        <p:spPr>
          <a:xfrm>
            <a:off x="8212925" y="1870209"/>
            <a:ext cx="2973904" cy="646331"/>
          </a:xfrm>
          <a:prstGeom prst="rect">
            <a:avLst/>
          </a:prstGeom>
          <a:noFill/>
        </p:spPr>
        <p:txBody>
          <a:bodyPr wrap="square">
            <a:spAutoFit/>
          </a:bodyPr>
          <a:lstStyle/>
          <a:p>
            <a:pPr algn="ctr"/>
            <a:r>
              <a:rPr lang="en-US" sz="1800" dirty="0">
                <a:latin typeface="GT Walsheim Trial Rg" pitchFamily="2" charset="77"/>
              </a:rPr>
              <a:t>Sensor Artifact </a:t>
            </a:r>
          </a:p>
          <a:p>
            <a:pPr algn="ctr"/>
            <a:r>
              <a:rPr lang="en-US" sz="1800" dirty="0">
                <a:latin typeface="GT Walsheim Trial Th" pitchFamily="2" charset="77"/>
              </a:rPr>
              <a:t>Most of our </a:t>
            </a:r>
            <a:r>
              <a:rPr lang="en-US" sz="1800" dirty="0" err="1">
                <a:latin typeface="GT Walsheim Trial Th" pitchFamily="2" charset="77"/>
              </a:rPr>
              <a:t>Anomolies</a:t>
            </a:r>
            <a:endParaRPr lang="en-US" dirty="0">
              <a:latin typeface="GT Walsheim Trial Th" pitchFamily="2" charset="77"/>
            </a:endParaRPr>
          </a:p>
        </p:txBody>
      </p:sp>
    </p:spTree>
    <p:extLst>
      <p:ext uri="{BB962C8B-B14F-4D97-AF65-F5344CB8AC3E}">
        <p14:creationId xmlns:p14="http://schemas.microsoft.com/office/powerpoint/2010/main" val="112141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000" fill="hold"/>
                                        <p:tgtEl>
                                          <p:spTgt spid="6"/>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9000" fill="hold"/>
                                        <p:tgtEl>
                                          <p:spTgt spid="7"/>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900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fill="hold" display="0">
                  <p:stCondLst>
                    <p:cond delay="indefinite"/>
                  </p:stCondLst>
                </p:cTn>
                <p:tgtEl>
                  <p:spTgt spid="6"/>
                </p:tgtEl>
              </p:cMediaNode>
            </p:video>
            <p:seq concurrent="1" nextAc="seek">
              <p:cTn id="16" restart="whenNotActive" fill="hold" evtFilter="cancelBubble" nodeType="interactiveSeq">
                <p:stCondLst>
                  <p:cond evt="onClick" delay="0">
                    <p:tgtEl>
                      <p:spTgt spid="6"/>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6"/>
                                        </p:tgtEl>
                                      </p:cBhvr>
                                    </p:cmd>
                                  </p:childTnLst>
                                </p:cTn>
                              </p:par>
                            </p:childTnLst>
                          </p:cTn>
                        </p:par>
                      </p:childTnLst>
                    </p:cTn>
                  </p:par>
                </p:childTnLst>
              </p:cTn>
              <p:nextCondLst>
                <p:cond evt="onClick" delay="0">
                  <p:tgtEl>
                    <p:spTgt spid="6"/>
                  </p:tgtEl>
                </p:cond>
              </p:nextCondLst>
            </p:seq>
            <p:seq concurrent="1" nextAc="seek">
              <p:cTn id="21" restart="whenNotActive" fill="hold" evtFilter="cancelBubble" nodeType="interactiveSeq">
                <p:stCondLst>
                  <p:cond evt="onClick" delay="0">
                    <p:tgtEl>
                      <p:spTgt spid="7"/>
                    </p:tgtEl>
                  </p:cond>
                </p:stCondLst>
                <p:endSync evt="end" delay="0">
                  <p:rtn val="all"/>
                </p:endSync>
                <p:childTnLst>
                  <p:par>
                    <p:cTn id="22" fill="hold">
                      <p:stCondLst>
                        <p:cond delay="0"/>
                      </p:stCondLst>
                      <p:childTnLst>
                        <p:par>
                          <p:cTn id="23" fill="hold">
                            <p:stCondLst>
                              <p:cond delay="0"/>
                            </p:stCondLst>
                            <p:childTnLst>
                              <p:par>
                                <p:cTn id="24" presetID="2" presetClass="mediacall" presetSubtype="0" fill="hold" nodeType="clickEffect">
                                  <p:stCondLst>
                                    <p:cond delay="0"/>
                                  </p:stCondLst>
                                  <p:childTnLst>
                                    <p:cmd type="call" cmd="togglePause">
                                      <p:cBhvr>
                                        <p:cTn id="25" dur="1" fill="hold"/>
                                        <p:tgtEl>
                                          <p:spTgt spid="7"/>
                                        </p:tgtEl>
                                      </p:cBhvr>
                                    </p:cmd>
                                  </p:childTnLst>
                                </p:cTn>
                              </p:par>
                            </p:childTnLst>
                          </p:cTn>
                        </p:par>
                      </p:childTnLst>
                    </p:cTn>
                  </p:par>
                </p:childTnLst>
              </p:cTn>
              <p:nextCondLst>
                <p:cond evt="onClick" delay="0">
                  <p:tgtEl>
                    <p:spTgt spid="7"/>
                  </p:tgtEl>
                </p:cond>
              </p:nextCondLst>
            </p:seq>
            <p:video>
              <p:cMediaNode vol="80000">
                <p:cTn id="26" fill="hold" display="0">
                  <p:stCondLst>
                    <p:cond delay="indefinite"/>
                  </p:stCondLst>
                </p:cTn>
                <p:tgtEl>
                  <p:spTgt spid="7"/>
                </p:tgtEl>
              </p:cMediaNode>
            </p:video>
            <p:seq concurrent="1" nextAc="seek">
              <p:cTn id="27" restart="whenNotActive" fill="hold" evtFilter="cancelBubble" nodeType="interactiveSeq">
                <p:stCondLst>
                  <p:cond evt="onClick" delay="0">
                    <p:tgtEl>
                      <p:spTgt spid="9"/>
                    </p:tgtEl>
                  </p:cond>
                </p:stCondLst>
                <p:endSync evt="end" delay="0">
                  <p:rtn val="all"/>
                </p:endSync>
                <p:childTnLst>
                  <p:par>
                    <p:cTn id="28" fill="hold">
                      <p:stCondLst>
                        <p:cond delay="0"/>
                      </p:stCondLst>
                      <p:childTnLst>
                        <p:par>
                          <p:cTn id="29" fill="hold">
                            <p:stCondLst>
                              <p:cond delay="0"/>
                            </p:stCondLst>
                            <p:childTnLst>
                              <p:par>
                                <p:cTn id="30" presetID="2" presetClass="mediacall" presetSubtype="0" fill="hold" nodeType="clickEffect">
                                  <p:stCondLst>
                                    <p:cond delay="0"/>
                                  </p:stCondLst>
                                  <p:childTnLst>
                                    <p:cmd type="call" cmd="togglePause">
                                      <p:cBhvr>
                                        <p:cTn id="31" dur="1" fill="hold"/>
                                        <p:tgtEl>
                                          <p:spTgt spid="9"/>
                                        </p:tgtEl>
                                      </p:cBhvr>
                                    </p:cmd>
                                  </p:childTnLst>
                                </p:cTn>
                              </p:par>
                            </p:childTnLst>
                          </p:cTn>
                        </p:par>
                      </p:childTnLst>
                    </p:cTn>
                  </p:par>
                </p:childTnLst>
              </p:cTn>
              <p:nextCondLst>
                <p:cond evt="onClick" delay="0">
                  <p:tgtEl>
                    <p:spTgt spid="9"/>
                  </p:tgtEl>
                </p:cond>
              </p:nextCondLst>
            </p:seq>
            <p:video>
              <p:cMediaNode vol="80000">
                <p:cTn id="32" fill="hold" display="0">
                  <p:stCondLst>
                    <p:cond delay="indefinite"/>
                  </p:stCondLst>
                </p:cTn>
                <p:tgtEl>
                  <p:spTgt spid="9"/>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31F0CC6-4FF6-0E4E-CF61-DBA7A29F10E0}"/>
            </a:ext>
          </a:extLst>
        </p:cNvPr>
        <p:cNvGrpSpPr/>
        <p:nvPr/>
      </p:nvGrpSpPr>
      <p:grpSpPr>
        <a:xfrm>
          <a:off x="0" y="0"/>
          <a:ext cx="0" cy="0"/>
          <a:chOff x="0" y="0"/>
          <a:chExt cx="0" cy="0"/>
        </a:xfrm>
      </p:grpSpPr>
      <p:pic>
        <p:nvPicPr>
          <p:cNvPr id="3076" name="Picture 4" descr="An intersection in Los Altos, California with multiple vehicles. For reference, objects in yellow circles are objects whose tracks should be predicted, the objects in the green circles are the interacting objects.">
            <a:extLst>
              <a:ext uri="{FF2B5EF4-FFF2-40B4-BE49-F238E27FC236}">
                <a16:creationId xmlns:a16="http://schemas.microsoft.com/office/drawing/2014/main" id="{CE496754-C1BC-C491-2F8F-84FEC1B25B1D}"/>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a:stretch>
            <a:fillRect/>
          </a:stretch>
        </p:blipFill>
        <p:spPr bwMode="auto">
          <a:xfrm>
            <a:off x="-20508" y="-14220"/>
            <a:ext cx="12395388" cy="6975130"/>
          </a:xfrm>
          <a:prstGeom prst="rect">
            <a:avLst/>
          </a:prstGeom>
          <a:noFill/>
          <a:ln>
            <a:noFill/>
          </a:ln>
        </p:spPr>
      </p:pic>
      <p:sp>
        <p:nvSpPr>
          <p:cNvPr id="3" name="Freeform 2">
            <a:extLst>
              <a:ext uri="{FF2B5EF4-FFF2-40B4-BE49-F238E27FC236}">
                <a16:creationId xmlns:a16="http://schemas.microsoft.com/office/drawing/2014/main" id="{B627A361-7570-7601-C26C-091F1FFDB3EB}"/>
              </a:ext>
            </a:extLst>
          </p:cNvPr>
          <p:cNvSpPr/>
          <p:nvPr/>
        </p:nvSpPr>
        <p:spPr>
          <a:xfrm rot="8442973">
            <a:off x="-9874934" y="-3842844"/>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E991148E-C7B3-AF37-6FBE-DB2712014BBC}"/>
              </a:ext>
            </a:extLst>
          </p:cNvPr>
          <p:cNvSpPr>
            <a:spLocks noGrp="1"/>
          </p:cNvSpPr>
          <p:nvPr>
            <p:ph type="ctrTitle"/>
          </p:nvPr>
        </p:nvSpPr>
        <p:spPr>
          <a:xfrm>
            <a:off x="716478" y="447821"/>
            <a:ext cx="3073202" cy="369333"/>
          </a:xfrm>
        </p:spPr>
        <p:txBody>
          <a:bodyPr>
            <a:normAutofit/>
          </a:bodyPr>
          <a:lstStyle/>
          <a:p>
            <a:pPr algn="l"/>
            <a:r>
              <a:rPr lang="en-US" sz="1500" dirty="0">
                <a:solidFill>
                  <a:srgbClr val="989DA2"/>
                </a:solidFill>
                <a:latin typeface="GT Walsheim Trial Rg" pitchFamily="2" charset="77"/>
              </a:rPr>
              <a:t>RESULTS  </a:t>
            </a:r>
          </a:p>
        </p:txBody>
      </p:sp>
      <p:sp>
        <p:nvSpPr>
          <p:cNvPr id="8" name="TextBox 7">
            <a:extLst>
              <a:ext uri="{FF2B5EF4-FFF2-40B4-BE49-F238E27FC236}">
                <a16:creationId xmlns:a16="http://schemas.microsoft.com/office/drawing/2014/main" id="{04DB3658-EC7A-F6E3-8994-CDBC3FB25E31}"/>
              </a:ext>
            </a:extLst>
          </p:cNvPr>
          <p:cNvSpPr txBox="1"/>
          <p:nvPr/>
        </p:nvSpPr>
        <p:spPr>
          <a:xfrm>
            <a:off x="716476" y="952090"/>
            <a:ext cx="9236415" cy="630942"/>
          </a:xfrm>
          <a:prstGeom prst="rect">
            <a:avLst/>
          </a:prstGeom>
          <a:noFill/>
        </p:spPr>
        <p:txBody>
          <a:bodyPr wrap="square">
            <a:spAutoFit/>
          </a:bodyPr>
          <a:lstStyle/>
          <a:p>
            <a:r>
              <a:rPr lang="en-US" sz="3500" dirty="0">
                <a:solidFill>
                  <a:schemeClr val="bg1"/>
                </a:solidFill>
                <a:latin typeface="GT Walsheim Trial Rg" pitchFamily="2" charset="77"/>
              </a:rPr>
              <a:t>Results: Motion Prediction Results</a:t>
            </a:r>
          </a:p>
        </p:txBody>
      </p:sp>
      <p:graphicFrame>
        <p:nvGraphicFramePr>
          <p:cNvPr id="9" name="Table 8">
            <a:extLst>
              <a:ext uri="{FF2B5EF4-FFF2-40B4-BE49-F238E27FC236}">
                <a16:creationId xmlns:a16="http://schemas.microsoft.com/office/drawing/2014/main" id="{A62909D0-5DBE-A4D8-895C-489D7175BA94}"/>
              </a:ext>
            </a:extLst>
          </p:cNvPr>
          <p:cNvGraphicFramePr>
            <a:graphicFrameLocks noGrp="1"/>
          </p:cNvGraphicFramePr>
          <p:nvPr>
            <p:extLst>
              <p:ext uri="{D42A27DB-BD31-4B8C-83A1-F6EECF244321}">
                <p14:modId xmlns:p14="http://schemas.microsoft.com/office/powerpoint/2010/main" val="2197155394"/>
              </p:ext>
            </p:extLst>
          </p:nvPr>
        </p:nvGraphicFramePr>
        <p:xfrm>
          <a:off x="716476" y="4828911"/>
          <a:ext cx="6718462" cy="1381856"/>
        </p:xfrm>
        <a:graphic>
          <a:graphicData uri="http://schemas.openxmlformats.org/drawingml/2006/table">
            <a:tbl>
              <a:tblPr firstRow="1" bandRow="1">
                <a:tableStyleId>{073A0DAA-6AF3-43AB-8588-CEC1D06C72B9}</a:tableStyleId>
              </a:tblPr>
              <a:tblGrid>
                <a:gridCol w="1532312">
                  <a:extLst>
                    <a:ext uri="{9D8B030D-6E8A-4147-A177-3AD203B41FA5}">
                      <a16:colId xmlns:a16="http://schemas.microsoft.com/office/drawing/2014/main" val="1610543496"/>
                    </a:ext>
                  </a:extLst>
                </a:gridCol>
                <a:gridCol w="1162486">
                  <a:extLst>
                    <a:ext uri="{9D8B030D-6E8A-4147-A177-3AD203B41FA5}">
                      <a16:colId xmlns:a16="http://schemas.microsoft.com/office/drawing/2014/main" val="2940384537"/>
                    </a:ext>
                  </a:extLst>
                </a:gridCol>
                <a:gridCol w="1766635">
                  <a:extLst>
                    <a:ext uri="{9D8B030D-6E8A-4147-A177-3AD203B41FA5}">
                      <a16:colId xmlns:a16="http://schemas.microsoft.com/office/drawing/2014/main" val="3740313691"/>
                    </a:ext>
                  </a:extLst>
                </a:gridCol>
                <a:gridCol w="1301685">
                  <a:extLst>
                    <a:ext uri="{9D8B030D-6E8A-4147-A177-3AD203B41FA5}">
                      <a16:colId xmlns:a16="http://schemas.microsoft.com/office/drawing/2014/main" val="1965573024"/>
                    </a:ext>
                  </a:extLst>
                </a:gridCol>
                <a:gridCol w="955344">
                  <a:extLst>
                    <a:ext uri="{9D8B030D-6E8A-4147-A177-3AD203B41FA5}">
                      <a16:colId xmlns:a16="http://schemas.microsoft.com/office/drawing/2014/main" val="3154632494"/>
                    </a:ext>
                  </a:extLst>
                </a:gridCol>
              </a:tblGrid>
              <a:tr h="282420">
                <a:tc>
                  <a:txBody>
                    <a:bodyPr/>
                    <a:lstStyle/>
                    <a:p>
                      <a:r>
                        <a:rPr lang="en-US" sz="1500" b="0" i="0" dirty="0">
                          <a:solidFill>
                            <a:schemeClr val="bg1"/>
                          </a:solidFill>
                          <a:latin typeface="GT Walsheim Trial Rg" pitchFamily="2" charset="77"/>
                        </a:rPr>
                        <a:t>Dataset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1500" b="0" i="0" dirty="0">
                          <a:solidFill>
                            <a:schemeClr val="bg1"/>
                          </a:solidFill>
                          <a:latin typeface="GT Walsheim Trial Rg" pitchFamily="2" charset="77"/>
                        </a:rPr>
                        <a:t>Test RMSE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1500" b="0" i="0" dirty="0">
                          <a:solidFill>
                            <a:schemeClr val="bg1"/>
                          </a:solidFill>
                          <a:latin typeface="GT Walsheim Trial Rg" pitchFamily="2" charset="77"/>
                        </a:rPr>
                        <a:t>Test (Hold-out)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1500" b="0" i="0" dirty="0">
                          <a:solidFill>
                            <a:schemeClr val="bg1"/>
                          </a:solidFill>
                          <a:latin typeface="GT Walsheim Trial Rg" pitchFamily="2" charset="77"/>
                        </a:rPr>
                        <a:t>CV RMSE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1500" b="0" i="0" dirty="0">
                          <a:solidFill>
                            <a:schemeClr val="bg1"/>
                          </a:solidFill>
                          <a:latin typeface="GT Walsheim Trial Rg" pitchFamily="2" charset="77"/>
                        </a:rPr>
                        <a:t>CV R²</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extLst>
                  <a:ext uri="{0D108BD9-81ED-4DB2-BD59-A6C34878D82A}">
                    <a16:rowId xmlns:a16="http://schemas.microsoft.com/office/drawing/2014/main" val="4220759275"/>
                  </a:ext>
                </a:extLst>
              </a:tr>
              <a:tr h="513176">
                <a:tc>
                  <a:txBody>
                    <a:bodyPr/>
                    <a:lstStyle/>
                    <a:p>
                      <a:r>
                        <a:rPr lang="en-US" sz="1500" b="0" i="0" dirty="0">
                          <a:solidFill>
                            <a:schemeClr val="tx1"/>
                          </a:solidFill>
                          <a:latin typeface="GT Walsheim Trial Rg" pitchFamily="2" charset="77"/>
                        </a:rPr>
                        <a:t>With stationary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7.44 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500" b="0" i="0" dirty="0">
                          <a:solidFill>
                            <a:schemeClr val="tx1"/>
                          </a:solidFill>
                          <a:latin typeface="GT Walsheim Trial Rg" pitchFamily="2" charset="77"/>
                        </a:rPr>
                        <a:t>0.880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chemeClr val="bg1">
                        <a:lumMod val="95000"/>
                      </a:schemeClr>
                    </a:solidFill>
                  </a:tcPr>
                </a:tc>
                <a:tc>
                  <a:txBody>
                    <a:bodyPr/>
                    <a:lstStyle/>
                    <a:p>
                      <a:r>
                        <a:rPr lang="en-US" sz="1500" b="0" i="0" dirty="0">
                          <a:solidFill>
                            <a:schemeClr val="tx1"/>
                          </a:solidFill>
                          <a:latin typeface="GT Walsheim Trial Rg" pitchFamily="2" charset="77"/>
                        </a:rPr>
                        <a:t>7.65 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chemeClr val="bg1">
                        <a:lumMod val="95000"/>
                      </a:schemeClr>
                    </a:solidFill>
                  </a:tcPr>
                </a:tc>
                <a:tc>
                  <a:txBody>
                    <a:bodyPr/>
                    <a:lstStyle/>
                    <a:p>
                      <a:r>
                        <a:rPr lang="en-US" sz="1500" b="0" i="0" dirty="0">
                          <a:solidFill>
                            <a:schemeClr val="tx1"/>
                          </a:solidFill>
                          <a:latin typeface="GT Walsheim Trial Rg" pitchFamily="2" charset="77"/>
                        </a:rPr>
                        <a:t>0.886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chemeClr val="bg1">
                        <a:lumMod val="95000"/>
                      </a:schemeClr>
                    </a:solidFill>
                  </a:tcPr>
                </a:tc>
                <a:extLst>
                  <a:ext uri="{0D108BD9-81ED-4DB2-BD59-A6C34878D82A}">
                    <a16:rowId xmlns:a16="http://schemas.microsoft.com/office/drawing/2014/main" val="4152326013"/>
                  </a:ext>
                </a:extLst>
              </a:tr>
              <a:tr h="513176">
                <a:tc>
                  <a:txBody>
                    <a:bodyPr/>
                    <a:lstStyle/>
                    <a:p>
                      <a:r>
                        <a:rPr lang="en-US" sz="1500" b="0" i="0">
                          <a:solidFill>
                            <a:schemeClr val="tx1"/>
                          </a:solidFill>
                          <a:latin typeface="GT Walsheim Trial Rg" pitchFamily="2" charset="77"/>
                        </a:rPr>
                        <a:t>Without stationary</a:t>
                      </a:r>
                      <a:endParaRPr lang="en-US" sz="1500" b="0" i="0" dirty="0">
                        <a:solidFill>
                          <a:schemeClr val="tx1"/>
                        </a:solidFill>
                        <a:latin typeface="GT Walsheim Trial Rg" pitchFamily="2" charset="77"/>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13.15 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0.728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10.05 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b="0" i="0" dirty="0">
                          <a:solidFill>
                            <a:schemeClr val="tx1"/>
                          </a:solidFill>
                          <a:latin typeface="GT Walsheim Trial Rg" pitchFamily="2" charset="77"/>
                        </a:rPr>
                        <a:t>0.860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42999530"/>
                  </a:ext>
                </a:extLst>
              </a:tr>
            </a:tbl>
          </a:graphicData>
        </a:graphic>
      </p:graphicFrame>
      <p:pic>
        <p:nvPicPr>
          <p:cNvPr id="11" name="Picture 6" descr="Our Trademarks">
            <a:extLst>
              <a:ext uri="{FF2B5EF4-FFF2-40B4-BE49-F238E27FC236}">
                <a16:creationId xmlns:a16="http://schemas.microsoft.com/office/drawing/2014/main" id="{DD146674-4974-5DC0-D8D1-4C8DFDEC4D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80831" y="411156"/>
            <a:ext cx="811996" cy="81199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987A699-1DBC-7AF5-4AE6-520309D6C5D0}"/>
              </a:ext>
            </a:extLst>
          </p:cNvPr>
          <p:cNvSpPr/>
          <p:nvPr/>
        </p:nvSpPr>
        <p:spPr>
          <a:xfrm>
            <a:off x="728516" y="4260003"/>
            <a:ext cx="6706422" cy="450883"/>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0ADED70-C2D4-D9B7-45D7-22A69B85F0AB}"/>
              </a:ext>
            </a:extLst>
          </p:cNvPr>
          <p:cNvSpPr txBox="1"/>
          <p:nvPr/>
        </p:nvSpPr>
        <p:spPr>
          <a:xfrm>
            <a:off x="1777953" y="4300778"/>
            <a:ext cx="4853257" cy="369332"/>
          </a:xfrm>
          <a:prstGeom prst="rect">
            <a:avLst/>
          </a:prstGeom>
          <a:noFill/>
        </p:spPr>
        <p:txBody>
          <a:bodyPr wrap="square">
            <a:spAutoFit/>
          </a:bodyPr>
          <a:lstStyle/>
          <a:p>
            <a:pPr algn="l"/>
            <a:r>
              <a:rPr lang="en-US" dirty="0">
                <a:solidFill>
                  <a:schemeClr val="bg1"/>
                </a:solidFill>
                <a:effectLst/>
                <a:latin typeface="GT Walsheim Trial Rg" pitchFamily="2" charset="77"/>
              </a:rPr>
              <a:t>Linear Regression — 5-Second Displacement</a:t>
            </a:r>
          </a:p>
        </p:txBody>
      </p:sp>
    </p:spTree>
    <p:extLst>
      <p:ext uri="{BB962C8B-B14F-4D97-AF65-F5344CB8AC3E}">
        <p14:creationId xmlns:p14="http://schemas.microsoft.com/office/powerpoint/2010/main" val="31830231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D592E-326A-E11F-361D-16A79C2223E3}"/>
            </a:ext>
          </a:extLst>
        </p:cNvPr>
        <p:cNvGrpSpPr/>
        <p:nvPr/>
      </p:nvGrpSpPr>
      <p:grpSpPr>
        <a:xfrm>
          <a:off x="0" y="0"/>
          <a:ext cx="0" cy="0"/>
          <a:chOff x="0" y="0"/>
          <a:chExt cx="0" cy="0"/>
        </a:xfrm>
      </p:grpSpPr>
      <p:pic>
        <p:nvPicPr>
          <p:cNvPr id="1026" name="Picture 2" descr="Waymo Logo">
            <a:extLst>
              <a:ext uri="{FF2B5EF4-FFF2-40B4-BE49-F238E27FC236}">
                <a16:creationId xmlns:a16="http://schemas.microsoft.com/office/drawing/2014/main" id="{AFE4FB54-2F0A-9A44-FF7F-0CDBC4BA4C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378" y="425703"/>
            <a:ext cx="782903" cy="782903"/>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068EB0DE-023A-9C52-A501-AC311867AE39}"/>
              </a:ext>
            </a:extLst>
          </p:cNvPr>
          <p:cNvSpPr>
            <a:spLocks noGrp="1"/>
          </p:cNvSpPr>
          <p:nvPr>
            <p:ph type="ctrTitle"/>
          </p:nvPr>
        </p:nvSpPr>
        <p:spPr>
          <a:xfrm>
            <a:off x="716478" y="447821"/>
            <a:ext cx="3073202" cy="369333"/>
          </a:xfrm>
        </p:spPr>
        <p:txBody>
          <a:bodyPr>
            <a:normAutofit/>
          </a:bodyPr>
          <a:lstStyle/>
          <a:p>
            <a:pPr algn="l"/>
            <a:r>
              <a:rPr lang="en-US" sz="1500" dirty="0">
                <a:solidFill>
                  <a:srgbClr val="989DA2"/>
                </a:solidFill>
                <a:latin typeface="GT Walsheim Trial Rg" pitchFamily="2" charset="77"/>
              </a:rPr>
              <a:t>RESULTS: FEATURES  </a:t>
            </a:r>
          </a:p>
        </p:txBody>
      </p:sp>
      <p:sp>
        <p:nvSpPr>
          <p:cNvPr id="8" name="TextBox 7">
            <a:extLst>
              <a:ext uri="{FF2B5EF4-FFF2-40B4-BE49-F238E27FC236}">
                <a16:creationId xmlns:a16="http://schemas.microsoft.com/office/drawing/2014/main" id="{4A551462-89FB-F1C4-6F2C-D42F45F6A825}"/>
              </a:ext>
            </a:extLst>
          </p:cNvPr>
          <p:cNvSpPr txBox="1"/>
          <p:nvPr/>
        </p:nvSpPr>
        <p:spPr>
          <a:xfrm>
            <a:off x="716476" y="952090"/>
            <a:ext cx="9236415" cy="630942"/>
          </a:xfrm>
          <a:prstGeom prst="rect">
            <a:avLst/>
          </a:prstGeom>
          <a:noFill/>
        </p:spPr>
        <p:txBody>
          <a:bodyPr wrap="square">
            <a:spAutoFit/>
          </a:bodyPr>
          <a:lstStyle/>
          <a:p>
            <a:r>
              <a:rPr lang="en-US" sz="3500" dirty="0">
                <a:latin typeface="GT Walsheim Trial Rg" pitchFamily="2" charset="77"/>
              </a:rPr>
              <a:t>Results: Feature Importance </a:t>
            </a:r>
          </a:p>
        </p:txBody>
      </p:sp>
      <p:sp>
        <p:nvSpPr>
          <p:cNvPr id="19" name="TextBox 18">
            <a:extLst>
              <a:ext uri="{FF2B5EF4-FFF2-40B4-BE49-F238E27FC236}">
                <a16:creationId xmlns:a16="http://schemas.microsoft.com/office/drawing/2014/main" id="{1B83490C-FA3B-1AE2-1353-1DF001088BAD}"/>
              </a:ext>
            </a:extLst>
          </p:cNvPr>
          <p:cNvSpPr txBox="1"/>
          <p:nvPr/>
        </p:nvSpPr>
        <p:spPr>
          <a:xfrm>
            <a:off x="7520578" y="9301668"/>
            <a:ext cx="3390637" cy="1200329"/>
          </a:xfrm>
          <a:prstGeom prst="rect">
            <a:avLst/>
          </a:prstGeom>
          <a:noFill/>
        </p:spPr>
        <p:txBody>
          <a:bodyPr wrap="square" rtlCol="0">
            <a:spAutoFit/>
          </a:bodyPr>
          <a:lstStyle/>
          <a:p>
            <a:r>
              <a:rPr lang="en-US" dirty="0">
                <a:solidFill>
                  <a:schemeClr val="bg1"/>
                </a:solidFill>
                <a:latin typeface="GT Walsheim Trial Rg" pitchFamily="2" charset="77"/>
              </a:rPr>
              <a:t>— 80 / 20 train / test split</a:t>
            </a:r>
          </a:p>
          <a:p>
            <a:r>
              <a:rPr lang="en-US" dirty="0">
                <a:solidFill>
                  <a:schemeClr val="bg1"/>
                </a:solidFill>
                <a:latin typeface="GT Walsheim Trial Rg" pitchFamily="2" charset="77"/>
              </a:rPr>
              <a:t>— 5-fold cross-validation on training set.</a:t>
            </a:r>
          </a:p>
          <a:p>
            <a:r>
              <a:rPr lang="en-US" dirty="0">
                <a:solidFill>
                  <a:schemeClr val="bg1"/>
                </a:solidFill>
                <a:latin typeface="GT Walsheim Trial Rg" pitchFamily="2" charset="77"/>
              </a:rPr>
              <a:t>— Metrics: RMSE (meters) · R²</a:t>
            </a:r>
          </a:p>
        </p:txBody>
      </p:sp>
      <p:sp>
        <p:nvSpPr>
          <p:cNvPr id="20" name="Rectangle 19">
            <a:extLst>
              <a:ext uri="{FF2B5EF4-FFF2-40B4-BE49-F238E27FC236}">
                <a16:creationId xmlns:a16="http://schemas.microsoft.com/office/drawing/2014/main" id="{BD0DD391-C3CB-E4CF-02D8-F5C351355CDE}"/>
              </a:ext>
            </a:extLst>
          </p:cNvPr>
          <p:cNvSpPr/>
          <p:nvPr/>
        </p:nvSpPr>
        <p:spPr>
          <a:xfrm>
            <a:off x="-223735" y="10155892"/>
            <a:ext cx="6602278" cy="1156496"/>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45A238E-E8BC-5790-678D-F446CCA383A6}"/>
              </a:ext>
            </a:extLst>
          </p:cNvPr>
          <p:cNvSpPr txBox="1"/>
          <p:nvPr/>
        </p:nvSpPr>
        <p:spPr>
          <a:xfrm>
            <a:off x="541195" y="10314693"/>
            <a:ext cx="5458087" cy="784830"/>
          </a:xfrm>
          <a:prstGeom prst="rect">
            <a:avLst/>
          </a:prstGeom>
          <a:noFill/>
        </p:spPr>
        <p:txBody>
          <a:bodyPr wrap="square">
            <a:spAutoFit/>
          </a:bodyPr>
          <a:lstStyle/>
          <a:p>
            <a:pPr algn="l"/>
            <a:r>
              <a:rPr lang="en-US" sz="1500" dirty="0">
                <a:solidFill>
                  <a:schemeClr val="bg1"/>
                </a:solidFill>
                <a:effectLst/>
                <a:latin typeface="GT Walsheim Trial Lt" pitchFamily="2" charset="77"/>
              </a:rPr>
              <a:t>Stationary agents have near-zero displacement — trivially easy to predict. The two conditions reveal whether R² reflects real predictive power or dataset composition.</a:t>
            </a:r>
          </a:p>
        </p:txBody>
      </p:sp>
      <p:sp>
        <p:nvSpPr>
          <p:cNvPr id="22" name="TextBox 21">
            <a:extLst>
              <a:ext uri="{FF2B5EF4-FFF2-40B4-BE49-F238E27FC236}">
                <a16:creationId xmlns:a16="http://schemas.microsoft.com/office/drawing/2014/main" id="{51DFB742-63D5-299E-C1EC-B5AF4146FB96}"/>
              </a:ext>
            </a:extLst>
          </p:cNvPr>
          <p:cNvSpPr txBox="1"/>
          <p:nvPr/>
        </p:nvSpPr>
        <p:spPr>
          <a:xfrm>
            <a:off x="-688275" y="9607790"/>
            <a:ext cx="1582840" cy="2400657"/>
          </a:xfrm>
          <a:prstGeom prst="rect">
            <a:avLst/>
          </a:prstGeom>
          <a:noFill/>
        </p:spPr>
        <p:txBody>
          <a:bodyPr wrap="square">
            <a:spAutoFit/>
          </a:bodyPr>
          <a:lstStyle/>
          <a:p>
            <a:pPr algn="ctr">
              <a:buNone/>
            </a:pPr>
            <a:r>
              <a:rPr lang="en-US" sz="15000" b="0" i="0" dirty="0">
                <a:solidFill>
                  <a:schemeClr val="bg1">
                    <a:alpha val="20000"/>
                  </a:schemeClr>
                </a:solidFill>
                <a:effectLst/>
                <a:latin typeface="GT Walsheim Trial Rg" pitchFamily="2" charset="77"/>
              </a:rPr>
              <a:t>"</a:t>
            </a:r>
          </a:p>
        </p:txBody>
      </p:sp>
      <p:pic>
        <p:nvPicPr>
          <p:cNvPr id="11" name="Picture 10">
            <a:extLst>
              <a:ext uri="{FF2B5EF4-FFF2-40B4-BE49-F238E27FC236}">
                <a16:creationId xmlns:a16="http://schemas.microsoft.com/office/drawing/2014/main" id="{DDAB66D0-654C-044F-CADE-8BF836BB2919}"/>
              </a:ext>
            </a:extLst>
          </p:cNvPr>
          <p:cNvPicPr>
            <a:picLocks noChangeAspect="1"/>
          </p:cNvPicPr>
          <p:nvPr/>
        </p:nvPicPr>
        <p:blipFill>
          <a:blip r:embed="rId4"/>
          <a:stretch>
            <a:fillRect/>
          </a:stretch>
        </p:blipFill>
        <p:spPr>
          <a:xfrm>
            <a:off x="716475" y="1969433"/>
            <a:ext cx="5662068" cy="3538793"/>
          </a:xfrm>
          <a:prstGeom prst="rect">
            <a:avLst/>
          </a:prstGeom>
        </p:spPr>
      </p:pic>
      <p:pic>
        <p:nvPicPr>
          <p:cNvPr id="13" name="Picture 12">
            <a:extLst>
              <a:ext uri="{FF2B5EF4-FFF2-40B4-BE49-F238E27FC236}">
                <a16:creationId xmlns:a16="http://schemas.microsoft.com/office/drawing/2014/main" id="{8A0ED9C7-6786-5F0D-DD10-5352934C07E7}"/>
              </a:ext>
            </a:extLst>
          </p:cNvPr>
          <p:cNvPicPr>
            <a:picLocks noChangeAspect="1"/>
          </p:cNvPicPr>
          <p:nvPr/>
        </p:nvPicPr>
        <p:blipFill>
          <a:blip r:embed="rId5"/>
          <a:stretch>
            <a:fillRect/>
          </a:stretch>
        </p:blipFill>
        <p:spPr>
          <a:xfrm>
            <a:off x="6128463" y="1829165"/>
            <a:ext cx="5347062" cy="3819330"/>
          </a:xfrm>
          <a:prstGeom prst="rect">
            <a:avLst/>
          </a:prstGeom>
        </p:spPr>
      </p:pic>
      <p:sp>
        <p:nvSpPr>
          <p:cNvPr id="3" name="Freeform 2">
            <a:extLst>
              <a:ext uri="{FF2B5EF4-FFF2-40B4-BE49-F238E27FC236}">
                <a16:creationId xmlns:a16="http://schemas.microsoft.com/office/drawing/2014/main" id="{FF4AF94C-0773-77DB-1B7C-2D304FF74F26}"/>
              </a:ext>
            </a:extLst>
          </p:cNvPr>
          <p:cNvSpPr/>
          <p:nvPr/>
        </p:nvSpPr>
        <p:spPr>
          <a:xfrm rot="8442973">
            <a:off x="-9855264" y="-4160897"/>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4">
            <a:extLst>
              <a:ext uri="{FF2B5EF4-FFF2-40B4-BE49-F238E27FC236}">
                <a16:creationId xmlns:a16="http://schemas.microsoft.com/office/drawing/2014/main" id="{23014322-0FFA-AD5B-FC05-70B8FB1B24BB}"/>
              </a:ext>
            </a:extLst>
          </p:cNvPr>
          <p:cNvSpPr/>
          <p:nvPr/>
        </p:nvSpPr>
        <p:spPr>
          <a:xfrm rot="18406025">
            <a:off x="2890266" y="5369911"/>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80642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2C40BB2-3C42-E34A-8AFF-F25F9AFEC8FD}"/>
            </a:ext>
          </a:extLst>
        </p:cNvPr>
        <p:cNvGrpSpPr/>
        <p:nvPr/>
      </p:nvGrpSpPr>
      <p:grpSpPr>
        <a:xfrm>
          <a:off x="0" y="0"/>
          <a:ext cx="0" cy="0"/>
          <a:chOff x="0" y="0"/>
          <a:chExt cx="0" cy="0"/>
        </a:xfrm>
      </p:grpSpPr>
      <p:sp>
        <p:nvSpPr>
          <p:cNvPr id="13" name="Freeform 12">
            <a:extLst>
              <a:ext uri="{FF2B5EF4-FFF2-40B4-BE49-F238E27FC236}">
                <a16:creationId xmlns:a16="http://schemas.microsoft.com/office/drawing/2014/main" id="{ECE07610-6E42-A93E-126B-E09C59679D9B}"/>
              </a:ext>
            </a:extLst>
          </p:cNvPr>
          <p:cNvSpPr/>
          <p:nvPr/>
        </p:nvSpPr>
        <p:spPr>
          <a:xfrm>
            <a:off x="-2930419" y="731435"/>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reeform 2">
            <a:extLst>
              <a:ext uri="{FF2B5EF4-FFF2-40B4-BE49-F238E27FC236}">
                <a16:creationId xmlns:a16="http://schemas.microsoft.com/office/drawing/2014/main" id="{EC1E3491-133E-5852-AED7-1D51A8BE07AD}"/>
              </a:ext>
            </a:extLst>
          </p:cNvPr>
          <p:cNvSpPr/>
          <p:nvPr/>
        </p:nvSpPr>
        <p:spPr>
          <a:xfrm rot="8442973">
            <a:off x="-5972043" y="-3482075"/>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4">
            <a:extLst>
              <a:ext uri="{FF2B5EF4-FFF2-40B4-BE49-F238E27FC236}">
                <a16:creationId xmlns:a16="http://schemas.microsoft.com/office/drawing/2014/main" id="{4AB52E74-403F-30CE-50F4-FC32B71D0CD3}"/>
              </a:ext>
            </a:extLst>
          </p:cNvPr>
          <p:cNvSpPr/>
          <p:nvPr/>
        </p:nvSpPr>
        <p:spPr>
          <a:xfrm rot="18406025">
            <a:off x="2075489" y="3958667"/>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4A67B81A-3031-125C-C9A0-1E349454EDF5}"/>
              </a:ext>
            </a:extLst>
          </p:cNvPr>
          <p:cNvSpPr>
            <a:spLocks noGrp="1"/>
          </p:cNvSpPr>
          <p:nvPr>
            <p:ph type="ctrTitle"/>
          </p:nvPr>
        </p:nvSpPr>
        <p:spPr>
          <a:xfrm>
            <a:off x="716478" y="447821"/>
            <a:ext cx="3073202" cy="369333"/>
          </a:xfrm>
        </p:spPr>
        <p:txBody>
          <a:bodyPr>
            <a:normAutofit/>
          </a:bodyPr>
          <a:lstStyle/>
          <a:p>
            <a:pPr algn="l"/>
            <a:r>
              <a:rPr lang="en-US" sz="1500" dirty="0">
                <a:solidFill>
                  <a:schemeClr val="bg1">
                    <a:lumMod val="50000"/>
                  </a:schemeClr>
                </a:solidFill>
                <a:latin typeface="GT Walsheim Trial Rg" pitchFamily="2" charset="77"/>
              </a:rPr>
              <a:t>DISCUSSION &amp; LIMITATIONS</a:t>
            </a:r>
          </a:p>
        </p:txBody>
      </p:sp>
      <p:sp>
        <p:nvSpPr>
          <p:cNvPr id="8" name="TextBox 7">
            <a:extLst>
              <a:ext uri="{FF2B5EF4-FFF2-40B4-BE49-F238E27FC236}">
                <a16:creationId xmlns:a16="http://schemas.microsoft.com/office/drawing/2014/main" id="{9C0766A1-F5E6-86C4-C24B-32380859A801}"/>
              </a:ext>
            </a:extLst>
          </p:cNvPr>
          <p:cNvSpPr txBox="1"/>
          <p:nvPr/>
        </p:nvSpPr>
        <p:spPr>
          <a:xfrm>
            <a:off x="716476" y="952090"/>
            <a:ext cx="9236415" cy="630942"/>
          </a:xfrm>
          <a:prstGeom prst="rect">
            <a:avLst/>
          </a:prstGeom>
          <a:noFill/>
        </p:spPr>
        <p:txBody>
          <a:bodyPr wrap="square">
            <a:spAutoFit/>
          </a:bodyPr>
          <a:lstStyle/>
          <a:p>
            <a:r>
              <a:rPr lang="en-US" sz="3500" dirty="0">
                <a:solidFill>
                  <a:schemeClr val="bg1"/>
                </a:solidFill>
                <a:latin typeface="GT Walsheim Trial Rg" pitchFamily="2" charset="77"/>
              </a:rPr>
              <a:t>What the Results Tell Us</a:t>
            </a:r>
          </a:p>
        </p:txBody>
      </p:sp>
      <p:sp>
        <p:nvSpPr>
          <p:cNvPr id="20" name="Rectangle 19">
            <a:extLst>
              <a:ext uri="{FF2B5EF4-FFF2-40B4-BE49-F238E27FC236}">
                <a16:creationId xmlns:a16="http://schemas.microsoft.com/office/drawing/2014/main" id="{09E7019D-8AD8-8C02-3318-76B6884D43C1}"/>
              </a:ext>
            </a:extLst>
          </p:cNvPr>
          <p:cNvSpPr/>
          <p:nvPr/>
        </p:nvSpPr>
        <p:spPr>
          <a:xfrm>
            <a:off x="879133" y="4776426"/>
            <a:ext cx="10806444" cy="1769724"/>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a:extLst>
              <a:ext uri="{FF2B5EF4-FFF2-40B4-BE49-F238E27FC236}">
                <a16:creationId xmlns:a16="http://schemas.microsoft.com/office/drawing/2014/main" id="{5D153C6E-1E0C-F37E-1C64-8D2D03D85816}"/>
              </a:ext>
            </a:extLst>
          </p:cNvPr>
          <p:cNvSpPr txBox="1"/>
          <p:nvPr/>
        </p:nvSpPr>
        <p:spPr>
          <a:xfrm>
            <a:off x="3427989" y="5071653"/>
            <a:ext cx="8257588" cy="1246495"/>
          </a:xfrm>
          <a:prstGeom prst="rect">
            <a:avLst/>
          </a:prstGeom>
          <a:noFill/>
        </p:spPr>
        <p:txBody>
          <a:bodyPr wrap="square">
            <a:spAutoFit/>
          </a:bodyPr>
          <a:lstStyle/>
          <a:p>
            <a:pPr algn="l"/>
            <a:r>
              <a:rPr lang="en-US" sz="1500" b="1" dirty="0">
                <a:solidFill>
                  <a:schemeClr val="bg1"/>
                </a:solidFill>
                <a:effectLst/>
                <a:latin typeface="GT Walsheim Trial Lt" pitchFamily="2" charset="77"/>
              </a:rPr>
              <a:t>Pseudo-labels: </a:t>
            </a:r>
            <a:r>
              <a:rPr lang="en-US" sz="1500" dirty="0">
                <a:solidFill>
                  <a:schemeClr val="bg1"/>
                </a:solidFill>
                <a:effectLst/>
                <a:latin typeface="GT Walsheim Trial Lt" pitchFamily="2" charset="77"/>
              </a:rPr>
              <a:t>46 anomaly labels come from IF scores, not verified ground truth </a:t>
            </a:r>
          </a:p>
          <a:p>
            <a:pPr algn="l"/>
            <a:r>
              <a:rPr lang="en-US" sz="1500" dirty="0">
                <a:solidFill>
                  <a:schemeClr val="bg1"/>
                </a:solidFill>
                <a:effectLst/>
                <a:latin typeface="GT Walsheim Trial Lt" pitchFamily="2" charset="77"/>
              </a:rPr>
              <a:t>— test specificity of 0.667 reflects this noise</a:t>
            </a:r>
          </a:p>
          <a:p>
            <a:pPr algn="l"/>
            <a:r>
              <a:rPr lang="en-US" sz="1500" b="1" dirty="0">
                <a:solidFill>
                  <a:schemeClr val="bg1"/>
                </a:solidFill>
                <a:effectLst/>
                <a:latin typeface="GT Walsheim Trial Lt" pitchFamily="2" charset="77"/>
              </a:rPr>
              <a:t>Single frame: </a:t>
            </a:r>
            <a:r>
              <a:rPr lang="en-US" sz="1500" dirty="0">
                <a:solidFill>
                  <a:schemeClr val="bg1"/>
                </a:solidFill>
                <a:effectLst/>
                <a:latin typeface="GT Walsheim Trial Lt" pitchFamily="2" charset="77"/>
              </a:rPr>
              <a:t>We use one snapshot per agent, ignoring the full 20-second trajectory</a:t>
            </a:r>
          </a:p>
          <a:p>
            <a:pPr algn="l"/>
            <a:r>
              <a:rPr lang="en-US" sz="1500" b="1" dirty="0">
                <a:solidFill>
                  <a:schemeClr val="bg1"/>
                </a:solidFill>
                <a:effectLst/>
                <a:latin typeface="GT Walsheim Trial Lt" pitchFamily="2" charset="77"/>
              </a:rPr>
              <a:t>Linear model: </a:t>
            </a:r>
            <a:r>
              <a:rPr lang="en-US" sz="1500" dirty="0">
                <a:solidFill>
                  <a:schemeClr val="bg1"/>
                </a:solidFill>
                <a:effectLst/>
                <a:latin typeface="GT Walsheim Trial Lt" pitchFamily="2" charset="77"/>
              </a:rPr>
              <a:t>Pedestrian and cyclist motion may be nonlinear</a:t>
            </a:r>
          </a:p>
          <a:p>
            <a:pPr algn="l"/>
            <a:r>
              <a:rPr lang="en-US" sz="1500" dirty="0">
                <a:solidFill>
                  <a:schemeClr val="bg1"/>
                </a:solidFill>
                <a:effectLst/>
                <a:latin typeface="GT Walsheim Trial Lt" pitchFamily="2" charset="77"/>
              </a:rPr>
              <a:t>No temporal context: Isolation Forest operates on instantaneous kinematics only</a:t>
            </a:r>
          </a:p>
        </p:txBody>
      </p:sp>
      <p:graphicFrame>
        <p:nvGraphicFramePr>
          <p:cNvPr id="12" name="Table 11">
            <a:extLst>
              <a:ext uri="{FF2B5EF4-FFF2-40B4-BE49-F238E27FC236}">
                <a16:creationId xmlns:a16="http://schemas.microsoft.com/office/drawing/2014/main" id="{28C9A665-9386-285B-761B-808044E11380}"/>
              </a:ext>
            </a:extLst>
          </p:cNvPr>
          <p:cNvGraphicFramePr>
            <a:graphicFrameLocks noGrp="1"/>
          </p:cNvGraphicFramePr>
          <p:nvPr>
            <p:extLst>
              <p:ext uri="{D42A27DB-BD31-4B8C-83A1-F6EECF244321}">
                <p14:modId xmlns:p14="http://schemas.microsoft.com/office/powerpoint/2010/main" val="14700078"/>
              </p:ext>
            </p:extLst>
          </p:nvPr>
        </p:nvGraphicFramePr>
        <p:xfrm>
          <a:off x="879133" y="1717968"/>
          <a:ext cx="10806444" cy="3058456"/>
        </p:xfrm>
        <a:graphic>
          <a:graphicData uri="http://schemas.openxmlformats.org/drawingml/2006/table">
            <a:tbl>
              <a:tblPr firstRow="1" bandRow="1">
                <a:tableStyleId>{073A0DAA-6AF3-43AB-8588-CEC1D06C72B9}</a:tableStyleId>
              </a:tblPr>
              <a:tblGrid>
                <a:gridCol w="5550583">
                  <a:extLst>
                    <a:ext uri="{9D8B030D-6E8A-4147-A177-3AD203B41FA5}">
                      <a16:colId xmlns:a16="http://schemas.microsoft.com/office/drawing/2014/main" val="1610543496"/>
                    </a:ext>
                  </a:extLst>
                </a:gridCol>
                <a:gridCol w="5255861">
                  <a:extLst>
                    <a:ext uri="{9D8B030D-6E8A-4147-A177-3AD203B41FA5}">
                      <a16:colId xmlns:a16="http://schemas.microsoft.com/office/drawing/2014/main" val="2940384537"/>
                    </a:ext>
                  </a:extLst>
                </a:gridCol>
              </a:tblGrid>
              <a:tr h="795103">
                <a:tc>
                  <a:txBody>
                    <a:bodyPr/>
                    <a:lstStyle/>
                    <a:p>
                      <a:r>
                        <a:rPr lang="en-US" sz="2000" b="1" i="0" dirty="0">
                          <a:solidFill>
                            <a:schemeClr val="bg1"/>
                          </a:solidFill>
                          <a:latin typeface="GT Walsheim Trial Lt" pitchFamily="2" charset="77"/>
                        </a:rPr>
                        <a:t>Takeaway 1: </a:t>
                      </a:r>
                      <a:r>
                        <a:rPr lang="en-US" sz="2000" b="0" i="0" dirty="0">
                          <a:solidFill>
                            <a:schemeClr val="bg1"/>
                          </a:solidFill>
                          <a:latin typeface="GT Walsheim Trial Lt" pitchFamily="2" charset="77"/>
                        </a:rPr>
                        <a:t>Unsupervised detection works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2000" b="1" i="0" dirty="0">
                          <a:solidFill>
                            <a:schemeClr val="bg1"/>
                          </a:solidFill>
                          <a:latin typeface="GT Walsheim Trial Lt" pitchFamily="2" charset="77"/>
                        </a:rPr>
                        <a:t>Takeaway 2: </a:t>
                      </a:r>
                      <a:r>
                        <a:rPr lang="en-US" sz="2000" b="0" i="0" dirty="0">
                          <a:solidFill>
                            <a:schemeClr val="bg1"/>
                          </a:solidFill>
                          <a:latin typeface="GT Walsheim Trial Lt" pitchFamily="2" charset="77"/>
                        </a:rPr>
                        <a:t>Dataset composition dominates metrics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E9A0"/>
                    </a:solidFill>
                  </a:tcPr>
                </a:tc>
                <a:extLst>
                  <a:ext uri="{0D108BD9-81ED-4DB2-BD59-A6C34878D82A}">
                    <a16:rowId xmlns:a16="http://schemas.microsoft.com/office/drawing/2014/main" val="4220759275"/>
                  </a:ext>
                </a:extLst>
              </a:tr>
              <a:tr h="2263353">
                <a:tc>
                  <a:txBody>
                    <a:bodyPr/>
                    <a:lstStyle/>
                    <a:p>
                      <a:r>
                        <a:rPr lang="en-US" sz="2000" b="1" i="0" dirty="0">
                          <a:solidFill>
                            <a:schemeClr val="tx1"/>
                          </a:solidFill>
                          <a:latin typeface="GT Walsheim Trial Lt" pitchFamily="2" charset="77"/>
                        </a:rPr>
                        <a:t>IF</a:t>
                      </a:r>
                      <a:r>
                        <a:rPr lang="en-US" sz="2000" b="0" i="0" dirty="0">
                          <a:solidFill>
                            <a:schemeClr val="tx1"/>
                          </a:solidFill>
                          <a:latin typeface="GT Walsheim Trial Lt" pitchFamily="2" charset="77"/>
                        </a:rPr>
                        <a:t> scores carry real discriminative signal</a:t>
                      </a:r>
                    </a:p>
                    <a:p>
                      <a:r>
                        <a:rPr lang="en-US" sz="2000" b="0" i="0" dirty="0">
                          <a:solidFill>
                            <a:schemeClr val="tx1"/>
                          </a:solidFill>
                          <a:latin typeface="GT Walsheim Trial Lt" pitchFamily="2" charset="77"/>
                        </a:rPr>
                        <a:t>p = 0.0005 confirms structure, not noise</a:t>
                      </a:r>
                    </a:p>
                    <a:p>
                      <a:r>
                        <a:rPr lang="en-US" sz="2000" b="0" i="0" dirty="0">
                          <a:solidFill>
                            <a:schemeClr val="tx1"/>
                          </a:solidFill>
                          <a:latin typeface="GT Walsheim Trial Lt" pitchFamily="2" charset="77"/>
                        </a:rPr>
                        <a:t>Anomalies concentrate in pedestrians / cyclists — consistent with irregular urban kinematics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2000" b="1" i="0" dirty="0">
                          <a:solidFill>
                            <a:schemeClr val="tx1"/>
                          </a:solidFill>
                          <a:latin typeface="GT Walsheim Trial Lt" pitchFamily="2" charset="77"/>
                        </a:rPr>
                        <a:t>Removing stationary agents: </a:t>
                      </a:r>
                      <a:r>
                        <a:rPr lang="el-GR" sz="2000" b="0" i="0" dirty="0">
                          <a:solidFill>
                            <a:schemeClr val="tx1"/>
                          </a:solidFill>
                          <a:latin typeface="GT Walsheim Trial Lt" pitchFamily="2" charset="77"/>
                        </a:rPr>
                        <a:t>Δ</a:t>
                      </a:r>
                      <a:r>
                        <a:rPr lang="en-US" sz="2000" b="0" i="0" dirty="0">
                          <a:solidFill>
                            <a:schemeClr val="tx1"/>
                          </a:solidFill>
                          <a:latin typeface="GT Walsheim Trial Lt" pitchFamily="2" charset="77"/>
                        </a:rPr>
                        <a:t>R² = −0.15</a:t>
                      </a:r>
                    </a:p>
                    <a:p>
                      <a:r>
                        <a:rPr lang="en-US" sz="2000" b="0" i="0" dirty="0">
                          <a:solidFill>
                            <a:schemeClr val="tx1"/>
                          </a:solidFill>
                          <a:latin typeface="GT Walsheim Trial Lt" pitchFamily="2" charset="77"/>
                        </a:rPr>
                        <a:t>Not a model failure — a dataset artifact</a:t>
                      </a:r>
                    </a:p>
                    <a:p>
                      <a:r>
                        <a:rPr lang="en-US" sz="2000" b="0" i="0" dirty="0">
                          <a:solidFill>
                            <a:schemeClr val="tx1"/>
                          </a:solidFill>
                          <a:latin typeface="GT Walsheim Trial Lt" pitchFamily="2" charset="77"/>
                        </a:rPr>
                        <a:t>Benchmarks on mixed populations are inflated</a:t>
                      </a:r>
                    </a:p>
                    <a:p>
                      <a:r>
                        <a:rPr lang="en-US" sz="2000" b="0" i="0" dirty="0">
                          <a:solidFill>
                            <a:schemeClr val="tx1"/>
                          </a:solidFill>
                          <a:latin typeface="GT Walsheim Trial Lt" pitchFamily="2" charset="77"/>
                        </a:rPr>
                        <a:t>Moving-only evaluation is the honest number for dynamic AV deployment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52326013"/>
                  </a:ext>
                </a:extLst>
              </a:tr>
            </a:tbl>
          </a:graphicData>
        </a:graphic>
      </p:graphicFrame>
      <p:sp>
        <p:nvSpPr>
          <p:cNvPr id="15" name="TextBox 14">
            <a:extLst>
              <a:ext uri="{FF2B5EF4-FFF2-40B4-BE49-F238E27FC236}">
                <a16:creationId xmlns:a16="http://schemas.microsoft.com/office/drawing/2014/main" id="{B7F27829-A56B-75C3-A5EB-72FC234A659F}"/>
              </a:ext>
            </a:extLst>
          </p:cNvPr>
          <p:cNvSpPr txBox="1"/>
          <p:nvPr/>
        </p:nvSpPr>
        <p:spPr>
          <a:xfrm>
            <a:off x="1371631" y="5054157"/>
            <a:ext cx="1998334" cy="477054"/>
          </a:xfrm>
          <a:prstGeom prst="rect">
            <a:avLst/>
          </a:prstGeom>
          <a:noFill/>
        </p:spPr>
        <p:txBody>
          <a:bodyPr wrap="square">
            <a:spAutoFit/>
          </a:bodyPr>
          <a:lstStyle/>
          <a:p>
            <a:pPr algn="l"/>
            <a:r>
              <a:rPr lang="en-US" sz="2500" b="1" dirty="0">
                <a:solidFill>
                  <a:schemeClr val="bg1"/>
                </a:solidFill>
                <a:effectLst/>
                <a:latin typeface="GT Walsheim Trial Lt" pitchFamily="2" charset="77"/>
              </a:rPr>
              <a:t>Limitations:</a:t>
            </a:r>
          </a:p>
        </p:txBody>
      </p:sp>
      <p:pic>
        <p:nvPicPr>
          <p:cNvPr id="24" name="Picture 23">
            <a:extLst>
              <a:ext uri="{FF2B5EF4-FFF2-40B4-BE49-F238E27FC236}">
                <a16:creationId xmlns:a16="http://schemas.microsoft.com/office/drawing/2014/main" id="{0FE0CD59-6F6E-ED93-CEB3-19849074D2D4}"/>
              </a:ext>
            </a:extLst>
          </p:cNvPr>
          <p:cNvPicPr>
            <a:picLocks noChangeAspect="1"/>
          </p:cNvPicPr>
          <p:nvPr/>
        </p:nvPicPr>
        <p:blipFill>
          <a:blip r:embed="rId3"/>
          <a:srcRect l="37886" t="87411" r="27835" b="1491"/>
          <a:stretch>
            <a:fillRect/>
          </a:stretch>
        </p:blipFill>
        <p:spPr>
          <a:xfrm>
            <a:off x="879134" y="4776425"/>
            <a:ext cx="10806444" cy="1769724"/>
          </a:xfrm>
          <a:prstGeom prst="rect">
            <a:avLst/>
          </a:prstGeom>
        </p:spPr>
      </p:pic>
      <p:pic>
        <p:nvPicPr>
          <p:cNvPr id="25" name="Picture 6" descr="Our Trademarks">
            <a:extLst>
              <a:ext uri="{FF2B5EF4-FFF2-40B4-BE49-F238E27FC236}">
                <a16:creationId xmlns:a16="http://schemas.microsoft.com/office/drawing/2014/main" id="{E5ECF3E2-F5F6-68CC-966D-3D9466FFFD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80831" y="411156"/>
            <a:ext cx="811996" cy="811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59298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A8832C7-E16C-82AE-0DC3-4FE754E27762}"/>
            </a:ext>
          </a:extLst>
        </p:cNvPr>
        <p:cNvGrpSpPr/>
        <p:nvPr/>
      </p:nvGrpSpPr>
      <p:grpSpPr>
        <a:xfrm>
          <a:off x="0" y="0"/>
          <a:ext cx="0" cy="0"/>
          <a:chOff x="0" y="0"/>
          <a:chExt cx="0" cy="0"/>
        </a:xfrm>
      </p:grpSpPr>
      <p:sp>
        <p:nvSpPr>
          <p:cNvPr id="27" name="Freeform 26">
            <a:extLst>
              <a:ext uri="{FF2B5EF4-FFF2-40B4-BE49-F238E27FC236}">
                <a16:creationId xmlns:a16="http://schemas.microsoft.com/office/drawing/2014/main" id="{C35DA274-6EF3-81A7-8C7C-B5640A75B7A4}"/>
              </a:ext>
            </a:extLst>
          </p:cNvPr>
          <p:cNvSpPr/>
          <p:nvPr/>
        </p:nvSpPr>
        <p:spPr>
          <a:xfrm rot="18642272">
            <a:off x="-4065349" y="228312"/>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reeform 2">
            <a:extLst>
              <a:ext uri="{FF2B5EF4-FFF2-40B4-BE49-F238E27FC236}">
                <a16:creationId xmlns:a16="http://schemas.microsoft.com/office/drawing/2014/main" id="{3165C40B-D0FE-8C9F-28C2-9101A9B9032B}"/>
              </a:ext>
            </a:extLst>
          </p:cNvPr>
          <p:cNvSpPr/>
          <p:nvPr/>
        </p:nvSpPr>
        <p:spPr>
          <a:xfrm rot="8442973">
            <a:off x="273089" y="-2858047"/>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4">
            <a:extLst>
              <a:ext uri="{FF2B5EF4-FFF2-40B4-BE49-F238E27FC236}">
                <a16:creationId xmlns:a16="http://schemas.microsoft.com/office/drawing/2014/main" id="{E34C32B5-B971-CE3A-F94C-B749057E6BC4}"/>
              </a:ext>
            </a:extLst>
          </p:cNvPr>
          <p:cNvSpPr/>
          <p:nvPr/>
        </p:nvSpPr>
        <p:spPr>
          <a:xfrm rot="18406025">
            <a:off x="2075489" y="3958667"/>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BFE47083-9B74-4380-91D4-E547BACDD4AD}"/>
              </a:ext>
            </a:extLst>
          </p:cNvPr>
          <p:cNvSpPr>
            <a:spLocks noGrp="1"/>
          </p:cNvSpPr>
          <p:nvPr>
            <p:ph type="ctrTitle"/>
          </p:nvPr>
        </p:nvSpPr>
        <p:spPr>
          <a:xfrm>
            <a:off x="716478" y="447821"/>
            <a:ext cx="3073202" cy="369333"/>
          </a:xfrm>
        </p:spPr>
        <p:txBody>
          <a:bodyPr>
            <a:normAutofit/>
          </a:bodyPr>
          <a:lstStyle/>
          <a:p>
            <a:pPr algn="l"/>
            <a:r>
              <a:rPr lang="en-US" sz="1500" dirty="0">
                <a:solidFill>
                  <a:schemeClr val="bg1">
                    <a:lumMod val="50000"/>
                  </a:schemeClr>
                </a:solidFill>
                <a:latin typeface="GT Walsheim Trial Rg" pitchFamily="2" charset="77"/>
              </a:rPr>
              <a:t>CONCLUSION &amp; FUTURE WORK</a:t>
            </a:r>
          </a:p>
        </p:txBody>
      </p:sp>
      <p:sp>
        <p:nvSpPr>
          <p:cNvPr id="8" name="TextBox 7">
            <a:extLst>
              <a:ext uri="{FF2B5EF4-FFF2-40B4-BE49-F238E27FC236}">
                <a16:creationId xmlns:a16="http://schemas.microsoft.com/office/drawing/2014/main" id="{6DB4EAA1-4ED1-31C7-22A3-49CEFB3AE248}"/>
              </a:ext>
            </a:extLst>
          </p:cNvPr>
          <p:cNvSpPr txBox="1"/>
          <p:nvPr/>
        </p:nvSpPr>
        <p:spPr>
          <a:xfrm>
            <a:off x="716476" y="952090"/>
            <a:ext cx="9236415" cy="630942"/>
          </a:xfrm>
          <a:prstGeom prst="rect">
            <a:avLst/>
          </a:prstGeom>
          <a:noFill/>
        </p:spPr>
        <p:txBody>
          <a:bodyPr wrap="square">
            <a:spAutoFit/>
          </a:bodyPr>
          <a:lstStyle/>
          <a:p>
            <a:r>
              <a:rPr lang="en-US" sz="3500" dirty="0">
                <a:solidFill>
                  <a:schemeClr val="bg1"/>
                </a:solidFill>
                <a:latin typeface="GT Walsheim Trial Rg" pitchFamily="2" charset="77"/>
              </a:rPr>
              <a:t>Summary &amp; Next Steps</a:t>
            </a:r>
          </a:p>
        </p:txBody>
      </p:sp>
      <p:sp>
        <p:nvSpPr>
          <p:cNvPr id="20" name="Rectangle 19">
            <a:extLst>
              <a:ext uri="{FF2B5EF4-FFF2-40B4-BE49-F238E27FC236}">
                <a16:creationId xmlns:a16="http://schemas.microsoft.com/office/drawing/2014/main" id="{DA99083C-59BD-782B-B7F4-D931B59326CB}"/>
              </a:ext>
            </a:extLst>
          </p:cNvPr>
          <p:cNvSpPr/>
          <p:nvPr/>
        </p:nvSpPr>
        <p:spPr>
          <a:xfrm>
            <a:off x="7338349" y="1380417"/>
            <a:ext cx="4347228" cy="5011600"/>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a:extLst>
              <a:ext uri="{FF2B5EF4-FFF2-40B4-BE49-F238E27FC236}">
                <a16:creationId xmlns:a16="http://schemas.microsoft.com/office/drawing/2014/main" id="{43E1C4DD-8373-7CDB-8065-43E32594ABFD}"/>
              </a:ext>
            </a:extLst>
          </p:cNvPr>
          <p:cNvSpPr txBox="1"/>
          <p:nvPr/>
        </p:nvSpPr>
        <p:spPr>
          <a:xfrm>
            <a:off x="7556783" y="2458215"/>
            <a:ext cx="4036044" cy="1938992"/>
          </a:xfrm>
          <a:prstGeom prst="rect">
            <a:avLst/>
          </a:prstGeom>
          <a:noFill/>
        </p:spPr>
        <p:txBody>
          <a:bodyPr wrap="square">
            <a:spAutoFit/>
          </a:bodyPr>
          <a:lstStyle/>
          <a:p>
            <a:pPr marL="342900" indent="-342900" algn="l">
              <a:buFont typeface="+mj-lt"/>
              <a:buAutoNum type="arabicPeriod"/>
            </a:pPr>
            <a:r>
              <a:rPr lang="en-US" sz="1500" b="1" dirty="0">
                <a:solidFill>
                  <a:schemeClr val="bg1"/>
                </a:solidFill>
                <a:effectLst/>
                <a:latin typeface="GT Walsheim Trial Lt" pitchFamily="2" charset="77"/>
              </a:rPr>
              <a:t>Temporal features over the full 20-second trajectory</a:t>
            </a:r>
          </a:p>
          <a:p>
            <a:pPr marL="342900" indent="-342900" algn="l">
              <a:buFont typeface="+mj-lt"/>
              <a:buAutoNum type="arabicPeriod"/>
            </a:pPr>
            <a:r>
              <a:rPr lang="en-US" sz="1500" b="1" dirty="0">
                <a:solidFill>
                  <a:schemeClr val="bg1"/>
                </a:solidFill>
                <a:effectLst/>
                <a:latin typeface="GT Walsheim Trial Lt" pitchFamily="2" charset="77"/>
              </a:rPr>
              <a:t>Validate anomalies against Waymo's </a:t>
            </a:r>
            <a:r>
              <a:rPr lang="en-US" sz="1500" b="1" dirty="0" err="1">
                <a:solidFill>
                  <a:schemeClr val="bg1"/>
                </a:solidFill>
                <a:effectLst/>
                <a:latin typeface="GT Walsheim Trial Lt" pitchFamily="2" charset="77"/>
              </a:rPr>
              <a:t>IsInteractive</a:t>
            </a:r>
            <a:r>
              <a:rPr lang="en-US" sz="1500" b="1" dirty="0">
                <a:solidFill>
                  <a:schemeClr val="bg1"/>
                </a:solidFill>
                <a:effectLst/>
                <a:latin typeface="GT Walsheim Trial Lt" pitchFamily="2" charset="77"/>
              </a:rPr>
              <a:t> ground-truth flags</a:t>
            </a:r>
          </a:p>
          <a:p>
            <a:pPr marL="342900" indent="-342900" algn="l">
              <a:buFont typeface="+mj-lt"/>
              <a:buAutoNum type="arabicPeriod"/>
            </a:pPr>
            <a:r>
              <a:rPr lang="en-US" sz="1500" b="1" dirty="0" err="1">
                <a:solidFill>
                  <a:schemeClr val="bg1"/>
                </a:solidFill>
                <a:effectLst/>
                <a:latin typeface="GT Walsheim Trial Lt" pitchFamily="2" charset="77"/>
              </a:rPr>
              <a:t>Mahalanobis</a:t>
            </a:r>
            <a:r>
              <a:rPr lang="en-US" sz="1500" b="1" dirty="0">
                <a:solidFill>
                  <a:schemeClr val="bg1"/>
                </a:solidFill>
                <a:effectLst/>
                <a:latin typeface="GT Walsheim Trial Lt" pitchFamily="2" charset="77"/>
              </a:rPr>
              <a:t> distance scoring as IF alternative</a:t>
            </a:r>
          </a:p>
          <a:p>
            <a:pPr marL="342900" indent="-342900" algn="l">
              <a:buFont typeface="+mj-lt"/>
              <a:buAutoNum type="arabicPeriod"/>
            </a:pPr>
            <a:r>
              <a:rPr lang="en-US" sz="1500" b="1" dirty="0">
                <a:solidFill>
                  <a:schemeClr val="bg1"/>
                </a:solidFill>
                <a:effectLst/>
                <a:latin typeface="GT Walsheim Trial Lt" pitchFamily="2" charset="77"/>
              </a:rPr>
              <a:t>Neural extensions benchmarked against these baselines</a:t>
            </a:r>
            <a:endParaRPr lang="en-US" sz="1500" dirty="0">
              <a:solidFill>
                <a:schemeClr val="bg1"/>
              </a:solidFill>
              <a:effectLst/>
              <a:latin typeface="GT Walsheim Trial Lt" pitchFamily="2" charset="77"/>
            </a:endParaRPr>
          </a:p>
        </p:txBody>
      </p:sp>
      <p:sp>
        <p:nvSpPr>
          <p:cNvPr id="15" name="TextBox 14">
            <a:extLst>
              <a:ext uri="{FF2B5EF4-FFF2-40B4-BE49-F238E27FC236}">
                <a16:creationId xmlns:a16="http://schemas.microsoft.com/office/drawing/2014/main" id="{E2F510FE-BF00-632E-A028-2202135CE25D}"/>
              </a:ext>
            </a:extLst>
          </p:cNvPr>
          <p:cNvSpPr txBox="1"/>
          <p:nvPr/>
        </p:nvSpPr>
        <p:spPr>
          <a:xfrm>
            <a:off x="7513629" y="1598875"/>
            <a:ext cx="1998334" cy="477054"/>
          </a:xfrm>
          <a:prstGeom prst="rect">
            <a:avLst/>
          </a:prstGeom>
          <a:noFill/>
        </p:spPr>
        <p:txBody>
          <a:bodyPr wrap="square">
            <a:spAutoFit/>
          </a:bodyPr>
          <a:lstStyle/>
          <a:p>
            <a:pPr algn="l"/>
            <a:r>
              <a:rPr lang="en-US" sz="2500" b="1" dirty="0">
                <a:solidFill>
                  <a:schemeClr val="bg1"/>
                </a:solidFill>
                <a:effectLst/>
                <a:latin typeface="GT Walsheim Trial Lt" pitchFamily="2" charset="77"/>
              </a:rPr>
              <a:t>Next Steps:</a:t>
            </a:r>
          </a:p>
        </p:txBody>
      </p:sp>
      <p:pic>
        <p:nvPicPr>
          <p:cNvPr id="25" name="Picture 6" descr="Our Trademarks">
            <a:extLst>
              <a:ext uri="{FF2B5EF4-FFF2-40B4-BE49-F238E27FC236}">
                <a16:creationId xmlns:a16="http://schemas.microsoft.com/office/drawing/2014/main" id="{8AC0A937-0788-4131-59F3-A8C7A9FF1B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0831" y="411156"/>
            <a:ext cx="811996" cy="8119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51EEE6FE-49E0-4259-CA52-4B43AD6E17AD}"/>
              </a:ext>
            </a:extLst>
          </p:cNvPr>
          <p:cNvPicPr>
            <a:picLocks noChangeAspect="1"/>
          </p:cNvPicPr>
          <p:nvPr/>
        </p:nvPicPr>
        <p:blipFill>
          <a:blip r:embed="rId4"/>
          <a:srcRect l="64978" t="59219" r="21427" b="9323"/>
          <a:stretch>
            <a:fillRect/>
          </a:stretch>
        </p:blipFill>
        <p:spPr>
          <a:xfrm>
            <a:off x="7338349" y="1303261"/>
            <a:ext cx="4347228" cy="5088756"/>
          </a:xfrm>
          <a:prstGeom prst="rect">
            <a:avLst/>
          </a:prstGeom>
        </p:spPr>
      </p:pic>
      <p:sp>
        <p:nvSpPr>
          <p:cNvPr id="11" name="Rectangle 10">
            <a:extLst>
              <a:ext uri="{FF2B5EF4-FFF2-40B4-BE49-F238E27FC236}">
                <a16:creationId xmlns:a16="http://schemas.microsoft.com/office/drawing/2014/main" id="{C15E6E49-4B9E-9AEA-6F7B-7F6924C96A5A}"/>
              </a:ext>
            </a:extLst>
          </p:cNvPr>
          <p:cNvSpPr/>
          <p:nvPr/>
        </p:nvSpPr>
        <p:spPr>
          <a:xfrm>
            <a:off x="854438" y="1839301"/>
            <a:ext cx="6023791" cy="410107"/>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BAA412A-25B2-AF5C-1E13-9D096E35036A}"/>
              </a:ext>
            </a:extLst>
          </p:cNvPr>
          <p:cNvSpPr txBox="1"/>
          <p:nvPr/>
        </p:nvSpPr>
        <p:spPr>
          <a:xfrm>
            <a:off x="2303327" y="1880076"/>
            <a:ext cx="3651657" cy="369332"/>
          </a:xfrm>
          <a:prstGeom prst="rect">
            <a:avLst/>
          </a:prstGeom>
          <a:noFill/>
        </p:spPr>
        <p:txBody>
          <a:bodyPr wrap="square">
            <a:spAutoFit/>
          </a:bodyPr>
          <a:lstStyle/>
          <a:p>
            <a:pPr algn="l"/>
            <a:r>
              <a:rPr lang="en-US" dirty="0">
                <a:solidFill>
                  <a:schemeClr val="bg1"/>
                </a:solidFill>
                <a:effectLst/>
                <a:latin typeface="GT Walsheim Trial Rg" pitchFamily="2" charset="77"/>
              </a:rPr>
              <a:t>Stage 1 — Anomaly Detection</a:t>
            </a:r>
          </a:p>
        </p:txBody>
      </p:sp>
      <p:sp>
        <p:nvSpPr>
          <p:cNvPr id="16" name="Rectangle 15">
            <a:extLst>
              <a:ext uri="{FF2B5EF4-FFF2-40B4-BE49-F238E27FC236}">
                <a16:creationId xmlns:a16="http://schemas.microsoft.com/office/drawing/2014/main" id="{911CCC51-F9D7-C3EE-2AD3-74AD2FD84C9F}"/>
              </a:ext>
            </a:extLst>
          </p:cNvPr>
          <p:cNvSpPr/>
          <p:nvPr/>
        </p:nvSpPr>
        <p:spPr>
          <a:xfrm>
            <a:off x="854439" y="2249408"/>
            <a:ext cx="6023790" cy="1726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2E0B4A4-DA8B-111F-3050-29689F929009}"/>
              </a:ext>
            </a:extLst>
          </p:cNvPr>
          <p:cNvSpPr txBox="1"/>
          <p:nvPr/>
        </p:nvSpPr>
        <p:spPr>
          <a:xfrm>
            <a:off x="1111344" y="2344571"/>
            <a:ext cx="5470485" cy="646331"/>
          </a:xfrm>
          <a:prstGeom prst="rect">
            <a:avLst/>
          </a:prstGeom>
          <a:noFill/>
        </p:spPr>
        <p:txBody>
          <a:bodyPr wrap="square">
            <a:spAutoFit/>
          </a:bodyPr>
          <a:lstStyle/>
          <a:p>
            <a:pPr algn="l"/>
            <a:r>
              <a:rPr lang="en-US" dirty="0">
                <a:effectLst/>
                <a:latin typeface="GT Walsheim Trial Rg" pitchFamily="2" charset="77"/>
              </a:rPr>
              <a:t>Isolation Forest on Speed / Acceleration / Yaw Rate</a:t>
            </a:r>
          </a:p>
          <a:p>
            <a:pPr algn="l"/>
            <a:r>
              <a:rPr lang="en-US" dirty="0">
                <a:effectLst/>
                <a:latin typeface="GT Walsheim Trial Rg" pitchFamily="2" charset="77"/>
              </a:rPr>
              <a:t>Fisher's Exact Test: p &lt; 0.001</a:t>
            </a:r>
          </a:p>
        </p:txBody>
      </p:sp>
      <p:sp>
        <p:nvSpPr>
          <p:cNvPr id="18" name="Rectangle 17">
            <a:extLst>
              <a:ext uri="{FF2B5EF4-FFF2-40B4-BE49-F238E27FC236}">
                <a16:creationId xmlns:a16="http://schemas.microsoft.com/office/drawing/2014/main" id="{F8E24743-4957-655A-9637-09CF630FA311}"/>
              </a:ext>
            </a:extLst>
          </p:cNvPr>
          <p:cNvSpPr/>
          <p:nvPr/>
        </p:nvSpPr>
        <p:spPr>
          <a:xfrm>
            <a:off x="854437" y="3917063"/>
            <a:ext cx="6023789" cy="410107"/>
          </a:xfrm>
          <a:prstGeom prst="rect">
            <a:avLst/>
          </a:prstGeom>
          <a:solidFill>
            <a:srgbClr val="00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E4B6C494-6849-4DC3-3214-377A9BC1D687}"/>
              </a:ext>
            </a:extLst>
          </p:cNvPr>
          <p:cNvSpPr txBox="1"/>
          <p:nvPr/>
        </p:nvSpPr>
        <p:spPr>
          <a:xfrm>
            <a:off x="2303327" y="3956571"/>
            <a:ext cx="3651657" cy="369332"/>
          </a:xfrm>
          <a:prstGeom prst="rect">
            <a:avLst/>
          </a:prstGeom>
          <a:noFill/>
        </p:spPr>
        <p:txBody>
          <a:bodyPr wrap="square">
            <a:spAutoFit/>
          </a:bodyPr>
          <a:lstStyle/>
          <a:p>
            <a:pPr algn="l"/>
            <a:r>
              <a:rPr lang="en-US" dirty="0">
                <a:solidFill>
                  <a:schemeClr val="bg1"/>
                </a:solidFill>
                <a:effectLst/>
                <a:latin typeface="GT Walsheim Trial Rg" pitchFamily="2" charset="77"/>
              </a:rPr>
              <a:t>Stage 2 — Motion Prediction</a:t>
            </a:r>
          </a:p>
        </p:txBody>
      </p:sp>
      <p:sp>
        <p:nvSpPr>
          <p:cNvPr id="23" name="Rectangle 22">
            <a:extLst>
              <a:ext uri="{FF2B5EF4-FFF2-40B4-BE49-F238E27FC236}">
                <a16:creationId xmlns:a16="http://schemas.microsoft.com/office/drawing/2014/main" id="{12440E3B-E290-C53E-C81C-5FEEAB5E88CE}"/>
              </a:ext>
            </a:extLst>
          </p:cNvPr>
          <p:cNvSpPr/>
          <p:nvPr/>
        </p:nvSpPr>
        <p:spPr>
          <a:xfrm>
            <a:off x="854438" y="4325903"/>
            <a:ext cx="6023787" cy="20661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346FAF6F-BA54-EE19-D537-61EC67F11E48}"/>
              </a:ext>
            </a:extLst>
          </p:cNvPr>
          <p:cNvSpPr txBox="1"/>
          <p:nvPr/>
        </p:nvSpPr>
        <p:spPr>
          <a:xfrm>
            <a:off x="1111344" y="4534710"/>
            <a:ext cx="4984656" cy="923330"/>
          </a:xfrm>
          <a:prstGeom prst="rect">
            <a:avLst/>
          </a:prstGeom>
          <a:noFill/>
        </p:spPr>
        <p:txBody>
          <a:bodyPr wrap="square">
            <a:spAutoFit/>
          </a:bodyPr>
          <a:lstStyle/>
          <a:p>
            <a:pPr algn="l"/>
            <a:r>
              <a:rPr lang="en-US" dirty="0">
                <a:effectLst/>
                <a:latin typeface="GT Walsheim Trial Rg" pitchFamily="2" charset="77"/>
              </a:rPr>
              <a:t>Linear regression on 5 kinematic features</a:t>
            </a:r>
          </a:p>
          <a:p>
            <a:pPr algn="l"/>
            <a:r>
              <a:rPr lang="en-US" dirty="0">
                <a:effectLst/>
                <a:latin typeface="GT Walsheim Trial Rg" pitchFamily="2" charset="77"/>
              </a:rPr>
              <a:t>R² = 0.88 with stationary agents included</a:t>
            </a:r>
          </a:p>
          <a:p>
            <a:pPr algn="l"/>
            <a:r>
              <a:rPr lang="en-US" dirty="0">
                <a:effectLst/>
                <a:latin typeface="GT Walsheim Trial Rg" pitchFamily="2" charset="77"/>
              </a:rPr>
              <a:t>Strong classical baseline</a:t>
            </a:r>
          </a:p>
        </p:txBody>
      </p:sp>
    </p:spTree>
    <p:extLst>
      <p:ext uri="{BB962C8B-B14F-4D97-AF65-F5344CB8AC3E}">
        <p14:creationId xmlns:p14="http://schemas.microsoft.com/office/powerpoint/2010/main" val="1339688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7E574-BA2C-17A7-1E2C-F4B425D6644E}"/>
            </a:ext>
          </a:extLst>
        </p:cNvPr>
        <p:cNvGrpSpPr/>
        <p:nvPr/>
      </p:nvGrpSpPr>
      <p:grpSpPr>
        <a:xfrm>
          <a:off x="0" y="0"/>
          <a:ext cx="0" cy="0"/>
          <a:chOff x="0" y="0"/>
          <a:chExt cx="0" cy="0"/>
        </a:xfrm>
      </p:grpSpPr>
      <p:sp>
        <p:nvSpPr>
          <p:cNvPr id="19" name="Freeform 18">
            <a:extLst>
              <a:ext uri="{FF2B5EF4-FFF2-40B4-BE49-F238E27FC236}">
                <a16:creationId xmlns:a16="http://schemas.microsoft.com/office/drawing/2014/main" id="{7AAD4915-0FC5-A636-D1C9-48442BD8C637}"/>
              </a:ext>
            </a:extLst>
          </p:cNvPr>
          <p:cNvSpPr/>
          <p:nvPr/>
        </p:nvSpPr>
        <p:spPr>
          <a:xfrm rot="11378996">
            <a:off x="-7077442" y="-6722990"/>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rgbClr val="0078FF">
                <a:alpha val="1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72E5AFA8-897D-89F3-829B-E8ED50E342FF}"/>
              </a:ext>
            </a:extLst>
          </p:cNvPr>
          <p:cNvSpPr>
            <a:spLocks noGrp="1"/>
          </p:cNvSpPr>
          <p:nvPr>
            <p:ph type="ctrTitle"/>
          </p:nvPr>
        </p:nvSpPr>
        <p:spPr>
          <a:xfrm>
            <a:off x="5799146" y="2564809"/>
            <a:ext cx="593707" cy="369333"/>
          </a:xfrm>
        </p:spPr>
        <p:txBody>
          <a:bodyPr>
            <a:normAutofit/>
          </a:bodyPr>
          <a:lstStyle/>
          <a:p>
            <a:pPr algn="l"/>
            <a:r>
              <a:rPr lang="en-US" sz="1500" dirty="0">
                <a:solidFill>
                  <a:schemeClr val="bg1">
                    <a:lumMod val="50000"/>
                  </a:schemeClr>
                </a:solidFill>
                <a:latin typeface="GT Walsheim Trial Rg" pitchFamily="2" charset="77"/>
              </a:rPr>
              <a:t>Q&amp;A</a:t>
            </a:r>
          </a:p>
        </p:txBody>
      </p:sp>
      <p:sp>
        <p:nvSpPr>
          <p:cNvPr id="8" name="TextBox 7">
            <a:extLst>
              <a:ext uri="{FF2B5EF4-FFF2-40B4-BE49-F238E27FC236}">
                <a16:creationId xmlns:a16="http://schemas.microsoft.com/office/drawing/2014/main" id="{62B8995F-90AD-BA12-17F4-1B3AA71981D0}"/>
              </a:ext>
            </a:extLst>
          </p:cNvPr>
          <p:cNvSpPr txBox="1"/>
          <p:nvPr/>
        </p:nvSpPr>
        <p:spPr>
          <a:xfrm>
            <a:off x="3534690" y="3113529"/>
            <a:ext cx="5122620" cy="630942"/>
          </a:xfrm>
          <a:prstGeom prst="rect">
            <a:avLst/>
          </a:prstGeom>
          <a:noFill/>
        </p:spPr>
        <p:txBody>
          <a:bodyPr wrap="square">
            <a:spAutoFit/>
          </a:bodyPr>
          <a:lstStyle/>
          <a:p>
            <a:r>
              <a:rPr lang="en-US" sz="3500" dirty="0">
                <a:latin typeface="GT Walsheim Trial Rg" pitchFamily="2" charset="77"/>
              </a:rPr>
              <a:t>Thank You — Questions?</a:t>
            </a:r>
          </a:p>
        </p:txBody>
      </p:sp>
      <p:sp>
        <p:nvSpPr>
          <p:cNvPr id="2" name="Title 1">
            <a:extLst>
              <a:ext uri="{FF2B5EF4-FFF2-40B4-BE49-F238E27FC236}">
                <a16:creationId xmlns:a16="http://schemas.microsoft.com/office/drawing/2014/main" id="{FF170379-EBCF-A8B2-1844-BDEA31337594}"/>
              </a:ext>
            </a:extLst>
          </p:cNvPr>
          <p:cNvSpPr txBox="1">
            <a:spLocks/>
          </p:cNvSpPr>
          <p:nvPr/>
        </p:nvSpPr>
        <p:spPr>
          <a:xfrm>
            <a:off x="667840" y="5634668"/>
            <a:ext cx="7716982" cy="81235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500" dirty="0">
                <a:latin typeface="GT Walsheim Trial Lt" pitchFamily="2" charset="77"/>
              </a:rPr>
              <a:t>Pavel Stepanov — pas273@miami.edu </a:t>
            </a:r>
          </a:p>
          <a:p>
            <a:pPr algn="l"/>
            <a:r>
              <a:rPr lang="en-US" sz="1500" dirty="0">
                <a:latin typeface="GT Walsheim Trial Lt" pitchFamily="2" charset="77"/>
              </a:rPr>
              <a:t>Ramses </a:t>
            </a:r>
            <a:r>
              <a:rPr lang="en-US" sz="1500" dirty="0" err="1">
                <a:latin typeface="GT Walsheim Trial Lt" pitchFamily="2" charset="77"/>
              </a:rPr>
              <a:t>Loaces</a:t>
            </a:r>
            <a:r>
              <a:rPr lang="en-US" sz="1500" dirty="0">
                <a:latin typeface="GT Walsheim Trial Lt" pitchFamily="2" charset="77"/>
              </a:rPr>
              <a:t> — rxl1238@miami.edu </a:t>
            </a:r>
          </a:p>
          <a:p>
            <a:pPr algn="l"/>
            <a:r>
              <a:rPr lang="en-US" sz="1500" dirty="0">
                <a:latin typeface="GT Walsheim Trial Lt" pitchFamily="2" charset="77"/>
              </a:rPr>
              <a:t>Justin Cabrera — justin.cabrera2718@gmail.com</a:t>
            </a:r>
          </a:p>
        </p:txBody>
      </p:sp>
      <p:sp>
        <p:nvSpPr>
          <p:cNvPr id="10" name="Freeform 9">
            <a:extLst>
              <a:ext uri="{FF2B5EF4-FFF2-40B4-BE49-F238E27FC236}">
                <a16:creationId xmlns:a16="http://schemas.microsoft.com/office/drawing/2014/main" id="{2BEF8BFE-1A39-B5C6-6B2C-112A143B57EC}"/>
              </a:ext>
            </a:extLst>
          </p:cNvPr>
          <p:cNvSpPr/>
          <p:nvPr/>
        </p:nvSpPr>
        <p:spPr>
          <a:xfrm rot="7324454">
            <a:off x="-2480422" y="2041082"/>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chemeClr val="tx1">
                <a:alpha val="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CF677AE4-B749-DB39-6C03-5EF036A2B67E}"/>
              </a:ext>
            </a:extLst>
          </p:cNvPr>
          <p:cNvPicPr>
            <a:picLocks noChangeAspect="1"/>
          </p:cNvPicPr>
          <p:nvPr/>
        </p:nvPicPr>
        <p:blipFill>
          <a:blip r:embed="rId3"/>
          <a:stretch>
            <a:fillRect/>
          </a:stretch>
        </p:blipFill>
        <p:spPr>
          <a:xfrm>
            <a:off x="7944171" y="2838717"/>
            <a:ext cx="5047322" cy="5591901"/>
          </a:xfrm>
          <a:prstGeom prst="rect">
            <a:avLst/>
          </a:prstGeom>
        </p:spPr>
      </p:pic>
      <p:sp>
        <p:nvSpPr>
          <p:cNvPr id="13" name="Freeform 12">
            <a:extLst>
              <a:ext uri="{FF2B5EF4-FFF2-40B4-BE49-F238E27FC236}">
                <a16:creationId xmlns:a16="http://schemas.microsoft.com/office/drawing/2014/main" id="{D7F84D88-8751-67E1-FB67-C0ADF00814AF}"/>
              </a:ext>
            </a:extLst>
          </p:cNvPr>
          <p:cNvSpPr/>
          <p:nvPr/>
        </p:nvSpPr>
        <p:spPr>
          <a:xfrm rot="1800000">
            <a:off x="-10680182" y="2041080"/>
            <a:ext cx="18800064" cy="7187173"/>
          </a:xfrm>
          <a:custGeom>
            <a:avLst/>
            <a:gdLst>
              <a:gd name="csX0" fmla="*/ 0 w 18800064"/>
              <a:gd name="csY0" fmla="*/ 7187173 h 7187173"/>
              <a:gd name="csX1" fmla="*/ 7863840 w 18800064"/>
              <a:gd name="csY1" fmla="*/ 18277 h 7187173"/>
              <a:gd name="csX2" fmla="*/ 18800064 w 18800064"/>
              <a:gd name="csY2" fmla="*/ 5248645 h 7187173"/>
            </a:gdLst>
            <a:ahLst/>
            <a:cxnLst>
              <a:cxn ang="0">
                <a:pos x="csX0" y="csY0"/>
              </a:cxn>
              <a:cxn ang="0">
                <a:pos x="csX1" y="csY1"/>
              </a:cxn>
              <a:cxn ang="0">
                <a:pos x="csX2" y="csY2"/>
              </a:cxn>
            </a:cxnLst>
            <a:rect l="l" t="t" r="r" b="b"/>
            <a:pathLst>
              <a:path w="18800064" h="7187173">
                <a:moveTo>
                  <a:pt x="0" y="7187173"/>
                </a:moveTo>
                <a:cubicBezTo>
                  <a:pt x="2365248" y="3764269"/>
                  <a:pt x="4730496" y="341365"/>
                  <a:pt x="7863840" y="18277"/>
                </a:cubicBezTo>
                <a:cubicBezTo>
                  <a:pt x="10997184" y="-304811"/>
                  <a:pt x="17586960" y="3742933"/>
                  <a:pt x="18800064" y="5248645"/>
                </a:cubicBezTo>
              </a:path>
            </a:pathLst>
          </a:custGeom>
          <a:noFill/>
          <a:ln w="635000">
            <a:solidFill>
              <a:srgbClr val="00E9A0">
                <a:alpha val="24377"/>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 descr="Waymo Logo">
            <a:extLst>
              <a:ext uri="{FF2B5EF4-FFF2-40B4-BE49-F238E27FC236}">
                <a16:creationId xmlns:a16="http://schemas.microsoft.com/office/drawing/2014/main" id="{07B7D2D7-7668-D305-3F88-F3DD6F63DA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840" y="425703"/>
            <a:ext cx="782903" cy="7829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06667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878</TotalTime>
  <Words>4095</Words>
  <Application>Microsoft Macintosh PowerPoint</Application>
  <PresentationFormat>Widescreen</PresentationFormat>
  <Paragraphs>368</Paragraphs>
  <Slides>18</Slides>
  <Notes>18</Notes>
  <HiddenSlides>0</HiddenSlides>
  <MMClips>3</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Aptos</vt:lpstr>
      <vt:lpstr>Aptos Display</vt:lpstr>
      <vt:lpstr>Arial</vt:lpstr>
      <vt:lpstr>Cambria Math</vt:lpstr>
      <vt:lpstr>GT Walsheim Trial Bd</vt:lpstr>
      <vt:lpstr>GT Walsheim Trial Lt</vt:lpstr>
      <vt:lpstr>GT Walsheim Trial Md</vt:lpstr>
      <vt:lpstr>GT Walsheim Trial Rg</vt:lpstr>
      <vt:lpstr>GT Walsheim Trial Th</vt:lpstr>
      <vt:lpstr>Office Theme</vt:lpstr>
      <vt:lpstr>Unsupervised Statistical Learning for Kinematic Anomaly Detection in Autonomous Driving Scenarios</vt:lpstr>
      <vt:lpstr>PROBLEM</vt:lpstr>
      <vt:lpstr>MOTIVATION</vt:lpstr>
      <vt:lpstr>RELATED WORK</vt:lpstr>
      <vt:lpstr>RELATED WORK: REFERENCES</vt:lpstr>
      <vt:lpstr>DATASET &amp; PIPLINE</vt:lpstr>
      <vt:lpstr>PART 1: DATASET STATISTICS</vt:lpstr>
      <vt:lpstr>PART 2: DATASET STATISTICS </vt:lpstr>
      <vt:lpstr>PART 3: DATASET STATISTICS </vt:lpstr>
      <vt:lpstr>METHODS: ANOMALY DETECTION</vt:lpstr>
      <vt:lpstr>ANOMALY DETECTION</vt:lpstr>
      <vt:lpstr>MOTION PREDICTION</vt:lpstr>
      <vt:lpstr>DEMO</vt:lpstr>
      <vt:lpstr>RESULTS  </vt:lpstr>
      <vt:lpstr>RESULTS: FEATURES  </vt:lpstr>
      <vt:lpstr>DISCUSSION &amp; LIMITATIONS</vt:lpstr>
      <vt:lpstr>CONCLUSION &amp; FUTURE WORK</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Stepanov, Pavel Aleksandrovich</dc:creator>
  <cp:lastModifiedBy>Stepanov, Pavel Aleksandrovich</cp:lastModifiedBy>
  <cp:revision>6</cp:revision>
  <dcterms:created xsi:type="dcterms:W3CDTF">2026-04-11T16:24:40Z</dcterms:created>
  <dcterms:modified xsi:type="dcterms:W3CDTF">2026-04-14T00:18:33Z</dcterms:modified>
</cp:coreProperties>
</file>